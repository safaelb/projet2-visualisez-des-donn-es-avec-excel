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75" r:id="rId4"/>
    <p:sldId id="268" r:id="rId5"/>
    <p:sldId id="259" r:id="rId6"/>
    <p:sldId id="269" r:id="rId7"/>
    <p:sldId id="264" r:id="rId8"/>
    <p:sldId id="263" r:id="rId9"/>
    <p:sldId id="272" r:id="rId10"/>
    <p:sldId id="271" r:id="rId11"/>
    <p:sldId id="276" r:id="rId12"/>
    <p:sldId id="277" r:id="rId13"/>
    <p:sldId id="273" r:id="rId14"/>
    <p:sldId id="278" r:id="rId15"/>
    <p:sldId id="262" r:id="rId16"/>
  </p:sldIdLst>
  <p:sldSz cx="9144000" cy="5143500" type="screen16x9"/>
  <p:notesSz cx="6858000" cy="9144000"/>
  <p:embeddedFontLst>
    <p:embeddedFont>
      <p:font typeface="Maven Pro" panose="020B0604020202020204" charset="0"/>
      <p:regular r:id="rId18"/>
      <p:bold r:id="rId19"/>
    </p:embeddedFont>
    <p:embeddedFont>
      <p:font typeface="Canva Sans Bold" panose="020B0604020202020204" charset="0"/>
      <p:regular r:id="rId20"/>
    </p:embeddedFont>
    <p:embeddedFont>
      <p:font typeface="Canva Sans" panose="020B0604020202020204" charset="0"/>
      <p:regular r:id="rId21"/>
    </p:embeddedFont>
    <p:embeddedFont>
      <p:font typeface="Titillium Web" panose="020B0604020202020204" charset="0"/>
      <p:regular r:id="rId22"/>
      <p:bold r:id="rId23"/>
      <p:italic r:id="rId24"/>
      <p:boldItalic r:id="rId25"/>
    </p:embeddedFont>
    <p:embeddedFont>
      <p:font typeface="Nunito" panose="020B060402020202020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jPQChcynK0uSiMmFn/cMlX7yPp1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81" autoAdjust="0"/>
    <p:restoredTop sz="94660"/>
  </p:normalViewPr>
  <p:slideViewPr>
    <p:cSldViewPr snapToGrid="0">
      <p:cViewPr>
        <p:scale>
          <a:sx n="116" d="100"/>
          <a:sy n="116" d="100"/>
        </p:scale>
        <p:origin x="533"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5" Type="http://schemas.openxmlformats.org/officeDocument/2006/relationships/viewProps" Target="view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afae\Desktop\ETUDE%20BI\PROJET%202\Donne&#769;es+Primero+Bank+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afae\Desktop\ETUDE%20BI\PROJET%202\Donne&#769;es+Primero+Bank+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afae\Desktop\ETUDE%20BI\PROJET%202\Donne&#769;es+Primero+Bank+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Safae\Desktop\ETUDE%20BI\PROJET%202\Donne&#769;es+Primero+Bank+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Safae\Desktop\ETUDE%20BI\PROJET%202\Donne&#769;es+Primero+Bank+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Safae\Desktop\ETUDE%20BI\PROJET%202\Donne&#769;es+Primero+Bank+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Safae\Desktop\ETUDE%20BI\PROJET%202\Donne&#769;es+Primero+Bank+1.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Safae\Desktop\ETUDE%20BI\PROJET%202\Donne&#769;es+Primero+Bank+1.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[Données+Primero+Bank+1.xlsx]statut et revenu!Tableau croisé dynamique1</c:name>
    <c:fmtId val="128"/>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'statut et revenu'!$B$3:$B$4</c:f>
              <c:strCache>
                <c:ptCount val="1"/>
                <c:pt idx="0">
                  <c:v>Client actuel</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bg2"/>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'statut et revenu'!$A$5:$A$11</c:f>
              <c:strCache>
                <c:ptCount val="6"/>
                <c:pt idx="0">
                  <c:v>Moins de €40K</c:v>
                </c:pt>
                <c:pt idx="1">
                  <c:v>€40K - €60K</c:v>
                </c:pt>
                <c:pt idx="2">
                  <c:v>€80K - €120K</c:v>
                </c:pt>
                <c:pt idx="3">
                  <c:v>€60K - €80K</c:v>
                </c:pt>
                <c:pt idx="4">
                  <c:v>Non connu</c:v>
                </c:pt>
                <c:pt idx="5">
                  <c:v>€120K +</c:v>
                </c:pt>
              </c:strCache>
            </c:strRef>
          </c:cat>
          <c:val>
            <c:numRef>
              <c:f>'statut et revenu'!$B$5:$B$11</c:f>
              <c:numCache>
                <c:formatCode>0%</c:formatCode>
                <c:ptCount val="6"/>
                <c:pt idx="0">
                  <c:v>0.34730891532210578</c:v>
                </c:pt>
                <c:pt idx="1">
                  <c:v>0.17889530090684255</c:v>
                </c:pt>
                <c:pt idx="2">
                  <c:v>0.15216111176539865</c:v>
                </c:pt>
                <c:pt idx="3">
                  <c:v>0.1425038275821458</c:v>
                </c:pt>
                <c:pt idx="4">
                  <c:v>0.1087033329407608</c:v>
                </c:pt>
                <c:pt idx="5">
                  <c:v>7.0427511482746438E-2</c:v>
                </c:pt>
              </c:numCache>
            </c:numRef>
          </c:val>
        </c:ser>
        <c:ser>
          <c:idx val="1"/>
          <c:order val="1"/>
          <c:tx>
            <c:strRef>
              <c:f>'statut et revenu'!$C$3:$C$4</c:f>
              <c:strCache>
                <c:ptCount val="1"/>
                <c:pt idx="0">
                  <c:v>Client perdu</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bg2"/>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'statut et revenu'!$A$5:$A$11</c:f>
              <c:strCache>
                <c:ptCount val="6"/>
                <c:pt idx="0">
                  <c:v>Moins de €40K</c:v>
                </c:pt>
                <c:pt idx="1">
                  <c:v>€40K - €60K</c:v>
                </c:pt>
                <c:pt idx="2">
                  <c:v>€80K - €120K</c:v>
                </c:pt>
                <c:pt idx="3">
                  <c:v>€60K - €80K</c:v>
                </c:pt>
                <c:pt idx="4">
                  <c:v>Non connu</c:v>
                </c:pt>
                <c:pt idx="5">
                  <c:v>€120K +</c:v>
                </c:pt>
              </c:strCache>
            </c:strRef>
          </c:cat>
          <c:val>
            <c:numRef>
              <c:f>'statut et revenu'!$C$5:$C$11</c:f>
              <c:numCache>
                <c:formatCode>0%</c:formatCode>
                <c:ptCount val="6"/>
                <c:pt idx="0">
                  <c:v>0.14303178484107579</c:v>
                </c:pt>
                <c:pt idx="1">
                  <c:v>0.27017114914425427</c:v>
                </c:pt>
                <c:pt idx="2">
                  <c:v>0.16931540342298287</c:v>
                </c:pt>
                <c:pt idx="3">
                  <c:v>0.22432762836185818</c:v>
                </c:pt>
                <c:pt idx="4">
                  <c:v>0.11430317848410758</c:v>
                </c:pt>
                <c:pt idx="5">
                  <c:v>7.8850855745721274E-2</c:v>
                </c:pt>
              </c:numCache>
            </c:numRef>
          </c:val>
        </c:ser>
        <c:dLbls>
          <c:dLblPos val="outEnd"/>
          <c:showLegendKey val="0"/>
          <c:showVal val="1"/>
          <c:showCatName val="0"/>
          <c:showSerName val="0"/>
          <c:showPercent val="0"/>
          <c:showBubbleSize val="0"/>
        </c:dLbls>
        <c:gapWidth val="444"/>
        <c:overlap val="-90"/>
        <c:axId val="1402423040"/>
        <c:axId val="1402425216"/>
      </c:barChart>
      <c:catAx>
        <c:axId val="14024230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bg2"/>
                </a:solidFill>
                <a:latin typeface="+mn-lt"/>
                <a:ea typeface="+mn-ea"/>
                <a:cs typeface="+mn-cs"/>
              </a:defRPr>
            </a:pPr>
            <a:endParaRPr lang="fr-FR"/>
          </a:p>
        </c:txPr>
        <c:crossAx val="1402425216"/>
        <c:crosses val="autoZero"/>
        <c:auto val="1"/>
        <c:lblAlgn val="ctr"/>
        <c:lblOffset val="100"/>
        <c:noMultiLvlLbl val="0"/>
      </c:catAx>
      <c:valAx>
        <c:axId val="1402425216"/>
        <c:scaling>
          <c:orientation val="minMax"/>
        </c:scaling>
        <c:delete val="1"/>
        <c:axPos val="l"/>
        <c:numFmt formatCode="0%" sourceLinked="1"/>
        <c:majorTickMark val="none"/>
        <c:minorTickMark val="none"/>
        <c:tickLblPos val="nextTo"/>
        <c:crossAx val="1402423040"/>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[Données+Primero+Bank+1.xlsx]statutmarital!Tableau croisé dynamique2</c:name>
    <c:fmtId val="11"/>
  </c:pivotSource>
  <c:chart>
    <c:autoTitleDeleted val="0"/>
    <c:pivotFmts>
      <c:pivotFmt>
        <c:idx val="0"/>
        <c:spPr>
          <a:solidFill>
            <a:schemeClr val="accent1"/>
          </a:solidFill>
          <a:ln>
            <a:noFill/>
          </a:ln>
          <a:effectLst/>
        </c:spPr>
        <c:marker>
          <c:symbol val="diamond"/>
          <c:size val="6"/>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square"/>
          <c:size val="6"/>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triangle"/>
          <c:size val="6"/>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x"/>
          <c:size val="6"/>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dLbl>
          <c:idx val="0"/>
          <c:layout>
            <c:manualLayout>
              <c:x val="0"/>
              <c:y val="4.6296296296296294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dLbl>
          <c:idx val="0"/>
          <c:layout>
            <c:manualLayout>
              <c:x val="0"/>
              <c:y val="4.6296296296296294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dLbl>
          <c:idx val="0"/>
          <c:layout>
            <c:manualLayout>
              <c:x val="0"/>
              <c:y val="4.6296296296296294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statutmarital!$B$3:$B$4</c:f>
              <c:strCache>
                <c:ptCount val="1"/>
                <c:pt idx="0">
                  <c:v>Célibataire</c:v>
                </c:pt>
              </c:strCache>
            </c:strRef>
          </c:tx>
          <c:spPr>
            <a:solidFill>
              <a:schemeClr val="accent1"/>
            </a:solidFill>
            <a:ln>
              <a:noFill/>
            </a:ln>
            <a:effectLst/>
          </c:spPr>
          <c:invertIfNegative val="0"/>
          <c:dLbls>
            <c:dLbl>
              <c:idx val="0"/>
              <c:layout>
                <c:manualLayout>
                  <c:x val="2.6236244414716121E-3"/>
                  <c:y val="8.4875562720133283E-17"/>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1.1213963134882148E-3"/>
                  <c:y val="4.6296296296295444E-3"/>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statutmarital!$A$5:$A$7</c:f>
              <c:strCache>
                <c:ptCount val="2"/>
                <c:pt idx="0">
                  <c:v>Client actuel</c:v>
                </c:pt>
                <c:pt idx="1">
                  <c:v>Client perdu</c:v>
                </c:pt>
              </c:strCache>
            </c:strRef>
          </c:cat>
          <c:val>
            <c:numRef>
              <c:f>statutmarital!$B$5:$B$7</c:f>
              <c:numCache>
                <c:formatCode>General</c:formatCode>
                <c:ptCount val="2"/>
                <c:pt idx="0">
                  <c:v>3636</c:v>
                </c:pt>
                <c:pt idx="1">
                  <c:v>447</c:v>
                </c:pt>
              </c:numCache>
            </c:numRef>
          </c:val>
        </c:ser>
        <c:ser>
          <c:idx val="1"/>
          <c:order val="1"/>
          <c:tx>
            <c:strRef>
              <c:f>statutmarital!$C$3:$C$4</c:f>
              <c:strCache>
                <c:ptCount val="1"/>
                <c:pt idx="0">
                  <c:v>Divorcé(e)</c:v>
                </c:pt>
              </c:strCache>
            </c:strRef>
          </c:tx>
          <c:spPr>
            <a:solidFill>
              <a:schemeClr val="accent2"/>
            </a:solidFill>
            <a:ln>
              <a:noFill/>
            </a:ln>
            <a:effectLst/>
          </c:spPr>
          <c:invertIfNegative val="0"/>
          <c:dLbls>
            <c:dLbl>
              <c:idx val="0"/>
              <c:layout>
                <c:manualLayout>
                  <c:x val="-6.4183254174186386E-3"/>
                  <c:y val="-8.4875562720133283E-17"/>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7.6733495542247645E-3"/>
                  <c:y val="-4.6296296296296294E-3"/>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statutmarital!$A$5:$A$7</c:f>
              <c:strCache>
                <c:ptCount val="2"/>
                <c:pt idx="0">
                  <c:v>Client actuel</c:v>
                </c:pt>
                <c:pt idx="1">
                  <c:v>Client perdu</c:v>
                </c:pt>
              </c:strCache>
            </c:strRef>
          </c:cat>
          <c:val>
            <c:numRef>
              <c:f>statutmarital!$C$5:$C$7</c:f>
              <c:numCache>
                <c:formatCode>General</c:formatCode>
                <c:ptCount val="2"/>
                <c:pt idx="0">
                  <c:v>626</c:v>
                </c:pt>
                <c:pt idx="1">
                  <c:v>122</c:v>
                </c:pt>
              </c:numCache>
            </c:numRef>
          </c:val>
        </c:ser>
        <c:ser>
          <c:idx val="2"/>
          <c:order val="2"/>
          <c:tx>
            <c:strRef>
              <c:f>statutmarital!$D$3:$D$4</c:f>
              <c:strCache>
                <c:ptCount val="1"/>
                <c:pt idx="0">
                  <c:v>Marié(e)</c:v>
                </c:pt>
              </c:strCache>
            </c:strRef>
          </c:tx>
          <c:spPr>
            <a:solidFill>
              <a:schemeClr val="accent3"/>
            </a:solidFill>
            <a:ln>
              <a:noFill/>
            </a:ln>
            <a:effectLst/>
          </c:spPr>
          <c:invertIfNegative val="0"/>
          <c:dLbls>
            <c:dLbl>
              <c:idx val="0"/>
              <c:layout>
                <c:manualLayout>
                  <c:x val="-2.8946210686034575E-3"/>
                  <c:y val="-9.2592592592593437E-3"/>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8.533775068310304E-3"/>
                  <c:y val="0"/>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statutmarital!$A$5:$A$7</c:f>
              <c:strCache>
                <c:ptCount val="2"/>
                <c:pt idx="0">
                  <c:v>Client actuel</c:v>
                </c:pt>
                <c:pt idx="1">
                  <c:v>Client perdu</c:v>
                </c:pt>
              </c:strCache>
            </c:strRef>
          </c:cat>
          <c:val>
            <c:numRef>
              <c:f>statutmarital!$D$5:$D$7</c:f>
              <c:numCache>
                <c:formatCode>General</c:formatCode>
                <c:ptCount val="2"/>
                <c:pt idx="0">
                  <c:v>3610</c:v>
                </c:pt>
                <c:pt idx="1">
                  <c:v>937</c:v>
                </c:pt>
              </c:numCache>
            </c:numRef>
          </c:val>
        </c:ser>
        <c:ser>
          <c:idx val="3"/>
          <c:order val="3"/>
          <c:tx>
            <c:strRef>
              <c:f>statutmarital!$E$3:$E$4</c:f>
              <c:strCache>
                <c:ptCount val="1"/>
                <c:pt idx="0">
                  <c:v>Non connu</c:v>
                </c:pt>
              </c:strCache>
            </c:strRef>
          </c:tx>
          <c:spPr>
            <a:solidFill>
              <a:schemeClr val="accent4"/>
            </a:solidFill>
            <a:ln>
              <a:noFill/>
            </a:ln>
            <a:effectLst/>
          </c:spPr>
          <c:invertIfNegative val="0"/>
          <c:dLbls>
            <c:dLbl>
              <c:idx val="0"/>
              <c:layout>
                <c:manualLayout>
                  <c:x val="-3.9570595294744718E-3"/>
                  <c:y val="-9.2592592592592587E-3"/>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6.0603884035586707E-4"/>
                  <c:y val="-4.6296296296296294E-3"/>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statutmarital!$A$5:$A$7</c:f>
              <c:strCache>
                <c:ptCount val="2"/>
                <c:pt idx="0">
                  <c:v>Client actuel</c:v>
                </c:pt>
                <c:pt idx="1">
                  <c:v>Client perdu</c:v>
                </c:pt>
              </c:strCache>
            </c:strRef>
          </c:cat>
          <c:val>
            <c:numRef>
              <c:f>statutmarital!$E$5:$E$7</c:f>
              <c:numCache>
                <c:formatCode>General</c:formatCode>
                <c:ptCount val="2"/>
                <c:pt idx="0">
                  <c:v>619</c:v>
                </c:pt>
                <c:pt idx="1">
                  <c:v>130</c:v>
                </c:pt>
              </c:numCache>
            </c:numRef>
          </c:val>
        </c:ser>
        <c:dLbls>
          <c:dLblPos val="ctr"/>
          <c:showLegendKey val="0"/>
          <c:showVal val="1"/>
          <c:showCatName val="0"/>
          <c:showSerName val="0"/>
          <c:showPercent val="0"/>
          <c:showBubbleSize val="0"/>
        </c:dLbls>
        <c:gapWidth val="269"/>
        <c:axId val="1303937504"/>
        <c:axId val="1303941856"/>
      </c:barChart>
      <c:catAx>
        <c:axId val="1303937504"/>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bg2"/>
                </a:solidFill>
                <a:latin typeface="+mn-lt"/>
                <a:ea typeface="+mn-ea"/>
                <a:cs typeface="+mn-cs"/>
              </a:defRPr>
            </a:pPr>
            <a:endParaRPr lang="fr-FR"/>
          </a:p>
        </c:txPr>
        <c:crossAx val="1303941856"/>
        <c:crosses val="autoZero"/>
        <c:auto val="1"/>
        <c:lblAlgn val="ctr"/>
        <c:lblOffset val="100"/>
        <c:noMultiLvlLbl val="0"/>
      </c:catAx>
      <c:valAx>
        <c:axId val="130394185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fr-FR"/>
          </a:p>
        </c:txPr>
        <c:crossAx val="1303937504"/>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3.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[Données+Primero+Bank+1.xlsx] MOYENNE credit renouve!Tableau croisé dynamique3</c:name>
    <c:fmtId val="84"/>
  </c:pivotSource>
  <c:chart>
    <c:autoTitleDeleted val="1"/>
    <c:pivotFmts>
      <c:pivotFmt>
        <c:idx val="0"/>
        <c:spPr>
          <a:solidFill>
            <a:schemeClr val="accent1"/>
          </a:soli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924742772172491"/>
          <c:y val="0.13953449440687796"/>
          <c:w val="0.94037940379403795"/>
          <c:h val="0.65853091280256637"/>
        </c:manualLayout>
      </c:layout>
      <c:barChart>
        <c:barDir val="col"/>
        <c:grouping val="clustered"/>
        <c:varyColors val="0"/>
        <c:ser>
          <c:idx val="0"/>
          <c:order val="0"/>
          <c:tx>
            <c:strRef>
              <c:f>' MOYENNE credit renouve'!$B$3</c:f>
              <c:strCache>
                <c:ptCount val="1"/>
                <c:pt idx="0">
                  <c:v>Total</c:v>
                </c:pt>
              </c:strCache>
            </c:strRef>
          </c:tx>
          <c:spPr>
            <a:solidFill>
              <a:schemeClr val="accent1"/>
            </a:solidFill>
            <a:ln>
              <a:noFill/>
            </a:ln>
            <a:effectLst/>
          </c:spPr>
          <c:invertIfNegative val="0"/>
          <c:dLbls>
            <c:dLbl>
              <c:idx val="0"/>
              <c:layout>
                <c:manualLayout>
                  <c:x val="2.1123785382340127E-3"/>
                  <c:y val="1.0536086711237387E-2"/>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2.1123785382342066E-3"/>
                  <c:y val="1.8896925743547253E-2"/>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 MOYENNE credit renouve'!$A$4:$A$6</c:f>
              <c:strCache>
                <c:ptCount val="2"/>
                <c:pt idx="0">
                  <c:v>Client actuel</c:v>
                </c:pt>
                <c:pt idx="1">
                  <c:v>Client perdu</c:v>
                </c:pt>
              </c:strCache>
            </c:strRef>
          </c:cat>
          <c:val>
            <c:numRef>
              <c:f>' MOYENNE credit renouve'!$B$4:$B$6</c:f>
              <c:numCache>
                <c:formatCode>0</c:formatCode>
                <c:ptCount val="2"/>
                <c:pt idx="0">
                  <c:v>1256.1008126251324</c:v>
                </c:pt>
                <c:pt idx="1">
                  <c:v>678.64669926650367</c:v>
                </c:pt>
              </c:numCache>
            </c:numRef>
          </c:val>
        </c:ser>
        <c:dLbls>
          <c:dLblPos val="outEnd"/>
          <c:showLegendKey val="0"/>
          <c:showVal val="1"/>
          <c:showCatName val="0"/>
          <c:showSerName val="0"/>
          <c:showPercent val="0"/>
          <c:showBubbleSize val="0"/>
        </c:dLbls>
        <c:gapWidth val="199"/>
        <c:axId val="1303940768"/>
        <c:axId val="1303938048"/>
      </c:barChart>
      <c:catAx>
        <c:axId val="13039407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bg2"/>
                </a:solidFill>
                <a:latin typeface="+mn-lt"/>
                <a:ea typeface="+mn-ea"/>
                <a:cs typeface="+mn-cs"/>
              </a:defRPr>
            </a:pPr>
            <a:endParaRPr lang="fr-FR"/>
          </a:p>
        </c:txPr>
        <c:crossAx val="1303938048"/>
        <c:crosses val="autoZero"/>
        <c:auto val="1"/>
        <c:lblAlgn val="ctr"/>
        <c:lblOffset val="100"/>
        <c:noMultiLvlLbl val="0"/>
      </c:catAx>
      <c:valAx>
        <c:axId val="130393804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fr-FR"/>
          </a:p>
        </c:txPr>
        <c:crossAx val="13039407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4.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[Données+Primero+Bank+1.xlsx]nb de transaction !Tableau croisé dynamique3</c:name>
    <c:fmtId val="25"/>
  </c:pivotSource>
  <c:chart>
    <c:autoTitleDeleted val="1"/>
    <c:pivotFmts>
      <c:pivotFmt>
        <c:idx val="0"/>
        <c:spPr>
          <a:solidFill>
            <a:schemeClr val="accent1">
              <a:alpha val="70000"/>
            </a:schemeClr>
          </a:solidFill>
          <a:ln>
            <a:noFill/>
          </a:ln>
          <a:effectLst>
            <a:outerShdw blurRad="76200" dir="18900000" sy="23000" kx="-1200000" algn="bl" rotWithShape="0">
              <a:prstClr val="black">
                <a:alpha val="20000"/>
              </a:prstClr>
            </a:outerShdw>
          </a:effectLst>
        </c:spPr>
        <c:marker>
          <c:symbol val="circle"/>
          <c:size val="6"/>
          <c:spPr>
            <a:solidFill>
              <a:schemeClr val="accent1">
                <a:alpha val="70000"/>
              </a:schemeClr>
            </a:solidFill>
            <a:ln>
              <a:noFill/>
            </a:ln>
            <a:effectLst>
              <a:outerShdw blurRad="76200" dir="18900000" sy="23000" kx="-1200000" algn="bl" rotWithShape="0">
                <a:prstClr val="black">
                  <a:alpha val="20000"/>
                </a:prst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70000"/>
            </a:schemeClr>
          </a:soli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70000"/>
            </a:schemeClr>
          </a:soli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'nb de transaction '!$B$3</c:f>
              <c:strCache>
                <c:ptCount val="1"/>
                <c:pt idx="0">
                  <c:v>Total</c:v>
                </c:pt>
              </c:strCache>
            </c:strRef>
          </c:tx>
          <c:spPr>
            <a:solidFill>
              <a:schemeClr val="accent1"/>
            </a:solidFill>
            <a:ln>
              <a:noFill/>
            </a:ln>
            <a:effectLst/>
          </c:spPr>
          <c:invertIfNegative val="0"/>
          <c:dLbls>
            <c:dLbl>
              <c:idx val="0"/>
              <c:layout>
                <c:manualLayout>
                  <c:x val="-4.4457240973123499E-3"/>
                  <c:y val="8.1481481481481266E-3"/>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0"/>
                  <c:y val="1.2777777777777735E-2"/>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'nb de transaction '!$A$4:$A$6</c:f>
              <c:strCache>
                <c:ptCount val="2"/>
                <c:pt idx="0">
                  <c:v>Client actuel</c:v>
                </c:pt>
                <c:pt idx="1">
                  <c:v>Client perdu</c:v>
                </c:pt>
              </c:strCache>
            </c:strRef>
          </c:cat>
          <c:val>
            <c:numRef>
              <c:f>'nb de transaction '!$B$4:$B$6</c:f>
              <c:numCache>
                <c:formatCode>0</c:formatCode>
                <c:ptCount val="2"/>
                <c:pt idx="0">
                  <c:v>68.649982334236256</c:v>
                </c:pt>
                <c:pt idx="1">
                  <c:v>45.181540342298291</c:v>
                </c:pt>
              </c:numCache>
            </c:numRef>
          </c:val>
        </c:ser>
        <c:dLbls>
          <c:dLblPos val="inEnd"/>
          <c:showLegendKey val="0"/>
          <c:showVal val="1"/>
          <c:showCatName val="0"/>
          <c:showSerName val="0"/>
          <c:showPercent val="0"/>
          <c:showBubbleSize val="0"/>
        </c:dLbls>
        <c:gapWidth val="199"/>
        <c:axId val="1303940224"/>
        <c:axId val="1303944576"/>
      </c:barChart>
      <c:catAx>
        <c:axId val="1303940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bg2"/>
                </a:solidFill>
                <a:latin typeface="+mn-lt"/>
                <a:ea typeface="+mn-ea"/>
                <a:cs typeface="+mn-cs"/>
              </a:defRPr>
            </a:pPr>
            <a:endParaRPr lang="fr-FR"/>
          </a:p>
        </c:txPr>
        <c:crossAx val="1303944576"/>
        <c:crosses val="autoZero"/>
        <c:auto val="1"/>
        <c:lblAlgn val="ctr"/>
        <c:lblOffset val="100"/>
        <c:noMultiLvlLbl val="0"/>
      </c:catAx>
      <c:valAx>
        <c:axId val="130394457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fr-FR"/>
          </a:p>
        </c:txPr>
        <c:crossAx val="130394022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5.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[Données+Primero+Bank+1.xlsx]utilisation moyenne de la carte!Tableau croisé dynamique4</c:name>
    <c:fmtId val="10"/>
  </c:pivotSource>
  <c:chart>
    <c:autoTitleDeleted val="1"/>
    <c:pivotFmts>
      <c:pivotFmt>
        <c:idx val="0"/>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dLbl>
          <c:idx val="0"/>
          <c:layout>
            <c:manualLayout>
              <c:x val="2.7777777777777779E-3"/>
              <c:y val="7.4134951881014877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5"/>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'utilisation moyenne de la carte'!$B$3</c:f>
              <c:strCache>
                <c:ptCount val="1"/>
                <c:pt idx="0">
                  <c:v>Total</c:v>
                </c:pt>
              </c:strCache>
            </c:strRef>
          </c:tx>
          <c:spPr>
            <a:solidFill>
              <a:schemeClr val="accent1"/>
            </a:solidFill>
            <a:ln>
              <a:noFill/>
            </a:ln>
            <a:effectLst/>
          </c:spPr>
          <c:invertIfNegative val="0"/>
          <c:dLbls>
            <c:dLbl>
              <c:idx val="0"/>
              <c:layout>
                <c:manualLayout>
                  <c:x val="-2.7777777777777779E-3"/>
                  <c:y val="1.7407407407407396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0"/>
                  <c:y val="1.1167614464858559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'utilisation moyenne de la carte'!$A$4:$A$6</c:f>
              <c:strCache>
                <c:ptCount val="2"/>
                <c:pt idx="0">
                  <c:v>Client actuel</c:v>
                </c:pt>
                <c:pt idx="1">
                  <c:v>Client perdu</c:v>
                </c:pt>
              </c:strCache>
            </c:strRef>
          </c:cat>
          <c:val>
            <c:numRef>
              <c:f>'utilisation moyenne de la carte'!$B$4:$B$6</c:f>
              <c:numCache>
                <c:formatCode>0</c:formatCode>
                <c:ptCount val="2"/>
                <c:pt idx="0">
                  <c:v>8491</c:v>
                </c:pt>
                <c:pt idx="1">
                  <c:v>1636</c:v>
                </c:pt>
              </c:numCache>
            </c:numRef>
          </c:val>
        </c:ser>
        <c:dLbls>
          <c:dLblPos val="inEnd"/>
          <c:showLegendKey val="0"/>
          <c:showVal val="1"/>
          <c:showCatName val="0"/>
          <c:showSerName val="0"/>
          <c:showPercent val="0"/>
          <c:showBubbleSize val="0"/>
        </c:dLbls>
        <c:gapWidth val="199"/>
        <c:axId val="1303941312"/>
        <c:axId val="1303942400"/>
      </c:barChart>
      <c:catAx>
        <c:axId val="1303941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bg2"/>
                </a:solidFill>
                <a:latin typeface="+mn-lt"/>
                <a:ea typeface="+mn-ea"/>
                <a:cs typeface="+mn-cs"/>
              </a:defRPr>
            </a:pPr>
            <a:endParaRPr lang="fr-FR"/>
          </a:p>
        </c:txPr>
        <c:crossAx val="1303942400"/>
        <c:crosses val="autoZero"/>
        <c:auto val="1"/>
        <c:lblAlgn val="ctr"/>
        <c:lblOffset val="100"/>
        <c:noMultiLvlLbl val="0"/>
      </c:catAx>
      <c:valAx>
        <c:axId val="1303942400"/>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fr-FR"/>
          </a:p>
        </c:txPr>
        <c:crossAx val="13039413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6.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[Données+Primero+Bank+1.xlsx]moyenne de nombre d'interaction!Tableau croisé dynamique2</c:name>
    <c:fmtId val="33"/>
  </c:pivotSource>
  <c:chart>
    <c:autoTitleDeleted val="1"/>
    <c:pivotFmts>
      <c:pivotFmt>
        <c:idx val="0"/>
        <c:spPr>
          <a:solidFill>
            <a:schemeClr val="accent1">
              <a:alpha val="70000"/>
            </a:schemeClr>
          </a:soli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70000"/>
            </a:schemeClr>
          </a:soli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70000"/>
            </a:schemeClr>
          </a:soli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fr-FR"/>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'moyenne de nombre d''interaction'!$B$3</c:f>
              <c:strCache>
                <c:ptCount val="1"/>
                <c:pt idx="0">
                  <c:v>Total</c:v>
                </c:pt>
              </c:strCache>
            </c:strRef>
          </c:tx>
          <c:spPr>
            <a:solidFill>
              <a:schemeClr val="accent1"/>
            </a:solidFill>
            <a:ln>
              <a:noFill/>
            </a:ln>
            <a:effectLst/>
          </c:spPr>
          <c:invertIfNegative val="0"/>
          <c:dLbls>
            <c:dLbl>
              <c:idx val="0"/>
              <c:layout>
                <c:manualLayout>
                  <c:x val="-4.6390499517922771E-3"/>
                  <c:y val="1.2777777777777735E-2"/>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4.6390499517924046E-3"/>
                  <c:y val="1.2777777777777779E-2"/>
                </c:manualLayout>
              </c:layout>
              <c:dLblPos val="outEnd"/>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solidFill>
                    <a:latin typeface="+mn-lt"/>
                    <a:ea typeface="+mn-ea"/>
                    <a:cs typeface="+mn-cs"/>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'moyenne de nombre d''interaction'!$A$4:$A$6</c:f>
              <c:strCache>
                <c:ptCount val="2"/>
                <c:pt idx="0">
                  <c:v>Client actuel</c:v>
                </c:pt>
                <c:pt idx="1">
                  <c:v>Client perdu</c:v>
                </c:pt>
              </c:strCache>
            </c:strRef>
          </c:cat>
          <c:val>
            <c:numRef>
              <c:f>'moyenne de nombre d''interaction'!$B$4:$B$6</c:f>
              <c:numCache>
                <c:formatCode>0</c:formatCode>
                <c:ptCount val="2"/>
                <c:pt idx="0">
                  <c:v>2.3564951124720293</c:v>
                </c:pt>
                <c:pt idx="1">
                  <c:v>3.4804400977995109</c:v>
                </c:pt>
              </c:numCache>
            </c:numRef>
          </c:val>
        </c:ser>
        <c:dLbls>
          <c:dLblPos val="inEnd"/>
          <c:showLegendKey val="0"/>
          <c:showVal val="1"/>
          <c:showCatName val="0"/>
          <c:showSerName val="0"/>
          <c:showPercent val="0"/>
          <c:showBubbleSize val="0"/>
        </c:dLbls>
        <c:gapWidth val="199"/>
        <c:axId val="1303942944"/>
        <c:axId val="1303943488"/>
      </c:barChart>
      <c:catAx>
        <c:axId val="1303942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bg2"/>
                </a:solidFill>
                <a:latin typeface="+mn-lt"/>
                <a:ea typeface="+mn-ea"/>
                <a:cs typeface="+mn-cs"/>
              </a:defRPr>
            </a:pPr>
            <a:endParaRPr lang="fr-FR"/>
          </a:p>
        </c:txPr>
        <c:crossAx val="1303943488"/>
        <c:crosses val="autoZero"/>
        <c:auto val="1"/>
        <c:lblAlgn val="ctr"/>
        <c:lblOffset val="100"/>
        <c:noMultiLvlLbl val="0"/>
      </c:catAx>
      <c:valAx>
        <c:axId val="130394348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fr-FR"/>
          </a:p>
        </c:txPr>
        <c:crossAx val="13039429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Lst>
</c:chartSpace>
</file>

<file path=ppt/charts/chart7.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[Données+Primero+Bank+1.xlsx]revenu avec statut marital!Tableau croisé dynamique1</c:name>
    <c:fmtId val="76"/>
  </c:pivotSource>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fr-FR" sz="1600" b="1" i="0" u="none" strike="noStrike" cap="all" normalizeH="0" baseline="0" dirty="0" smtClean="0">
                <a:solidFill>
                  <a:schemeClr val="bg2"/>
                </a:solidFill>
              </a:rPr>
              <a:t>Répartition des clients actuels par revenu et statut matrimonial</a:t>
            </a:r>
            <a:endParaRPr lang="fr-FR" sz="1600" b="1" dirty="0">
              <a:solidFill>
                <a:schemeClr val="bg2"/>
              </a:solidFill>
            </a:endParaRPr>
          </a:p>
        </c:rich>
      </c:tx>
      <c:layout/>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fr-FR"/>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fr-FR"/>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'revenu avec statut marital'!$B$3:$B$4</c:f>
              <c:strCache>
                <c:ptCount val="1"/>
                <c:pt idx="0">
                  <c:v>Célibataire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'revenu avec statut marital'!$A$5:$A$11</c:f>
              <c:strCache>
                <c:ptCount val="6"/>
                <c:pt idx="0">
                  <c:v>€120K +</c:v>
                </c:pt>
                <c:pt idx="1">
                  <c:v>€40K - €60K</c:v>
                </c:pt>
                <c:pt idx="2">
                  <c:v>€60K - €80K</c:v>
                </c:pt>
                <c:pt idx="3">
                  <c:v>€80K - €120K</c:v>
                </c:pt>
                <c:pt idx="4">
                  <c:v>Moins de €40K</c:v>
                </c:pt>
                <c:pt idx="5">
                  <c:v>Non connu</c:v>
                </c:pt>
              </c:strCache>
            </c:strRef>
          </c:cat>
          <c:val>
            <c:numRef>
              <c:f>'revenu avec statut marital'!$B$5:$B$11</c:f>
              <c:numCache>
                <c:formatCode>General</c:formatCode>
                <c:ptCount val="6"/>
                <c:pt idx="0">
                  <c:v>267</c:v>
                </c:pt>
                <c:pt idx="1">
                  <c:v>599</c:v>
                </c:pt>
                <c:pt idx="2">
                  <c:v>527</c:v>
                </c:pt>
                <c:pt idx="3">
                  <c:v>705</c:v>
                </c:pt>
                <c:pt idx="4">
                  <c:v>1173</c:v>
                </c:pt>
                <c:pt idx="5">
                  <c:v>365</c:v>
                </c:pt>
              </c:numCache>
            </c:numRef>
          </c:val>
        </c:ser>
        <c:ser>
          <c:idx val="1"/>
          <c:order val="1"/>
          <c:tx>
            <c:strRef>
              <c:f>'revenu avec statut marital'!$C$3:$C$4</c:f>
              <c:strCache>
                <c:ptCount val="1"/>
                <c:pt idx="0">
                  <c:v>Divorcé(e)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'revenu avec statut marital'!$A$5:$A$11</c:f>
              <c:strCache>
                <c:ptCount val="6"/>
                <c:pt idx="0">
                  <c:v>€120K +</c:v>
                </c:pt>
                <c:pt idx="1">
                  <c:v>€40K - €60K</c:v>
                </c:pt>
                <c:pt idx="2">
                  <c:v>€60K - €80K</c:v>
                </c:pt>
                <c:pt idx="3">
                  <c:v>€80K - €120K</c:v>
                </c:pt>
                <c:pt idx="4">
                  <c:v>Moins de €40K</c:v>
                </c:pt>
                <c:pt idx="5">
                  <c:v>Non connu</c:v>
                </c:pt>
              </c:strCache>
            </c:strRef>
          </c:cat>
          <c:val>
            <c:numRef>
              <c:f>'revenu avec statut marital'!$C$5:$C$11</c:f>
              <c:numCache>
                <c:formatCode>General</c:formatCode>
                <c:ptCount val="6"/>
                <c:pt idx="0">
                  <c:v>43</c:v>
                </c:pt>
                <c:pt idx="1">
                  <c:v>118</c:v>
                </c:pt>
                <c:pt idx="2">
                  <c:v>98</c:v>
                </c:pt>
                <c:pt idx="3">
                  <c:v>81</c:v>
                </c:pt>
                <c:pt idx="4">
                  <c:v>208</c:v>
                </c:pt>
                <c:pt idx="5">
                  <c:v>78</c:v>
                </c:pt>
              </c:numCache>
            </c:numRef>
          </c:val>
        </c:ser>
        <c:ser>
          <c:idx val="2"/>
          <c:order val="2"/>
          <c:tx>
            <c:strRef>
              <c:f>'revenu avec statut marital'!$D$3:$D$4</c:f>
              <c:strCache>
                <c:ptCount val="1"/>
                <c:pt idx="0">
                  <c:v>Marié(e)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'revenu avec statut marital'!$A$5:$A$11</c:f>
              <c:strCache>
                <c:ptCount val="6"/>
                <c:pt idx="0">
                  <c:v>€120K +</c:v>
                </c:pt>
                <c:pt idx="1">
                  <c:v>€40K - €60K</c:v>
                </c:pt>
                <c:pt idx="2">
                  <c:v>€60K - €80K</c:v>
                </c:pt>
                <c:pt idx="3">
                  <c:v>€80K - €120K</c:v>
                </c:pt>
                <c:pt idx="4">
                  <c:v>Moins de €40K</c:v>
                </c:pt>
                <c:pt idx="5">
                  <c:v>Non connu</c:v>
                </c:pt>
              </c:strCache>
            </c:strRef>
          </c:cat>
          <c:val>
            <c:numRef>
              <c:f>'revenu avec statut marital'!$D$5:$D$11</c:f>
              <c:numCache>
                <c:formatCode>General</c:formatCode>
                <c:ptCount val="6"/>
                <c:pt idx="0">
                  <c:v>247</c:v>
                </c:pt>
                <c:pt idx="1">
                  <c:v>689</c:v>
                </c:pt>
                <c:pt idx="2">
                  <c:v>498</c:v>
                </c:pt>
                <c:pt idx="3">
                  <c:v>396</c:v>
                </c:pt>
                <c:pt idx="4">
                  <c:v>1365</c:v>
                </c:pt>
                <c:pt idx="5">
                  <c:v>415</c:v>
                </c:pt>
              </c:numCache>
            </c:numRef>
          </c:val>
        </c:ser>
        <c:ser>
          <c:idx val="3"/>
          <c:order val="3"/>
          <c:tx>
            <c:strRef>
              <c:f>'revenu avec statut marital'!$E$3:$E$4</c:f>
              <c:strCache>
                <c:ptCount val="1"/>
                <c:pt idx="0">
                  <c:v>Non connu</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solidFill>
                    <a:latin typeface="+mn-lt"/>
                    <a:ea typeface="+mn-ea"/>
                    <a:cs typeface="+mn-c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'revenu avec statut marital'!$A$5:$A$11</c:f>
              <c:strCache>
                <c:ptCount val="6"/>
                <c:pt idx="0">
                  <c:v>€120K +</c:v>
                </c:pt>
                <c:pt idx="1">
                  <c:v>€40K - €60K</c:v>
                </c:pt>
                <c:pt idx="2">
                  <c:v>€60K - €80K</c:v>
                </c:pt>
                <c:pt idx="3">
                  <c:v>€80K - €120K</c:v>
                </c:pt>
                <c:pt idx="4">
                  <c:v>Moins de €40K</c:v>
                </c:pt>
                <c:pt idx="5">
                  <c:v>Non connu</c:v>
                </c:pt>
              </c:strCache>
            </c:strRef>
          </c:cat>
          <c:val>
            <c:numRef>
              <c:f>'revenu avec statut marital'!$E$5:$E$11</c:f>
              <c:numCache>
                <c:formatCode>General</c:formatCode>
                <c:ptCount val="6"/>
                <c:pt idx="0">
                  <c:v>41</c:v>
                </c:pt>
                <c:pt idx="1">
                  <c:v>113</c:v>
                </c:pt>
                <c:pt idx="2">
                  <c:v>87</c:v>
                </c:pt>
                <c:pt idx="3">
                  <c:v>110</c:v>
                </c:pt>
                <c:pt idx="4">
                  <c:v>203</c:v>
                </c:pt>
                <c:pt idx="5">
                  <c:v>65</c:v>
                </c:pt>
              </c:numCache>
            </c:numRef>
          </c:val>
        </c:ser>
        <c:dLbls>
          <c:dLblPos val="ctr"/>
          <c:showLegendKey val="0"/>
          <c:showVal val="1"/>
          <c:showCatName val="0"/>
          <c:showSerName val="0"/>
          <c:showPercent val="0"/>
          <c:showBubbleSize val="0"/>
        </c:dLbls>
        <c:gapWidth val="79"/>
        <c:overlap val="100"/>
        <c:axId val="976685008"/>
        <c:axId val="1361088112"/>
      </c:barChart>
      <c:catAx>
        <c:axId val="9766850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bg2"/>
                </a:solidFill>
                <a:latin typeface="+mn-lt"/>
                <a:ea typeface="+mn-ea"/>
                <a:cs typeface="+mn-cs"/>
              </a:defRPr>
            </a:pPr>
            <a:endParaRPr lang="fr-FR"/>
          </a:p>
        </c:txPr>
        <c:crossAx val="1361088112"/>
        <c:crosses val="autoZero"/>
        <c:auto val="1"/>
        <c:lblAlgn val="ctr"/>
        <c:lblOffset val="100"/>
        <c:noMultiLvlLbl val="0"/>
      </c:catAx>
      <c:valAx>
        <c:axId val="1361088112"/>
        <c:scaling>
          <c:orientation val="minMax"/>
        </c:scaling>
        <c:delete val="1"/>
        <c:axPos val="b"/>
        <c:numFmt formatCode="General" sourceLinked="1"/>
        <c:majorTickMark val="none"/>
        <c:minorTickMark val="none"/>
        <c:tickLblPos val="nextTo"/>
        <c:crossAx val="976685008"/>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8.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[Données+Primero+Bank+1.xlsx]Feuil2!Tableau croisé dynamique2</c:name>
    <c:fmtId val="29"/>
  </c:pivotSource>
  <c:chart>
    <c:title>
      <c:tx>
        <c:rich>
          <a:bodyPr rot="0" spcFirstLastPara="1" vertOverflow="ellipsis" vert="horz" wrap="square" anchor="ctr" anchorCtr="1"/>
          <a:lstStyle/>
          <a:p>
            <a:pPr algn="ctr" rtl="0">
              <a:defRPr sz="1600" b="1" i="0" u="none" strike="noStrike" kern="1200" cap="all" spc="120" normalizeH="0" baseline="0">
                <a:solidFill>
                  <a:srgbClr val="C0791B">
                    <a:lumMod val="65000"/>
                    <a:lumOff val="35000"/>
                  </a:srgbClr>
                </a:solidFill>
                <a:latin typeface="+mn-lt"/>
                <a:ea typeface="+mn-ea"/>
                <a:cs typeface="+mn-cs"/>
              </a:defRPr>
            </a:pPr>
            <a:r>
              <a:rPr lang="fr-FR" sz="1600" b="1" i="0" u="none" strike="noStrike" kern="1200" cap="all" spc="120" normalizeH="0" baseline="0" dirty="0" smtClean="0">
                <a:solidFill>
                  <a:schemeClr val="bg2"/>
                </a:solidFill>
                <a:latin typeface="+mn-lt"/>
                <a:ea typeface="+mn-ea"/>
                <a:cs typeface="+mn-cs"/>
              </a:rPr>
              <a:t>Répartition des clients actuels par type de carte et statut marital  </a:t>
            </a:r>
            <a:endParaRPr lang="fr-FR" sz="1600" b="1" i="0" u="none" strike="noStrike" kern="1200" cap="all" spc="120" normalizeH="0" baseline="0" dirty="0">
              <a:solidFill>
                <a:schemeClr val="bg2"/>
              </a:solidFill>
              <a:latin typeface="+mn-lt"/>
              <a:ea typeface="+mn-ea"/>
              <a:cs typeface="+mn-cs"/>
            </a:endParaRPr>
          </a:p>
        </c:rich>
      </c:tx>
      <c:layout/>
      <c:overlay val="0"/>
      <c:spPr>
        <a:noFill/>
        <a:ln>
          <a:noFill/>
        </a:ln>
        <a:effectLst/>
      </c:spPr>
      <c:txPr>
        <a:bodyPr rot="0" spcFirstLastPara="1" vertOverflow="ellipsis" vert="horz" wrap="square" anchor="ctr" anchorCtr="1"/>
        <a:lstStyle/>
        <a:p>
          <a:pPr algn="ctr" rtl="0">
            <a:defRPr sz="1600" b="1" i="0" u="none" strike="noStrike" kern="1200" cap="all" spc="120" normalizeH="0" baseline="0">
              <a:solidFill>
                <a:srgbClr val="C0791B">
                  <a:lumMod val="65000"/>
                  <a:lumOff val="35000"/>
                </a:srgbClr>
              </a:solidFill>
              <a:latin typeface="+mn-lt"/>
              <a:ea typeface="+mn-ea"/>
              <a:cs typeface="+mn-cs"/>
            </a:defRPr>
          </a:pPr>
          <a:endParaRPr lang="fr-FR"/>
        </a:p>
      </c:txPr>
    </c:title>
    <c:autoTitleDeleted val="0"/>
    <c:pivotFmts>
      <c:pivotFmt>
        <c:idx val="0"/>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
        <c:dLbl>
          <c:idx val="0"/>
          <c:showLegendKey val="0"/>
          <c:showVal val="1"/>
          <c:showCatName val="0"/>
          <c:showSerName val="0"/>
          <c:showPercent val="0"/>
          <c:showBubbleSize val="0"/>
          <c:extLst>
            <c:ext xmlns:c15="http://schemas.microsoft.com/office/drawing/2012/chart" uri="{CE6537A1-D6FC-4f65-9D91-7224C49458BB}"/>
          </c:extLst>
        </c:dLbl>
      </c:pivotFmt>
      <c:pivotFmt>
        <c:idx val="3"/>
        <c:dLbl>
          <c:idx val="0"/>
          <c:showLegendKey val="0"/>
          <c:showVal val="1"/>
          <c:showCatName val="0"/>
          <c:showSerName val="0"/>
          <c:showPercent val="0"/>
          <c:showBubbleSize val="0"/>
          <c:extLst>
            <c:ext xmlns:c15="http://schemas.microsoft.com/office/drawing/2012/chart" uri="{CE6537A1-D6FC-4f65-9D91-7224C49458BB}"/>
          </c:extLst>
        </c:dLbl>
      </c:pivotFmt>
      <c:pivotFmt>
        <c:idx val="4"/>
        <c:dLbl>
          <c:idx val="0"/>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pivotFmt>
      <c:pivotFmt>
        <c:idx val="6"/>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fr-FR"/>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Feuil2!$B$3:$B$4</c:f>
              <c:strCache>
                <c:ptCount val="1"/>
                <c:pt idx="0">
                  <c:v>Célibataire</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bg2"/>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Feuil2!$A$5:$A$9</c:f>
              <c:strCache>
                <c:ptCount val="4"/>
                <c:pt idx="0">
                  <c:v>Blue</c:v>
                </c:pt>
                <c:pt idx="1">
                  <c:v>Gold</c:v>
                </c:pt>
                <c:pt idx="2">
                  <c:v>Platinum</c:v>
                </c:pt>
                <c:pt idx="3">
                  <c:v>Silver</c:v>
                </c:pt>
              </c:strCache>
            </c:strRef>
          </c:cat>
          <c:val>
            <c:numRef>
              <c:f>Feuil2!$B$5:$B$9</c:f>
              <c:numCache>
                <c:formatCode>0%</c:formatCode>
                <c:ptCount val="4"/>
                <c:pt idx="0">
                  <c:v>0.92491749174917492</c:v>
                </c:pt>
                <c:pt idx="1">
                  <c:v>1.3751375137513752E-2</c:v>
                </c:pt>
                <c:pt idx="2">
                  <c:v>8.2508250825082509E-4</c:v>
                </c:pt>
                <c:pt idx="3">
                  <c:v>6.0506050605060507E-2</c:v>
                </c:pt>
              </c:numCache>
            </c:numRef>
          </c:val>
        </c:ser>
        <c:ser>
          <c:idx val="1"/>
          <c:order val="1"/>
          <c:tx>
            <c:strRef>
              <c:f>Feuil2!$C$3:$C$4</c:f>
              <c:strCache>
                <c:ptCount val="1"/>
                <c:pt idx="0">
                  <c:v>Divorcé(e)</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bg2"/>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Feuil2!$A$5:$A$9</c:f>
              <c:strCache>
                <c:ptCount val="4"/>
                <c:pt idx="0">
                  <c:v>Blue</c:v>
                </c:pt>
                <c:pt idx="1">
                  <c:v>Gold</c:v>
                </c:pt>
                <c:pt idx="2">
                  <c:v>Platinum</c:v>
                </c:pt>
                <c:pt idx="3">
                  <c:v>Silver</c:v>
                </c:pt>
              </c:strCache>
            </c:strRef>
          </c:cat>
          <c:val>
            <c:numRef>
              <c:f>Feuil2!$C$5:$C$9</c:f>
              <c:numCache>
                <c:formatCode>0%</c:formatCode>
                <c:ptCount val="4"/>
                <c:pt idx="0">
                  <c:v>0.92971246006389774</c:v>
                </c:pt>
                <c:pt idx="1">
                  <c:v>7.9872204472843447E-3</c:v>
                </c:pt>
                <c:pt idx="2">
                  <c:v>0</c:v>
                </c:pt>
                <c:pt idx="3">
                  <c:v>6.2300319488817889E-2</c:v>
                </c:pt>
              </c:numCache>
            </c:numRef>
          </c:val>
        </c:ser>
        <c:ser>
          <c:idx val="2"/>
          <c:order val="2"/>
          <c:tx>
            <c:strRef>
              <c:f>Feuil2!$D$3:$D$4</c:f>
              <c:strCache>
                <c:ptCount val="1"/>
                <c:pt idx="0">
                  <c:v>Marié(e)</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bg2"/>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Feuil2!$A$5:$A$9</c:f>
              <c:strCache>
                <c:ptCount val="4"/>
                <c:pt idx="0">
                  <c:v>Blue</c:v>
                </c:pt>
                <c:pt idx="1">
                  <c:v>Gold</c:v>
                </c:pt>
                <c:pt idx="2">
                  <c:v>Platinum</c:v>
                </c:pt>
                <c:pt idx="3">
                  <c:v>Silver</c:v>
                </c:pt>
              </c:strCache>
            </c:strRef>
          </c:cat>
          <c:val>
            <c:numRef>
              <c:f>Feuil2!$D$5:$D$9</c:f>
              <c:numCache>
                <c:formatCode>0%</c:formatCode>
                <c:ptCount val="4"/>
                <c:pt idx="0">
                  <c:v>0.94432132963988924</c:v>
                </c:pt>
                <c:pt idx="1">
                  <c:v>8.86426592797784E-3</c:v>
                </c:pt>
                <c:pt idx="2">
                  <c:v>5.54016620498615E-4</c:v>
                </c:pt>
                <c:pt idx="3">
                  <c:v>4.626038781163435E-2</c:v>
                </c:pt>
              </c:numCache>
            </c:numRef>
          </c:val>
        </c:ser>
        <c:ser>
          <c:idx val="3"/>
          <c:order val="3"/>
          <c:tx>
            <c:strRef>
              <c:f>Feuil2!$E$3:$E$4</c:f>
              <c:strCache>
                <c:ptCount val="1"/>
                <c:pt idx="0">
                  <c:v>Non connu</c:v>
                </c:pt>
              </c:strCache>
            </c:strRef>
          </c:tx>
          <c:spPr>
            <a:solidFill>
              <a:schemeClr val="accent4"/>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bg2"/>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Feuil2!$A$5:$A$9</c:f>
              <c:strCache>
                <c:ptCount val="4"/>
                <c:pt idx="0">
                  <c:v>Blue</c:v>
                </c:pt>
                <c:pt idx="1">
                  <c:v>Gold</c:v>
                </c:pt>
                <c:pt idx="2">
                  <c:v>Platinum</c:v>
                </c:pt>
                <c:pt idx="3">
                  <c:v>Silver</c:v>
                </c:pt>
              </c:strCache>
            </c:strRef>
          </c:cat>
          <c:val>
            <c:numRef>
              <c:f>Feuil2!$E$5:$E$9</c:f>
              <c:numCache>
                <c:formatCode>0%</c:formatCode>
                <c:ptCount val="4"/>
                <c:pt idx="0">
                  <c:v>0.9095315024232633</c:v>
                </c:pt>
                <c:pt idx="1">
                  <c:v>1.2924071082390954E-2</c:v>
                </c:pt>
                <c:pt idx="2">
                  <c:v>1.6155088852988692E-3</c:v>
                </c:pt>
                <c:pt idx="3">
                  <c:v>7.5928917609046853E-2</c:v>
                </c:pt>
              </c:numCache>
            </c:numRef>
          </c:val>
        </c:ser>
        <c:dLbls>
          <c:dLblPos val="outEnd"/>
          <c:showLegendKey val="0"/>
          <c:showVal val="1"/>
          <c:showCatName val="0"/>
          <c:showSerName val="0"/>
          <c:showPercent val="0"/>
          <c:showBubbleSize val="0"/>
        </c:dLbls>
        <c:gapWidth val="444"/>
        <c:overlap val="-90"/>
        <c:axId val="1222473024"/>
        <c:axId val="1222480096"/>
      </c:barChart>
      <c:catAx>
        <c:axId val="122247302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bg2"/>
                </a:solidFill>
                <a:latin typeface="+mn-lt"/>
                <a:ea typeface="+mn-ea"/>
                <a:cs typeface="+mn-cs"/>
              </a:defRPr>
            </a:pPr>
            <a:endParaRPr lang="fr-FR"/>
          </a:p>
        </c:txPr>
        <c:crossAx val="1222480096"/>
        <c:crosses val="autoZero"/>
        <c:auto val="1"/>
        <c:lblAlgn val="ctr"/>
        <c:lblOffset val="100"/>
        <c:noMultiLvlLbl val="0"/>
      </c:catAx>
      <c:valAx>
        <c:axId val="1222480096"/>
        <c:scaling>
          <c:orientation val="minMax"/>
        </c:scaling>
        <c:delete val="1"/>
        <c:axPos val="l"/>
        <c:numFmt formatCode="0%" sourceLinked="1"/>
        <c:majorTickMark val="none"/>
        <c:minorTickMark val="none"/>
        <c:tickLblPos val="nextTo"/>
        <c:crossAx val="1222473024"/>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BC82A5-B7F2-4EE2-AE4F-D8C18B7C2A2A}" type="doc">
      <dgm:prSet loTypeId="urn:microsoft.com/office/officeart/2008/layout/SquareAccentList" loCatId="list" qsTypeId="urn:microsoft.com/office/officeart/2005/8/quickstyle/simple4" qsCatId="simple" csTypeId="urn:microsoft.com/office/officeart/2005/8/colors/accent1_2" csCatId="accent1" phldr="1"/>
      <dgm:spPr/>
      <dgm:t>
        <a:bodyPr/>
        <a:lstStyle/>
        <a:p>
          <a:endParaRPr lang="fr-FR"/>
        </a:p>
      </dgm:t>
    </dgm:pt>
    <dgm:pt modelId="{9F63E54D-2A14-411C-9696-524BEE324071}">
      <dgm:prSet phldrT="[Texte]"/>
      <dgm:spPr/>
      <dgm:t>
        <a:bodyPr/>
        <a:lstStyle/>
        <a:p>
          <a:r>
            <a:rPr lang="fr-FR" dirty="0" smtClean="0">
              <a:solidFill>
                <a:schemeClr val="accent1"/>
              </a:solidFill>
            </a:rPr>
            <a:t>Enjeux du client :  </a:t>
          </a:r>
          <a:endParaRPr lang="fr-FR" dirty="0">
            <a:solidFill>
              <a:schemeClr val="accent1"/>
            </a:solidFill>
          </a:endParaRPr>
        </a:p>
      </dgm:t>
    </dgm:pt>
    <dgm:pt modelId="{E41C8696-747D-4E55-A52E-32A924D89FEF}" type="parTrans" cxnId="{AD10B3ED-42EA-4DBF-96EA-5EA13FC97416}">
      <dgm:prSet/>
      <dgm:spPr/>
      <dgm:t>
        <a:bodyPr/>
        <a:lstStyle/>
        <a:p>
          <a:endParaRPr lang="fr-FR"/>
        </a:p>
      </dgm:t>
    </dgm:pt>
    <dgm:pt modelId="{5ADCD91D-30F0-4C2C-A38F-9775C3E16002}" type="sibTrans" cxnId="{AD10B3ED-42EA-4DBF-96EA-5EA13FC97416}">
      <dgm:prSet/>
      <dgm:spPr/>
      <dgm:t>
        <a:bodyPr/>
        <a:lstStyle/>
        <a:p>
          <a:endParaRPr lang="fr-FR"/>
        </a:p>
      </dgm:t>
    </dgm:pt>
    <dgm:pt modelId="{C8E7332A-7FAF-4299-BF77-DDBEEC499426}">
      <dgm:prSet phldrT="[Texte]"/>
      <dgm:spPr/>
      <dgm:t>
        <a:bodyPr/>
        <a:lstStyle/>
        <a:p>
          <a:r>
            <a:rPr lang="fr-FR" dirty="0" smtClean="0">
              <a:solidFill>
                <a:schemeClr val="bg2"/>
              </a:solidFill>
            </a:rPr>
            <a:t>Identifier les causes </a:t>
          </a:r>
          <a:endParaRPr lang="fr-FR" dirty="0">
            <a:solidFill>
              <a:schemeClr val="bg2"/>
            </a:solidFill>
          </a:endParaRPr>
        </a:p>
      </dgm:t>
    </dgm:pt>
    <dgm:pt modelId="{5A1A4130-E0C8-478A-8E4A-B069F45DD48D}" type="parTrans" cxnId="{8D99A13C-9330-42F3-830B-A21F408A817D}">
      <dgm:prSet/>
      <dgm:spPr/>
      <dgm:t>
        <a:bodyPr/>
        <a:lstStyle/>
        <a:p>
          <a:endParaRPr lang="fr-FR"/>
        </a:p>
      </dgm:t>
    </dgm:pt>
    <dgm:pt modelId="{251B6F0E-5F52-493B-9679-4863EF04017A}" type="sibTrans" cxnId="{8D99A13C-9330-42F3-830B-A21F408A817D}">
      <dgm:prSet/>
      <dgm:spPr/>
      <dgm:t>
        <a:bodyPr/>
        <a:lstStyle/>
        <a:p>
          <a:endParaRPr lang="fr-FR"/>
        </a:p>
      </dgm:t>
    </dgm:pt>
    <dgm:pt modelId="{2E3D7C7A-E291-4244-9AE3-700B9F2366C2}">
      <dgm:prSet phldrT="[Texte]"/>
      <dgm:spPr/>
      <dgm:t>
        <a:bodyPr/>
        <a:lstStyle/>
        <a:p>
          <a:r>
            <a:rPr lang="fr-FR" dirty="0" smtClean="0">
              <a:solidFill>
                <a:schemeClr val="bg2"/>
              </a:solidFill>
            </a:rPr>
            <a:t>Comprendre les profils à risque</a:t>
          </a:r>
          <a:endParaRPr lang="fr-FR" dirty="0">
            <a:solidFill>
              <a:schemeClr val="bg2"/>
            </a:solidFill>
          </a:endParaRPr>
        </a:p>
      </dgm:t>
    </dgm:pt>
    <dgm:pt modelId="{11CF4A60-B7B7-4FC8-B686-096755B4381F}" type="parTrans" cxnId="{29EC79DC-499C-4A97-9A9E-F699E0DEF1DB}">
      <dgm:prSet/>
      <dgm:spPr/>
      <dgm:t>
        <a:bodyPr/>
        <a:lstStyle/>
        <a:p>
          <a:endParaRPr lang="fr-FR"/>
        </a:p>
      </dgm:t>
    </dgm:pt>
    <dgm:pt modelId="{23E10D02-A59F-4DB8-A41B-7A3204A88B96}" type="sibTrans" cxnId="{29EC79DC-499C-4A97-9A9E-F699E0DEF1DB}">
      <dgm:prSet/>
      <dgm:spPr/>
      <dgm:t>
        <a:bodyPr/>
        <a:lstStyle/>
        <a:p>
          <a:endParaRPr lang="fr-FR"/>
        </a:p>
      </dgm:t>
    </dgm:pt>
    <dgm:pt modelId="{8D2EB3B8-AB41-4ABA-A22F-346284FCCF1F}">
      <dgm:prSet phldrT="[Texte]"/>
      <dgm:spPr/>
      <dgm:t>
        <a:bodyPr/>
        <a:lstStyle/>
        <a:p>
          <a:r>
            <a:rPr lang="fr-FR" dirty="0" smtClean="0">
              <a:solidFill>
                <a:schemeClr val="bg2"/>
              </a:solidFill>
            </a:rPr>
            <a:t>Limitant les futures pertes </a:t>
          </a:r>
        </a:p>
      </dgm:t>
    </dgm:pt>
    <dgm:pt modelId="{291C38C1-CF70-409C-B26E-2DADD4AB795A}" type="parTrans" cxnId="{DC1B49E5-DC54-4AD4-AA8B-9E472B88F602}">
      <dgm:prSet/>
      <dgm:spPr/>
      <dgm:t>
        <a:bodyPr/>
        <a:lstStyle/>
        <a:p>
          <a:endParaRPr lang="fr-FR"/>
        </a:p>
      </dgm:t>
    </dgm:pt>
    <dgm:pt modelId="{F26FF783-4F79-404B-BFA2-247AE5387EC8}" type="sibTrans" cxnId="{DC1B49E5-DC54-4AD4-AA8B-9E472B88F602}">
      <dgm:prSet/>
      <dgm:spPr/>
      <dgm:t>
        <a:bodyPr/>
        <a:lstStyle/>
        <a:p>
          <a:endParaRPr lang="fr-FR"/>
        </a:p>
      </dgm:t>
    </dgm:pt>
    <dgm:pt modelId="{B38CBE08-12C1-4F98-8308-9439E5EE6A80}">
      <dgm:prSet phldrT="[Texte]"/>
      <dgm:spPr/>
      <dgm:t>
        <a:bodyPr/>
        <a:lstStyle/>
        <a:p>
          <a:r>
            <a:rPr lang="fr-FR" dirty="0" smtClean="0">
              <a:solidFill>
                <a:schemeClr val="accent1"/>
              </a:solidFill>
            </a:rPr>
            <a:t>Les objectifs de la </a:t>
          </a:r>
          <a:r>
            <a:rPr lang="fr-FR" dirty="0" smtClean="0">
              <a:solidFill>
                <a:schemeClr val="accent1"/>
              </a:solidFill>
            </a:rPr>
            <a:t>Présentation </a:t>
          </a:r>
          <a:r>
            <a:rPr lang="fr-FR" dirty="0" smtClean="0">
              <a:solidFill>
                <a:schemeClr val="accent1"/>
              </a:solidFill>
            </a:rPr>
            <a:t>:</a:t>
          </a:r>
          <a:endParaRPr lang="fr-FR" dirty="0">
            <a:solidFill>
              <a:schemeClr val="accent1"/>
            </a:solidFill>
          </a:endParaRPr>
        </a:p>
      </dgm:t>
    </dgm:pt>
    <dgm:pt modelId="{EC4BAD57-71C9-42B6-AAC7-73169269EB01}" type="parTrans" cxnId="{0CE5D892-B960-48B0-BA12-6A3135B22254}">
      <dgm:prSet/>
      <dgm:spPr/>
      <dgm:t>
        <a:bodyPr/>
        <a:lstStyle/>
        <a:p>
          <a:endParaRPr lang="fr-FR"/>
        </a:p>
      </dgm:t>
    </dgm:pt>
    <dgm:pt modelId="{AA57277D-486D-4566-B47D-1B237DEF30A4}" type="sibTrans" cxnId="{0CE5D892-B960-48B0-BA12-6A3135B22254}">
      <dgm:prSet/>
      <dgm:spPr/>
      <dgm:t>
        <a:bodyPr/>
        <a:lstStyle/>
        <a:p>
          <a:endParaRPr lang="fr-FR"/>
        </a:p>
      </dgm:t>
    </dgm:pt>
    <dgm:pt modelId="{628146D5-A726-4BF8-B03C-84B5C8C05026}">
      <dgm:prSet phldrT="[Texte]"/>
      <dgm:spPr/>
      <dgm:t>
        <a:bodyPr/>
        <a:lstStyle/>
        <a:p>
          <a:r>
            <a:rPr lang="fr-FR" dirty="0" smtClean="0">
              <a:solidFill>
                <a:schemeClr val="bg2"/>
              </a:solidFill>
            </a:rPr>
            <a:t>Comprendre les départs </a:t>
          </a:r>
          <a:endParaRPr lang="fr-FR" dirty="0">
            <a:solidFill>
              <a:schemeClr val="bg2"/>
            </a:solidFill>
          </a:endParaRPr>
        </a:p>
      </dgm:t>
    </dgm:pt>
    <dgm:pt modelId="{98A3EDD1-A650-4C7B-ACC7-3642EFF477F7}" type="parTrans" cxnId="{22406E4F-3604-43D9-9F18-5020F19A830F}">
      <dgm:prSet/>
      <dgm:spPr/>
      <dgm:t>
        <a:bodyPr/>
        <a:lstStyle/>
        <a:p>
          <a:endParaRPr lang="fr-FR"/>
        </a:p>
      </dgm:t>
    </dgm:pt>
    <dgm:pt modelId="{C4406BEC-DE0A-4DF9-A518-2B7ACB994EB2}" type="sibTrans" cxnId="{22406E4F-3604-43D9-9F18-5020F19A830F}">
      <dgm:prSet/>
      <dgm:spPr/>
      <dgm:t>
        <a:bodyPr/>
        <a:lstStyle/>
        <a:p>
          <a:endParaRPr lang="fr-FR"/>
        </a:p>
      </dgm:t>
    </dgm:pt>
    <dgm:pt modelId="{B9951115-8266-4A23-B622-5D684095C5EC}">
      <dgm:prSet phldrT="[Texte]"/>
      <dgm:spPr/>
      <dgm:t>
        <a:bodyPr/>
        <a:lstStyle/>
        <a:p>
          <a:r>
            <a:rPr lang="fr-FR" dirty="0" smtClean="0">
              <a:solidFill>
                <a:schemeClr val="bg2"/>
              </a:solidFill>
            </a:rPr>
            <a:t>Identifier les profils à risque</a:t>
          </a:r>
          <a:r>
            <a:rPr lang="fr-FR" dirty="0" smtClean="0"/>
            <a:t> </a:t>
          </a:r>
          <a:endParaRPr lang="fr-FR" dirty="0"/>
        </a:p>
      </dgm:t>
    </dgm:pt>
    <dgm:pt modelId="{DF9975C4-2406-4B6B-B762-B5CB0F48AA4E}" type="parTrans" cxnId="{FE33092A-680F-4AD9-A036-81610D843FE9}">
      <dgm:prSet/>
      <dgm:spPr/>
      <dgm:t>
        <a:bodyPr/>
        <a:lstStyle/>
        <a:p>
          <a:endParaRPr lang="fr-FR"/>
        </a:p>
      </dgm:t>
    </dgm:pt>
    <dgm:pt modelId="{20F99B94-5C01-47D0-BE5B-767B963B2E5E}" type="sibTrans" cxnId="{FE33092A-680F-4AD9-A036-81610D843FE9}">
      <dgm:prSet/>
      <dgm:spPr/>
      <dgm:t>
        <a:bodyPr/>
        <a:lstStyle/>
        <a:p>
          <a:endParaRPr lang="fr-FR"/>
        </a:p>
      </dgm:t>
    </dgm:pt>
    <dgm:pt modelId="{33C43706-8001-40B7-936A-6DE1C4AD941A}">
      <dgm:prSet phldrT="[Texte]"/>
      <dgm:spPr/>
      <dgm:t>
        <a:bodyPr/>
        <a:lstStyle/>
        <a:p>
          <a:r>
            <a:rPr lang="fr-FR" dirty="0" smtClean="0">
              <a:solidFill>
                <a:schemeClr val="bg2"/>
              </a:solidFill>
            </a:rPr>
            <a:t>Communiquer clairement </a:t>
          </a:r>
          <a:endParaRPr lang="fr-FR" dirty="0">
            <a:solidFill>
              <a:schemeClr val="bg2"/>
            </a:solidFill>
          </a:endParaRPr>
        </a:p>
      </dgm:t>
    </dgm:pt>
    <dgm:pt modelId="{342FA3A7-9E76-4414-A728-D8AA530EEC53}" type="parTrans" cxnId="{A926821E-DAB7-44F9-86F5-D623C4547A18}">
      <dgm:prSet/>
      <dgm:spPr/>
      <dgm:t>
        <a:bodyPr/>
        <a:lstStyle/>
        <a:p>
          <a:endParaRPr lang="fr-FR"/>
        </a:p>
      </dgm:t>
    </dgm:pt>
    <dgm:pt modelId="{DA2AC7A6-6F27-4D19-AF86-14049B749449}" type="sibTrans" cxnId="{A926821E-DAB7-44F9-86F5-D623C4547A18}">
      <dgm:prSet/>
      <dgm:spPr/>
      <dgm:t>
        <a:bodyPr/>
        <a:lstStyle/>
        <a:p>
          <a:endParaRPr lang="fr-FR"/>
        </a:p>
      </dgm:t>
    </dgm:pt>
    <dgm:pt modelId="{7D214FDE-C8D7-4973-BCDD-C76B0C8B2E4F}">
      <dgm:prSet/>
      <dgm:spPr/>
      <dgm:t>
        <a:bodyPr/>
        <a:lstStyle/>
        <a:p>
          <a:r>
            <a:rPr lang="fr-FR" dirty="0" smtClean="0">
              <a:solidFill>
                <a:schemeClr val="bg2"/>
              </a:solidFill>
            </a:rPr>
            <a:t>Faciliter la prise de décision </a:t>
          </a:r>
          <a:endParaRPr lang="fr-FR" dirty="0">
            <a:solidFill>
              <a:schemeClr val="bg2"/>
            </a:solidFill>
          </a:endParaRPr>
        </a:p>
      </dgm:t>
    </dgm:pt>
    <dgm:pt modelId="{317B8C3B-A5F9-4140-99CF-351A51E1E94D}" type="parTrans" cxnId="{C83B9ECB-BAB1-43F0-AF7E-75E4DC3F82E3}">
      <dgm:prSet/>
      <dgm:spPr/>
      <dgm:t>
        <a:bodyPr/>
        <a:lstStyle/>
        <a:p>
          <a:endParaRPr lang="fr-FR"/>
        </a:p>
      </dgm:t>
    </dgm:pt>
    <dgm:pt modelId="{E6BE8D66-6539-4038-AA79-467AD86E70A1}" type="sibTrans" cxnId="{C83B9ECB-BAB1-43F0-AF7E-75E4DC3F82E3}">
      <dgm:prSet/>
      <dgm:spPr/>
      <dgm:t>
        <a:bodyPr/>
        <a:lstStyle/>
        <a:p>
          <a:endParaRPr lang="fr-FR"/>
        </a:p>
      </dgm:t>
    </dgm:pt>
    <dgm:pt modelId="{EDFAB162-257E-4A12-B44B-BE88960F8084}">
      <dgm:prSet/>
      <dgm:spPr/>
      <dgm:t>
        <a:bodyPr/>
        <a:lstStyle/>
        <a:p>
          <a:r>
            <a:rPr lang="fr-FR" dirty="0" smtClean="0">
              <a:solidFill>
                <a:schemeClr val="bg2"/>
              </a:solidFill>
            </a:rPr>
            <a:t>Un plan d’action</a:t>
          </a:r>
          <a:endParaRPr lang="fr-FR" dirty="0">
            <a:solidFill>
              <a:schemeClr val="bg2"/>
            </a:solidFill>
          </a:endParaRPr>
        </a:p>
      </dgm:t>
    </dgm:pt>
    <dgm:pt modelId="{A2B02785-E263-44C8-BF70-45C64196C684}" type="parTrans" cxnId="{25B44450-0764-4DD6-8AE8-4AC83A8CE0EE}">
      <dgm:prSet/>
      <dgm:spPr/>
      <dgm:t>
        <a:bodyPr/>
        <a:lstStyle/>
        <a:p>
          <a:endParaRPr lang="fr-FR"/>
        </a:p>
      </dgm:t>
    </dgm:pt>
    <dgm:pt modelId="{F93F0FC7-554E-45B1-98CA-8D36D8EF780F}" type="sibTrans" cxnId="{25B44450-0764-4DD6-8AE8-4AC83A8CE0EE}">
      <dgm:prSet/>
      <dgm:spPr/>
      <dgm:t>
        <a:bodyPr/>
        <a:lstStyle/>
        <a:p>
          <a:endParaRPr lang="fr-FR"/>
        </a:p>
      </dgm:t>
    </dgm:pt>
    <dgm:pt modelId="{99A6A42B-90C0-4174-9CCF-619714A8AB40}" type="pres">
      <dgm:prSet presAssocID="{2DBC82A5-B7F2-4EE2-AE4F-D8C18B7C2A2A}" presName="layout" presStyleCnt="0">
        <dgm:presLayoutVars>
          <dgm:chMax/>
          <dgm:chPref/>
          <dgm:dir/>
          <dgm:resizeHandles/>
        </dgm:presLayoutVars>
      </dgm:prSet>
      <dgm:spPr/>
      <dgm:t>
        <a:bodyPr/>
        <a:lstStyle/>
        <a:p>
          <a:endParaRPr lang="fr-FR"/>
        </a:p>
      </dgm:t>
    </dgm:pt>
    <dgm:pt modelId="{41F1C0BF-4492-4024-87AC-9301098CC3E4}" type="pres">
      <dgm:prSet presAssocID="{9F63E54D-2A14-411C-9696-524BEE324071}" presName="root" presStyleCnt="0">
        <dgm:presLayoutVars>
          <dgm:chMax/>
          <dgm:chPref/>
        </dgm:presLayoutVars>
      </dgm:prSet>
      <dgm:spPr/>
    </dgm:pt>
    <dgm:pt modelId="{A2108D4B-576B-4649-869E-FC1D07629C1A}" type="pres">
      <dgm:prSet presAssocID="{9F63E54D-2A14-411C-9696-524BEE324071}" presName="rootComposite" presStyleCnt="0">
        <dgm:presLayoutVars/>
      </dgm:prSet>
      <dgm:spPr/>
    </dgm:pt>
    <dgm:pt modelId="{93D68395-A68F-481B-9938-CC906C3FFF5D}" type="pres">
      <dgm:prSet presAssocID="{9F63E54D-2A14-411C-9696-524BEE324071}" presName="ParentAccent" presStyleLbl="alignNode1" presStyleIdx="0" presStyleCnt="2"/>
      <dgm:spPr/>
    </dgm:pt>
    <dgm:pt modelId="{732D5582-3B80-42C2-A9E8-A0B20F8A2237}" type="pres">
      <dgm:prSet presAssocID="{9F63E54D-2A14-411C-9696-524BEE324071}" presName="ParentSmallAccent" presStyleLbl="fgAcc1" presStyleIdx="0" presStyleCnt="2"/>
      <dgm:spPr/>
    </dgm:pt>
    <dgm:pt modelId="{2DB64E27-E4BF-450B-9129-0BACD4721034}" type="pres">
      <dgm:prSet presAssocID="{9F63E54D-2A14-411C-9696-524BEE324071}" presName="Parent" presStyleLbl="revTx" presStyleIdx="0" presStyleCnt="10">
        <dgm:presLayoutVars>
          <dgm:chMax/>
          <dgm:chPref val="4"/>
          <dgm:bulletEnabled val="1"/>
        </dgm:presLayoutVars>
      </dgm:prSet>
      <dgm:spPr/>
      <dgm:t>
        <a:bodyPr/>
        <a:lstStyle/>
        <a:p>
          <a:endParaRPr lang="fr-FR"/>
        </a:p>
      </dgm:t>
    </dgm:pt>
    <dgm:pt modelId="{63E423D4-DB70-47A9-88E8-60CD58C16130}" type="pres">
      <dgm:prSet presAssocID="{9F63E54D-2A14-411C-9696-524BEE324071}" presName="childShape" presStyleCnt="0">
        <dgm:presLayoutVars>
          <dgm:chMax val="0"/>
          <dgm:chPref val="0"/>
        </dgm:presLayoutVars>
      </dgm:prSet>
      <dgm:spPr/>
    </dgm:pt>
    <dgm:pt modelId="{67518ABC-39A7-456E-97BF-0AC329CB3E2D}" type="pres">
      <dgm:prSet presAssocID="{C8E7332A-7FAF-4299-BF77-DDBEEC499426}" presName="childComposite" presStyleCnt="0">
        <dgm:presLayoutVars>
          <dgm:chMax val="0"/>
          <dgm:chPref val="0"/>
        </dgm:presLayoutVars>
      </dgm:prSet>
      <dgm:spPr/>
    </dgm:pt>
    <dgm:pt modelId="{5E5A60F2-F300-4B30-BB22-92FAC9F19CBC}" type="pres">
      <dgm:prSet presAssocID="{C8E7332A-7FAF-4299-BF77-DDBEEC499426}" presName="ChildAccent" presStyleLbl="solidFgAcc1" presStyleIdx="0" presStyleCnt="8"/>
      <dgm:spPr/>
    </dgm:pt>
    <dgm:pt modelId="{4F12ED0C-A8C2-4CB4-8C1C-380095C01183}" type="pres">
      <dgm:prSet presAssocID="{C8E7332A-7FAF-4299-BF77-DDBEEC499426}" presName="Child" presStyleLbl="revTx" presStyleIdx="1" presStyleCnt="10">
        <dgm:presLayoutVars>
          <dgm:chMax val="0"/>
          <dgm:chPref val="0"/>
          <dgm:bulletEnabled val="1"/>
        </dgm:presLayoutVars>
      </dgm:prSet>
      <dgm:spPr/>
      <dgm:t>
        <a:bodyPr/>
        <a:lstStyle/>
        <a:p>
          <a:endParaRPr lang="fr-FR"/>
        </a:p>
      </dgm:t>
    </dgm:pt>
    <dgm:pt modelId="{1A2BDD8B-1242-4C89-B6E2-E3390BC71BAA}" type="pres">
      <dgm:prSet presAssocID="{2E3D7C7A-E291-4244-9AE3-700B9F2366C2}" presName="childComposite" presStyleCnt="0">
        <dgm:presLayoutVars>
          <dgm:chMax val="0"/>
          <dgm:chPref val="0"/>
        </dgm:presLayoutVars>
      </dgm:prSet>
      <dgm:spPr/>
    </dgm:pt>
    <dgm:pt modelId="{E2DE2AC4-D1E2-4587-803F-860C1010E7E7}" type="pres">
      <dgm:prSet presAssocID="{2E3D7C7A-E291-4244-9AE3-700B9F2366C2}" presName="ChildAccent" presStyleLbl="solidFgAcc1" presStyleIdx="1" presStyleCnt="8"/>
      <dgm:spPr/>
    </dgm:pt>
    <dgm:pt modelId="{3FCD600D-7CD9-4B46-89E5-53913632F8BC}" type="pres">
      <dgm:prSet presAssocID="{2E3D7C7A-E291-4244-9AE3-700B9F2366C2}" presName="Child" presStyleLbl="revTx" presStyleIdx="2" presStyleCnt="10">
        <dgm:presLayoutVars>
          <dgm:chMax val="0"/>
          <dgm:chPref val="0"/>
          <dgm:bulletEnabled val="1"/>
        </dgm:presLayoutVars>
      </dgm:prSet>
      <dgm:spPr/>
      <dgm:t>
        <a:bodyPr/>
        <a:lstStyle/>
        <a:p>
          <a:endParaRPr lang="fr-FR"/>
        </a:p>
      </dgm:t>
    </dgm:pt>
    <dgm:pt modelId="{381EFCAA-1FD6-4C05-8201-901C1A629E8F}" type="pres">
      <dgm:prSet presAssocID="{8D2EB3B8-AB41-4ABA-A22F-346284FCCF1F}" presName="childComposite" presStyleCnt="0">
        <dgm:presLayoutVars>
          <dgm:chMax val="0"/>
          <dgm:chPref val="0"/>
        </dgm:presLayoutVars>
      </dgm:prSet>
      <dgm:spPr/>
    </dgm:pt>
    <dgm:pt modelId="{4539EF63-CC74-41DD-8FB5-4219A1BF4F93}" type="pres">
      <dgm:prSet presAssocID="{8D2EB3B8-AB41-4ABA-A22F-346284FCCF1F}" presName="ChildAccent" presStyleLbl="solidFgAcc1" presStyleIdx="2" presStyleCnt="8"/>
      <dgm:spPr/>
    </dgm:pt>
    <dgm:pt modelId="{E9B1499B-F0C7-4315-8E44-A08D16317520}" type="pres">
      <dgm:prSet presAssocID="{8D2EB3B8-AB41-4ABA-A22F-346284FCCF1F}" presName="Child" presStyleLbl="revTx" presStyleIdx="3" presStyleCnt="10">
        <dgm:presLayoutVars>
          <dgm:chMax val="0"/>
          <dgm:chPref val="0"/>
          <dgm:bulletEnabled val="1"/>
        </dgm:presLayoutVars>
      </dgm:prSet>
      <dgm:spPr/>
      <dgm:t>
        <a:bodyPr/>
        <a:lstStyle/>
        <a:p>
          <a:endParaRPr lang="fr-FR"/>
        </a:p>
      </dgm:t>
    </dgm:pt>
    <dgm:pt modelId="{07F42AEC-9DD3-44D0-B445-27D7656EF47F}" type="pres">
      <dgm:prSet presAssocID="{EDFAB162-257E-4A12-B44B-BE88960F8084}" presName="childComposite" presStyleCnt="0">
        <dgm:presLayoutVars>
          <dgm:chMax val="0"/>
          <dgm:chPref val="0"/>
        </dgm:presLayoutVars>
      </dgm:prSet>
      <dgm:spPr/>
    </dgm:pt>
    <dgm:pt modelId="{42E143BD-0B55-41AC-ABC5-2CD73E4028B7}" type="pres">
      <dgm:prSet presAssocID="{EDFAB162-257E-4A12-B44B-BE88960F8084}" presName="ChildAccent" presStyleLbl="solidFgAcc1" presStyleIdx="3" presStyleCnt="8"/>
      <dgm:spPr/>
    </dgm:pt>
    <dgm:pt modelId="{764861B4-D63C-4610-B1EA-01F4C1132A28}" type="pres">
      <dgm:prSet presAssocID="{EDFAB162-257E-4A12-B44B-BE88960F8084}" presName="Child" presStyleLbl="revTx" presStyleIdx="4" presStyleCnt="10">
        <dgm:presLayoutVars>
          <dgm:chMax val="0"/>
          <dgm:chPref val="0"/>
          <dgm:bulletEnabled val="1"/>
        </dgm:presLayoutVars>
      </dgm:prSet>
      <dgm:spPr/>
      <dgm:t>
        <a:bodyPr/>
        <a:lstStyle/>
        <a:p>
          <a:endParaRPr lang="fr-FR"/>
        </a:p>
      </dgm:t>
    </dgm:pt>
    <dgm:pt modelId="{92677E7D-A938-46ED-B056-E47C2137C33F}" type="pres">
      <dgm:prSet presAssocID="{B38CBE08-12C1-4F98-8308-9439E5EE6A80}" presName="root" presStyleCnt="0">
        <dgm:presLayoutVars>
          <dgm:chMax/>
          <dgm:chPref/>
        </dgm:presLayoutVars>
      </dgm:prSet>
      <dgm:spPr/>
    </dgm:pt>
    <dgm:pt modelId="{5E3A8867-DEA2-434A-899D-C335BA940974}" type="pres">
      <dgm:prSet presAssocID="{B38CBE08-12C1-4F98-8308-9439E5EE6A80}" presName="rootComposite" presStyleCnt="0">
        <dgm:presLayoutVars/>
      </dgm:prSet>
      <dgm:spPr/>
    </dgm:pt>
    <dgm:pt modelId="{C7E5E998-E10E-4330-A556-814E2B91135E}" type="pres">
      <dgm:prSet presAssocID="{B38CBE08-12C1-4F98-8308-9439E5EE6A80}" presName="ParentAccent" presStyleLbl="alignNode1" presStyleIdx="1" presStyleCnt="2"/>
      <dgm:spPr/>
    </dgm:pt>
    <dgm:pt modelId="{13C413A5-044F-4851-B6A2-10708CC58DCB}" type="pres">
      <dgm:prSet presAssocID="{B38CBE08-12C1-4F98-8308-9439E5EE6A80}" presName="ParentSmallAccent" presStyleLbl="fgAcc1" presStyleIdx="1" presStyleCnt="2"/>
      <dgm:spPr/>
    </dgm:pt>
    <dgm:pt modelId="{4698A570-E9C3-4F3D-B96E-19A15A8EE5B2}" type="pres">
      <dgm:prSet presAssocID="{B38CBE08-12C1-4F98-8308-9439E5EE6A80}" presName="Parent" presStyleLbl="revTx" presStyleIdx="5" presStyleCnt="10">
        <dgm:presLayoutVars>
          <dgm:chMax/>
          <dgm:chPref val="4"/>
          <dgm:bulletEnabled val="1"/>
        </dgm:presLayoutVars>
      </dgm:prSet>
      <dgm:spPr/>
      <dgm:t>
        <a:bodyPr/>
        <a:lstStyle/>
        <a:p>
          <a:endParaRPr lang="fr-FR"/>
        </a:p>
      </dgm:t>
    </dgm:pt>
    <dgm:pt modelId="{49F0693D-35AF-4AD6-90E2-0AEBA5B2408F}" type="pres">
      <dgm:prSet presAssocID="{B38CBE08-12C1-4F98-8308-9439E5EE6A80}" presName="childShape" presStyleCnt="0">
        <dgm:presLayoutVars>
          <dgm:chMax val="0"/>
          <dgm:chPref val="0"/>
        </dgm:presLayoutVars>
      </dgm:prSet>
      <dgm:spPr/>
    </dgm:pt>
    <dgm:pt modelId="{46891653-853F-4168-9AB1-D28C8CDDD9E4}" type="pres">
      <dgm:prSet presAssocID="{628146D5-A726-4BF8-B03C-84B5C8C05026}" presName="childComposite" presStyleCnt="0">
        <dgm:presLayoutVars>
          <dgm:chMax val="0"/>
          <dgm:chPref val="0"/>
        </dgm:presLayoutVars>
      </dgm:prSet>
      <dgm:spPr/>
    </dgm:pt>
    <dgm:pt modelId="{7FA670E1-0D9E-4B75-A812-0039D78E4853}" type="pres">
      <dgm:prSet presAssocID="{628146D5-A726-4BF8-B03C-84B5C8C05026}" presName="ChildAccent" presStyleLbl="solidFgAcc1" presStyleIdx="4" presStyleCnt="8"/>
      <dgm:spPr/>
    </dgm:pt>
    <dgm:pt modelId="{F33CC6D5-17B2-4695-A7A1-3F722C20B570}" type="pres">
      <dgm:prSet presAssocID="{628146D5-A726-4BF8-B03C-84B5C8C05026}" presName="Child" presStyleLbl="revTx" presStyleIdx="6" presStyleCnt="10">
        <dgm:presLayoutVars>
          <dgm:chMax val="0"/>
          <dgm:chPref val="0"/>
          <dgm:bulletEnabled val="1"/>
        </dgm:presLayoutVars>
      </dgm:prSet>
      <dgm:spPr/>
      <dgm:t>
        <a:bodyPr/>
        <a:lstStyle/>
        <a:p>
          <a:endParaRPr lang="fr-FR"/>
        </a:p>
      </dgm:t>
    </dgm:pt>
    <dgm:pt modelId="{BDFF09A3-81D9-4556-AF8D-38ED81E28961}" type="pres">
      <dgm:prSet presAssocID="{B9951115-8266-4A23-B622-5D684095C5EC}" presName="childComposite" presStyleCnt="0">
        <dgm:presLayoutVars>
          <dgm:chMax val="0"/>
          <dgm:chPref val="0"/>
        </dgm:presLayoutVars>
      </dgm:prSet>
      <dgm:spPr/>
    </dgm:pt>
    <dgm:pt modelId="{1EC858FD-CF6E-4111-817E-47CB305512AD}" type="pres">
      <dgm:prSet presAssocID="{B9951115-8266-4A23-B622-5D684095C5EC}" presName="ChildAccent" presStyleLbl="solidFgAcc1" presStyleIdx="5" presStyleCnt="8"/>
      <dgm:spPr/>
    </dgm:pt>
    <dgm:pt modelId="{0FCFEB52-E886-497D-9698-ADF76A93A1DB}" type="pres">
      <dgm:prSet presAssocID="{B9951115-8266-4A23-B622-5D684095C5EC}" presName="Child" presStyleLbl="revTx" presStyleIdx="7" presStyleCnt="10">
        <dgm:presLayoutVars>
          <dgm:chMax val="0"/>
          <dgm:chPref val="0"/>
          <dgm:bulletEnabled val="1"/>
        </dgm:presLayoutVars>
      </dgm:prSet>
      <dgm:spPr/>
      <dgm:t>
        <a:bodyPr/>
        <a:lstStyle/>
        <a:p>
          <a:endParaRPr lang="fr-FR"/>
        </a:p>
      </dgm:t>
    </dgm:pt>
    <dgm:pt modelId="{BB241C39-1440-41BF-A75A-DCA52805489A}" type="pres">
      <dgm:prSet presAssocID="{33C43706-8001-40B7-936A-6DE1C4AD941A}" presName="childComposite" presStyleCnt="0">
        <dgm:presLayoutVars>
          <dgm:chMax val="0"/>
          <dgm:chPref val="0"/>
        </dgm:presLayoutVars>
      </dgm:prSet>
      <dgm:spPr/>
    </dgm:pt>
    <dgm:pt modelId="{B0EC7733-2C5F-47D2-9D0B-225D4AAEB885}" type="pres">
      <dgm:prSet presAssocID="{33C43706-8001-40B7-936A-6DE1C4AD941A}" presName="ChildAccent" presStyleLbl="solidFgAcc1" presStyleIdx="6" presStyleCnt="8"/>
      <dgm:spPr/>
    </dgm:pt>
    <dgm:pt modelId="{5EDB5E27-18BD-4EFC-9923-CF699E059307}" type="pres">
      <dgm:prSet presAssocID="{33C43706-8001-40B7-936A-6DE1C4AD941A}" presName="Child" presStyleLbl="revTx" presStyleIdx="8" presStyleCnt="10">
        <dgm:presLayoutVars>
          <dgm:chMax val="0"/>
          <dgm:chPref val="0"/>
          <dgm:bulletEnabled val="1"/>
        </dgm:presLayoutVars>
      </dgm:prSet>
      <dgm:spPr/>
      <dgm:t>
        <a:bodyPr/>
        <a:lstStyle/>
        <a:p>
          <a:endParaRPr lang="fr-FR"/>
        </a:p>
      </dgm:t>
    </dgm:pt>
    <dgm:pt modelId="{58EDA4E3-0702-4D7A-8356-D162C42713B2}" type="pres">
      <dgm:prSet presAssocID="{7D214FDE-C8D7-4973-BCDD-C76B0C8B2E4F}" presName="childComposite" presStyleCnt="0">
        <dgm:presLayoutVars>
          <dgm:chMax val="0"/>
          <dgm:chPref val="0"/>
        </dgm:presLayoutVars>
      </dgm:prSet>
      <dgm:spPr/>
    </dgm:pt>
    <dgm:pt modelId="{00182D57-F457-4300-AAF7-F2D50484E0F3}" type="pres">
      <dgm:prSet presAssocID="{7D214FDE-C8D7-4973-BCDD-C76B0C8B2E4F}" presName="ChildAccent" presStyleLbl="solidFgAcc1" presStyleIdx="7" presStyleCnt="8"/>
      <dgm:spPr/>
    </dgm:pt>
    <dgm:pt modelId="{CB55CB64-4A3A-4114-9DC9-AD84D735CDEE}" type="pres">
      <dgm:prSet presAssocID="{7D214FDE-C8D7-4973-BCDD-C76B0C8B2E4F}" presName="Child" presStyleLbl="revTx" presStyleIdx="9" presStyleCnt="10">
        <dgm:presLayoutVars>
          <dgm:chMax val="0"/>
          <dgm:chPref val="0"/>
          <dgm:bulletEnabled val="1"/>
        </dgm:presLayoutVars>
      </dgm:prSet>
      <dgm:spPr/>
      <dgm:t>
        <a:bodyPr/>
        <a:lstStyle/>
        <a:p>
          <a:endParaRPr lang="fr-FR"/>
        </a:p>
      </dgm:t>
    </dgm:pt>
  </dgm:ptLst>
  <dgm:cxnLst>
    <dgm:cxn modelId="{AA2789F9-2550-4A24-9695-2B164CECCA31}" type="presOf" srcId="{7D214FDE-C8D7-4973-BCDD-C76B0C8B2E4F}" destId="{CB55CB64-4A3A-4114-9DC9-AD84D735CDEE}" srcOrd="0" destOrd="0" presId="urn:microsoft.com/office/officeart/2008/layout/SquareAccentList"/>
    <dgm:cxn modelId="{8D99A13C-9330-42F3-830B-A21F408A817D}" srcId="{9F63E54D-2A14-411C-9696-524BEE324071}" destId="{C8E7332A-7FAF-4299-BF77-DDBEEC499426}" srcOrd="0" destOrd="0" parTransId="{5A1A4130-E0C8-478A-8E4A-B069F45DD48D}" sibTransId="{251B6F0E-5F52-493B-9679-4863EF04017A}"/>
    <dgm:cxn modelId="{29CC6345-A874-41CA-8072-AE6E12494A5E}" type="presOf" srcId="{EDFAB162-257E-4A12-B44B-BE88960F8084}" destId="{764861B4-D63C-4610-B1EA-01F4C1132A28}" srcOrd="0" destOrd="0" presId="urn:microsoft.com/office/officeart/2008/layout/SquareAccentList"/>
    <dgm:cxn modelId="{17BDC7C7-B472-46F7-8BB1-04BD19FE6768}" type="presOf" srcId="{B9951115-8266-4A23-B622-5D684095C5EC}" destId="{0FCFEB52-E886-497D-9698-ADF76A93A1DB}" srcOrd="0" destOrd="0" presId="urn:microsoft.com/office/officeart/2008/layout/SquareAccentList"/>
    <dgm:cxn modelId="{25B44450-0764-4DD6-8AE8-4AC83A8CE0EE}" srcId="{9F63E54D-2A14-411C-9696-524BEE324071}" destId="{EDFAB162-257E-4A12-B44B-BE88960F8084}" srcOrd="3" destOrd="0" parTransId="{A2B02785-E263-44C8-BF70-45C64196C684}" sibTransId="{F93F0FC7-554E-45B1-98CA-8D36D8EF780F}"/>
    <dgm:cxn modelId="{22406E4F-3604-43D9-9F18-5020F19A830F}" srcId="{B38CBE08-12C1-4F98-8308-9439E5EE6A80}" destId="{628146D5-A726-4BF8-B03C-84B5C8C05026}" srcOrd="0" destOrd="0" parTransId="{98A3EDD1-A650-4C7B-ACC7-3642EFF477F7}" sibTransId="{C4406BEC-DE0A-4DF9-A518-2B7ACB994EB2}"/>
    <dgm:cxn modelId="{346D69B6-7F92-430B-998C-AEC3AEFE98E9}" type="presOf" srcId="{8D2EB3B8-AB41-4ABA-A22F-346284FCCF1F}" destId="{E9B1499B-F0C7-4315-8E44-A08D16317520}" srcOrd="0" destOrd="0" presId="urn:microsoft.com/office/officeart/2008/layout/SquareAccentList"/>
    <dgm:cxn modelId="{DC1B49E5-DC54-4AD4-AA8B-9E472B88F602}" srcId="{9F63E54D-2A14-411C-9696-524BEE324071}" destId="{8D2EB3B8-AB41-4ABA-A22F-346284FCCF1F}" srcOrd="2" destOrd="0" parTransId="{291C38C1-CF70-409C-B26E-2DADD4AB795A}" sibTransId="{F26FF783-4F79-404B-BFA2-247AE5387EC8}"/>
    <dgm:cxn modelId="{0CE5D892-B960-48B0-BA12-6A3135B22254}" srcId="{2DBC82A5-B7F2-4EE2-AE4F-D8C18B7C2A2A}" destId="{B38CBE08-12C1-4F98-8308-9439E5EE6A80}" srcOrd="1" destOrd="0" parTransId="{EC4BAD57-71C9-42B6-AAC7-73169269EB01}" sibTransId="{AA57277D-486D-4566-B47D-1B237DEF30A4}"/>
    <dgm:cxn modelId="{3B939D84-31FD-4DCE-83E6-78B366AE256F}" type="presOf" srcId="{2E3D7C7A-E291-4244-9AE3-700B9F2366C2}" destId="{3FCD600D-7CD9-4B46-89E5-53913632F8BC}" srcOrd="0" destOrd="0" presId="urn:microsoft.com/office/officeart/2008/layout/SquareAccentList"/>
    <dgm:cxn modelId="{6763A9C2-8AC8-46EC-967A-FB25962F44C8}" type="presOf" srcId="{9F63E54D-2A14-411C-9696-524BEE324071}" destId="{2DB64E27-E4BF-450B-9129-0BACD4721034}" srcOrd="0" destOrd="0" presId="urn:microsoft.com/office/officeart/2008/layout/SquareAccentList"/>
    <dgm:cxn modelId="{C83B9ECB-BAB1-43F0-AF7E-75E4DC3F82E3}" srcId="{B38CBE08-12C1-4F98-8308-9439E5EE6A80}" destId="{7D214FDE-C8D7-4973-BCDD-C76B0C8B2E4F}" srcOrd="3" destOrd="0" parTransId="{317B8C3B-A5F9-4140-99CF-351A51E1E94D}" sibTransId="{E6BE8D66-6539-4038-AA79-467AD86E70A1}"/>
    <dgm:cxn modelId="{1A687781-352D-498A-9C17-0189B0231E6E}" type="presOf" srcId="{33C43706-8001-40B7-936A-6DE1C4AD941A}" destId="{5EDB5E27-18BD-4EFC-9923-CF699E059307}" srcOrd="0" destOrd="0" presId="urn:microsoft.com/office/officeart/2008/layout/SquareAccentList"/>
    <dgm:cxn modelId="{7CEC8800-054D-4860-965A-20192556FF46}" type="presOf" srcId="{B38CBE08-12C1-4F98-8308-9439E5EE6A80}" destId="{4698A570-E9C3-4F3D-B96E-19A15A8EE5B2}" srcOrd="0" destOrd="0" presId="urn:microsoft.com/office/officeart/2008/layout/SquareAccentList"/>
    <dgm:cxn modelId="{FE33092A-680F-4AD9-A036-81610D843FE9}" srcId="{B38CBE08-12C1-4F98-8308-9439E5EE6A80}" destId="{B9951115-8266-4A23-B622-5D684095C5EC}" srcOrd="1" destOrd="0" parTransId="{DF9975C4-2406-4B6B-B762-B5CB0F48AA4E}" sibTransId="{20F99B94-5C01-47D0-BE5B-767B963B2E5E}"/>
    <dgm:cxn modelId="{7405D696-BAAF-4DBF-BAD9-1498883966CF}" type="presOf" srcId="{628146D5-A726-4BF8-B03C-84B5C8C05026}" destId="{F33CC6D5-17B2-4695-A7A1-3F722C20B570}" srcOrd="0" destOrd="0" presId="urn:microsoft.com/office/officeart/2008/layout/SquareAccentList"/>
    <dgm:cxn modelId="{AD10B3ED-42EA-4DBF-96EA-5EA13FC97416}" srcId="{2DBC82A5-B7F2-4EE2-AE4F-D8C18B7C2A2A}" destId="{9F63E54D-2A14-411C-9696-524BEE324071}" srcOrd="0" destOrd="0" parTransId="{E41C8696-747D-4E55-A52E-32A924D89FEF}" sibTransId="{5ADCD91D-30F0-4C2C-A38F-9775C3E16002}"/>
    <dgm:cxn modelId="{A926821E-DAB7-44F9-86F5-D623C4547A18}" srcId="{B38CBE08-12C1-4F98-8308-9439E5EE6A80}" destId="{33C43706-8001-40B7-936A-6DE1C4AD941A}" srcOrd="2" destOrd="0" parTransId="{342FA3A7-9E76-4414-A728-D8AA530EEC53}" sibTransId="{DA2AC7A6-6F27-4D19-AF86-14049B749449}"/>
    <dgm:cxn modelId="{C6A98945-F9C0-4D65-BB97-73A06C9CF6FB}" type="presOf" srcId="{2DBC82A5-B7F2-4EE2-AE4F-D8C18B7C2A2A}" destId="{99A6A42B-90C0-4174-9CCF-619714A8AB40}" srcOrd="0" destOrd="0" presId="urn:microsoft.com/office/officeart/2008/layout/SquareAccentList"/>
    <dgm:cxn modelId="{29EC79DC-499C-4A97-9A9E-F699E0DEF1DB}" srcId="{9F63E54D-2A14-411C-9696-524BEE324071}" destId="{2E3D7C7A-E291-4244-9AE3-700B9F2366C2}" srcOrd="1" destOrd="0" parTransId="{11CF4A60-B7B7-4FC8-B686-096755B4381F}" sibTransId="{23E10D02-A59F-4DB8-A41B-7A3204A88B96}"/>
    <dgm:cxn modelId="{B0677D49-5C4C-4739-9AEC-810D9CDFDEFE}" type="presOf" srcId="{C8E7332A-7FAF-4299-BF77-DDBEEC499426}" destId="{4F12ED0C-A8C2-4CB4-8C1C-380095C01183}" srcOrd="0" destOrd="0" presId="urn:microsoft.com/office/officeart/2008/layout/SquareAccentList"/>
    <dgm:cxn modelId="{72A33A1E-9AEA-4C10-8F35-A7091B82E5B7}" type="presParOf" srcId="{99A6A42B-90C0-4174-9CCF-619714A8AB40}" destId="{41F1C0BF-4492-4024-87AC-9301098CC3E4}" srcOrd="0" destOrd="0" presId="urn:microsoft.com/office/officeart/2008/layout/SquareAccentList"/>
    <dgm:cxn modelId="{23D692C2-44F6-4C6B-AFE6-0437CFD1FE61}" type="presParOf" srcId="{41F1C0BF-4492-4024-87AC-9301098CC3E4}" destId="{A2108D4B-576B-4649-869E-FC1D07629C1A}" srcOrd="0" destOrd="0" presId="urn:microsoft.com/office/officeart/2008/layout/SquareAccentList"/>
    <dgm:cxn modelId="{34D743B2-0070-436D-8C09-1B7EAA444BF4}" type="presParOf" srcId="{A2108D4B-576B-4649-869E-FC1D07629C1A}" destId="{93D68395-A68F-481B-9938-CC906C3FFF5D}" srcOrd="0" destOrd="0" presId="urn:microsoft.com/office/officeart/2008/layout/SquareAccentList"/>
    <dgm:cxn modelId="{98783259-4CD7-48CD-B969-CB484DCB38D2}" type="presParOf" srcId="{A2108D4B-576B-4649-869E-FC1D07629C1A}" destId="{732D5582-3B80-42C2-A9E8-A0B20F8A2237}" srcOrd="1" destOrd="0" presId="urn:microsoft.com/office/officeart/2008/layout/SquareAccentList"/>
    <dgm:cxn modelId="{AE094766-2683-412C-B629-DD2CF8A2380D}" type="presParOf" srcId="{A2108D4B-576B-4649-869E-FC1D07629C1A}" destId="{2DB64E27-E4BF-450B-9129-0BACD4721034}" srcOrd="2" destOrd="0" presId="urn:microsoft.com/office/officeart/2008/layout/SquareAccentList"/>
    <dgm:cxn modelId="{D2C117AF-E4C8-45F6-BCD8-38490B876B5A}" type="presParOf" srcId="{41F1C0BF-4492-4024-87AC-9301098CC3E4}" destId="{63E423D4-DB70-47A9-88E8-60CD58C16130}" srcOrd="1" destOrd="0" presId="urn:microsoft.com/office/officeart/2008/layout/SquareAccentList"/>
    <dgm:cxn modelId="{A870044B-E13B-4FF8-987D-7B493193C649}" type="presParOf" srcId="{63E423D4-DB70-47A9-88E8-60CD58C16130}" destId="{67518ABC-39A7-456E-97BF-0AC329CB3E2D}" srcOrd="0" destOrd="0" presId="urn:microsoft.com/office/officeart/2008/layout/SquareAccentList"/>
    <dgm:cxn modelId="{334B7681-D423-48A9-ACDE-1FA3D134B670}" type="presParOf" srcId="{67518ABC-39A7-456E-97BF-0AC329CB3E2D}" destId="{5E5A60F2-F300-4B30-BB22-92FAC9F19CBC}" srcOrd="0" destOrd="0" presId="urn:microsoft.com/office/officeart/2008/layout/SquareAccentList"/>
    <dgm:cxn modelId="{767A99F2-6AD5-476A-9D0C-5CD8D6254BC1}" type="presParOf" srcId="{67518ABC-39A7-456E-97BF-0AC329CB3E2D}" destId="{4F12ED0C-A8C2-4CB4-8C1C-380095C01183}" srcOrd="1" destOrd="0" presId="urn:microsoft.com/office/officeart/2008/layout/SquareAccentList"/>
    <dgm:cxn modelId="{A8538DA5-CBD0-48AA-8F4A-D25F4752F8E1}" type="presParOf" srcId="{63E423D4-DB70-47A9-88E8-60CD58C16130}" destId="{1A2BDD8B-1242-4C89-B6E2-E3390BC71BAA}" srcOrd="1" destOrd="0" presId="urn:microsoft.com/office/officeart/2008/layout/SquareAccentList"/>
    <dgm:cxn modelId="{A25D1CB9-DF95-439B-8CC0-161DEDE4743C}" type="presParOf" srcId="{1A2BDD8B-1242-4C89-B6E2-E3390BC71BAA}" destId="{E2DE2AC4-D1E2-4587-803F-860C1010E7E7}" srcOrd="0" destOrd="0" presId="urn:microsoft.com/office/officeart/2008/layout/SquareAccentList"/>
    <dgm:cxn modelId="{25415535-C04D-489A-B943-A52636E5FD81}" type="presParOf" srcId="{1A2BDD8B-1242-4C89-B6E2-E3390BC71BAA}" destId="{3FCD600D-7CD9-4B46-89E5-53913632F8BC}" srcOrd="1" destOrd="0" presId="urn:microsoft.com/office/officeart/2008/layout/SquareAccentList"/>
    <dgm:cxn modelId="{FD9B1B2B-47AC-4F5D-BC4C-AD4729D44F34}" type="presParOf" srcId="{63E423D4-DB70-47A9-88E8-60CD58C16130}" destId="{381EFCAA-1FD6-4C05-8201-901C1A629E8F}" srcOrd="2" destOrd="0" presId="urn:microsoft.com/office/officeart/2008/layout/SquareAccentList"/>
    <dgm:cxn modelId="{E698C35F-5E64-4B72-85E1-8BF2109A9889}" type="presParOf" srcId="{381EFCAA-1FD6-4C05-8201-901C1A629E8F}" destId="{4539EF63-CC74-41DD-8FB5-4219A1BF4F93}" srcOrd="0" destOrd="0" presId="urn:microsoft.com/office/officeart/2008/layout/SquareAccentList"/>
    <dgm:cxn modelId="{1E4D23FA-831D-45E7-9B08-16AA1577B561}" type="presParOf" srcId="{381EFCAA-1FD6-4C05-8201-901C1A629E8F}" destId="{E9B1499B-F0C7-4315-8E44-A08D16317520}" srcOrd="1" destOrd="0" presId="urn:microsoft.com/office/officeart/2008/layout/SquareAccentList"/>
    <dgm:cxn modelId="{50EBA947-26A2-44FE-A20B-D13FD852853F}" type="presParOf" srcId="{63E423D4-DB70-47A9-88E8-60CD58C16130}" destId="{07F42AEC-9DD3-44D0-B445-27D7656EF47F}" srcOrd="3" destOrd="0" presId="urn:microsoft.com/office/officeart/2008/layout/SquareAccentList"/>
    <dgm:cxn modelId="{D1DBDEA7-4126-4AF6-A109-EACB4499C465}" type="presParOf" srcId="{07F42AEC-9DD3-44D0-B445-27D7656EF47F}" destId="{42E143BD-0B55-41AC-ABC5-2CD73E4028B7}" srcOrd="0" destOrd="0" presId="urn:microsoft.com/office/officeart/2008/layout/SquareAccentList"/>
    <dgm:cxn modelId="{4E926BDB-648B-4EA4-984A-492D0A290AD4}" type="presParOf" srcId="{07F42AEC-9DD3-44D0-B445-27D7656EF47F}" destId="{764861B4-D63C-4610-B1EA-01F4C1132A28}" srcOrd="1" destOrd="0" presId="urn:microsoft.com/office/officeart/2008/layout/SquareAccentList"/>
    <dgm:cxn modelId="{0B88F602-2BE3-44BF-9886-A753924BADEE}" type="presParOf" srcId="{99A6A42B-90C0-4174-9CCF-619714A8AB40}" destId="{92677E7D-A938-46ED-B056-E47C2137C33F}" srcOrd="1" destOrd="0" presId="urn:microsoft.com/office/officeart/2008/layout/SquareAccentList"/>
    <dgm:cxn modelId="{ADACA8C9-1DBD-4ED5-B32D-A1A26812C300}" type="presParOf" srcId="{92677E7D-A938-46ED-B056-E47C2137C33F}" destId="{5E3A8867-DEA2-434A-899D-C335BA940974}" srcOrd="0" destOrd="0" presId="urn:microsoft.com/office/officeart/2008/layout/SquareAccentList"/>
    <dgm:cxn modelId="{9047E93F-862B-4BA4-990B-058014AE28B1}" type="presParOf" srcId="{5E3A8867-DEA2-434A-899D-C335BA940974}" destId="{C7E5E998-E10E-4330-A556-814E2B91135E}" srcOrd="0" destOrd="0" presId="urn:microsoft.com/office/officeart/2008/layout/SquareAccentList"/>
    <dgm:cxn modelId="{38616FB0-970D-4DB9-A1FD-E9B88D5CDBDB}" type="presParOf" srcId="{5E3A8867-DEA2-434A-899D-C335BA940974}" destId="{13C413A5-044F-4851-B6A2-10708CC58DCB}" srcOrd="1" destOrd="0" presId="urn:microsoft.com/office/officeart/2008/layout/SquareAccentList"/>
    <dgm:cxn modelId="{86CB0765-C1DD-40C1-9CCE-F47138EE803F}" type="presParOf" srcId="{5E3A8867-DEA2-434A-899D-C335BA940974}" destId="{4698A570-E9C3-4F3D-B96E-19A15A8EE5B2}" srcOrd="2" destOrd="0" presId="urn:microsoft.com/office/officeart/2008/layout/SquareAccentList"/>
    <dgm:cxn modelId="{7CC1ACCA-14F7-4DED-9328-77F9D2260C84}" type="presParOf" srcId="{92677E7D-A938-46ED-B056-E47C2137C33F}" destId="{49F0693D-35AF-4AD6-90E2-0AEBA5B2408F}" srcOrd="1" destOrd="0" presId="urn:microsoft.com/office/officeart/2008/layout/SquareAccentList"/>
    <dgm:cxn modelId="{E3FDFA31-FB66-4527-96E6-9D69999E243E}" type="presParOf" srcId="{49F0693D-35AF-4AD6-90E2-0AEBA5B2408F}" destId="{46891653-853F-4168-9AB1-D28C8CDDD9E4}" srcOrd="0" destOrd="0" presId="urn:microsoft.com/office/officeart/2008/layout/SquareAccentList"/>
    <dgm:cxn modelId="{C52CA68D-2867-4173-8284-B44748A3DFE1}" type="presParOf" srcId="{46891653-853F-4168-9AB1-D28C8CDDD9E4}" destId="{7FA670E1-0D9E-4B75-A812-0039D78E4853}" srcOrd="0" destOrd="0" presId="urn:microsoft.com/office/officeart/2008/layout/SquareAccentList"/>
    <dgm:cxn modelId="{9FDD4862-26AB-4B38-B932-B56D36A2790A}" type="presParOf" srcId="{46891653-853F-4168-9AB1-D28C8CDDD9E4}" destId="{F33CC6D5-17B2-4695-A7A1-3F722C20B570}" srcOrd="1" destOrd="0" presId="urn:microsoft.com/office/officeart/2008/layout/SquareAccentList"/>
    <dgm:cxn modelId="{09F0CC2E-1A24-46EA-8162-E8D1C5336307}" type="presParOf" srcId="{49F0693D-35AF-4AD6-90E2-0AEBA5B2408F}" destId="{BDFF09A3-81D9-4556-AF8D-38ED81E28961}" srcOrd="1" destOrd="0" presId="urn:microsoft.com/office/officeart/2008/layout/SquareAccentList"/>
    <dgm:cxn modelId="{34E9DEE5-26D1-4575-897D-8684F9CF45F5}" type="presParOf" srcId="{BDFF09A3-81D9-4556-AF8D-38ED81E28961}" destId="{1EC858FD-CF6E-4111-817E-47CB305512AD}" srcOrd="0" destOrd="0" presId="urn:microsoft.com/office/officeart/2008/layout/SquareAccentList"/>
    <dgm:cxn modelId="{D7FDEEC1-6155-4ACD-84AC-BE1DC8304A6D}" type="presParOf" srcId="{BDFF09A3-81D9-4556-AF8D-38ED81E28961}" destId="{0FCFEB52-E886-497D-9698-ADF76A93A1DB}" srcOrd="1" destOrd="0" presId="urn:microsoft.com/office/officeart/2008/layout/SquareAccentList"/>
    <dgm:cxn modelId="{27DC2165-546A-4920-A5F6-ED2C6785EAFE}" type="presParOf" srcId="{49F0693D-35AF-4AD6-90E2-0AEBA5B2408F}" destId="{BB241C39-1440-41BF-A75A-DCA52805489A}" srcOrd="2" destOrd="0" presId="urn:microsoft.com/office/officeart/2008/layout/SquareAccentList"/>
    <dgm:cxn modelId="{E5FC3286-CF3E-4342-AE41-8AACF7B3F1F8}" type="presParOf" srcId="{BB241C39-1440-41BF-A75A-DCA52805489A}" destId="{B0EC7733-2C5F-47D2-9D0B-225D4AAEB885}" srcOrd="0" destOrd="0" presId="urn:microsoft.com/office/officeart/2008/layout/SquareAccentList"/>
    <dgm:cxn modelId="{779E9620-1F4A-455C-A435-05A29CECF98C}" type="presParOf" srcId="{BB241C39-1440-41BF-A75A-DCA52805489A}" destId="{5EDB5E27-18BD-4EFC-9923-CF699E059307}" srcOrd="1" destOrd="0" presId="urn:microsoft.com/office/officeart/2008/layout/SquareAccentList"/>
    <dgm:cxn modelId="{57C46EF1-1CF9-4FDA-88FB-519C67FEBBEF}" type="presParOf" srcId="{49F0693D-35AF-4AD6-90E2-0AEBA5B2408F}" destId="{58EDA4E3-0702-4D7A-8356-D162C42713B2}" srcOrd="3" destOrd="0" presId="urn:microsoft.com/office/officeart/2008/layout/SquareAccentList"/>
    <dgm:cxn modelId="{4B639A6B-BCB5-4039-97C8-3D3B0AE82E6B}" type="presParOf" srcId="{58EDA4E3-0702-4D7A-8356-D162C42713B2}" destId="{00182D57-F457-4300-AAF7-F2D50484E0F3}" srcOrd="0" destOrd="0" presId="urn:microsoft.com/office/officeart/2008/layout/SquareAccentList"/>
    <dgm:cxn modelId="{87CECA0D-1894-437E-9A02-AEE58602AF37}" type="presParOf" srcId="{58EDA4E3-0702-4D7A-8356-D162C42713B2}" destId="{CB55CB64-4A3A-4114-9DC9-AD84D735CDEE}" srcOrd="1" destOrd="0" presId="urn:microsoft.com/office/officeart/2008/layout/Square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D68395-A68F-481B-9938-CC906C3FFF5D}">
      <dsp:nvSpPr>
        <dsp:cNvPr id="0" name=""/>
        <dsp:cNvSpPr/>
      </dsp:nvSpPr>
      <dsp:spPr>
        <a:xfrm>
          <a:off x="28" y="628457"/>
          <a:ext cx="2973631" cy="349838"/>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32D5582-3B80-42C2-A9E8-A0B20F8A2237}">
      <dsp:nvSpPr>
        <dsp:cNvPr id="0" name=""/>
        <dsp:cNvSpPr/>
      </dsp:nvSpPr>
      <dsp:spPr>
        <a:xfrm>
          <a:off x="28" y="759843"/>
          <a:ext cx="218453" cy="218453"/>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B64E27-E4BF-450B-9129-0BACD4721034}">
      <dsp:nvSpPr>
        <dsp:cNvPr id="0" name=""/>
        <dsp:cNvSpPr/>
      </dsp:nvSpPr>
      <dsp:spPr>
        <a:xfrm>
          <a:off x="28" y="0"/>
          <a:ext cx="2973631" cy="628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005" tIns="26670" rIns="40005" bIns="26670" numCol="1" spcCol="1270" anchor="ctr" anchorCtr="0">
          <a:noAutofit/>
        </a:bodyPr>
        <a:lstStyle/>
        <a:p>
          <a:pPr lvl="0" algn="l" defTabSz="933450">
            <a:lnSpc>
              <a:spcPct val="90000"/>
            </a:lnSpc>
            <a:spcBef>
              <a:spcPct val="0"/>
            </a:spcBef>
            <a:spcAft>
              <a:spcPct val="35000"/>
            </a:spcAft>
          </a:pPr>
          <a:r>
            <a:rPr lang="fr-FR" sz="2100" kern="1200" dirty="0" smtClean="0">
              <a:solidFill>
                <a:schemeClr val="accent1"/>
              </a:solidFill>
            </a:rPr>
            <a:t>Enjeux du client :  </a:t>
          </a:r>
          <a:endParaRPr lang="fr-FR" sz="2100" kern="1200" dirty="0">
            <a:solidFill>
              <a:schemeClr val="accent1"/>
            </a:solidFill>
          </a:endParaRPr>
        </a:p>
      </dsp:txBody>
      <dsp:txXfrm>
        <a:off x="28" y="0"/>
        <a:ext cx="2973631" cy="628457"/>
      </dsp:txXfrm>
    </dsp:sp>
    <dsp:sp modelId="{5E5A60F2-F300-4B30-BB22-92FAC9F19CBC}">
      <dsp:nvSpPr>
        <dsp:cNvPr id="0" name=""/>
        <dsp:cNvSpPr/>
      </dsp:nvSpPr>
      <dsp:spPr>
        <a:xfrm>
          <a:off x="28" y="1269052"/>
          <a:ext cx="218448" cy="218448"/>
        </a:xfrm>
        <a:prstGeom prst="rect">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4F12ED0C-A8C2-4CB4-8C1C-380095C01183}">
      <dsp:nvSpPr>
        <dsp:cNvPr id="0" name=""/>
        <dsp:cNvSpPr/>
      </dsp:nvSpPr>
      <dsp:spPr>
        <a:xfrm>
          <a:off x="208182" y="1123674"/>
          <a:ext cx="2765476" cy="509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fr-FR" sz="1400" kern="1200" dirty="0" smtClean="0">
              <a:solidFill>
                <a:schemeClr val="bg2"/>
              </a:solidFill>
            </a:rPr>
            <a:t>Identifier les causes </a:t>
          </a:r>
          <a:endParaRPr lang="fr-FR" sz="1400" kern="1200" dirty="0">
            <a:solidFill>
              <a:schemeClr val="bg2"/>
            </a:solidFill>
          </a:endParaRPr>
        </a:p>
      </dsp:txBody>
      <dsp:txXfrm>
        <a:off x="208182" y="1123674"/>
        <a:ext cx="2765476" cy="509203"/>
      </dsp:txXfrm>
    </dsp:sp>
    <dsp:sp modelId="{E2DE2AC4-D1E2-4587-803F-860C1010E7E7}">
      <dsp:nvSpPr>
        <dsp:cNvPr id="0" name=""/>
        <dsp:cNvSpPr/>
      </dsp:nvSpPr>
      <dsp:spPr>
        <a:xfrm>
          <a:off x="28" y="1778255"/>
          <a:ext cx="218448" cy="218448"/>
        </a:xfrm>
        <a:prstGeom prst="rect">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FCD600D-7CD9-4B46-89E5-53913632F8BC}">
      <dsp:nvSpPr>
        <dsp:cNvPr id="0" name=""/>
        <dsp:cNvSpPr/>
      </dsp:nvSpPr>
      <dsp:spPr>
        <a:xfrm>
          <a:off x="208182" y="1632878"/>
          <a:ext cx="2765476" cy="509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fr-FR" sz="1400" kern="1200" dirty="0" smtClean="0">
              <a:solidFill>
                <a:schemeClr val="bg2"/>
              </a:solidFill>
            </a:rPr>
            <a:t>Comprendre les profils à risque</a:t>
          </a:r>
          <a:endParaRPr lang="fr-FR" sz="1400" kern="1200" dirty="0">
            <a:solidFill>
              <a:schemeClr val="bg2"/>
            </a:solidFill>
          </a:endParaRPr>
        </a:p>
      </dsp:txBody>
      <dsp:txXfrm>
        <a:off x="208182" y="1632878"/>
        <a:ext cx="2765476" cy="509203"/>
      </dsp:txXfrm>
    </dsp:sp>
    <dsp:sp modelId="{4539EF63-CC74-41DD-8FB5-4219A1BF4F93}">
      <dsp:nvSpPr>
        <dsp:cNvPr id="0" name=""/>
        <dsp:cNvSpPr/>
      </dsp:nvSpPr>
      <dsp:spPr>
        <a:xfrm>
          <a:off x="28" y="2287459"/>
          <a:ext cx="218448" cy="218448"/>
        </a:xfrm>
        <a:prstGeom prst="rect">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9B1499B-F0C7-4315-8E44-A08D16317520}">
      <dsp:nvSpPr>
        <dsp:cNvPr id="0" name=""/>
        <dsp:cNvSpPr/>
      </dsp:nvSpPr>
      <dsp:spPr>
        <a:xfrm>
          <a:off x="208182" y="2142081"/>
          <a:ext cx="2765476" cy="509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fr-FR" sz="1400" kern="1200" dirty="0" smtClean="0">
              <a:solidFill>
                <a:schemeClr val="bg2"/>
              </a:solidFill>
            </a:rPr>
            <a:t>Limitant les futures pertes </a:t>
          </a:r>
        </a:p>
      </dsp:txBody>
      <dsp:txXfrm>
        <a:off x="208182" y="2142081"/>
        <a:ext cx="2765476" cy="509203"/>
      </dsp:txXfrm>
    </dsp:sp>
    <dsp:sp modelId="{42E143BD-0B55-41AC-ABC5-2CD73E4028B7}">
      <dsp:nvSpPr>
        <dsp:cNvPr id="0" name=""/>
        <dsp:cNvSpPr/>
      </dsp:nvSpPr>
      <dsp:spPr>
        <a:xfrm>
          <a:off x="28" y="2796662"/>
          <a:ext cx="218448" cy="218448"/>
        </a:xfrm>
        <a:prstGeom prst="rect">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764861B4-D63C-4610-B1EA-01F4C1132A28}">
      <dsp:nvSpPr>
        <dsp:cNvPr id="0" name=""/>
        <dsp:cNvSpPr/>
      </dsp:nvSpPr>
      <dsp:spPr>
        <a:xfrm>
          <a:off x="208182" y="2651285"/>
          <a:ext cx="2765476" cy="509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fr-FR" sz="1400" kern="1200" dirty="0" smtClean="0">
              <a:solidFill>
                <a:schemeClr val="bg2"/>
              </a:solidFill>
            </a:rPr>
            <a:t>Un plan d’action</a:t>
          </a:r>
          <a:endParaRPr lang="fr-FR" sz="1400" kern="1200" dirty="0">
            <a:solidFill>
              <a:schemeClr val="bg2"/>
            </a:solidFill>
          </a:endParaRPr>
        </a:p>
      </dsp:txBody>
      <dsp:txXfrm>
        <a:off x="208182" y="2651285"/>
        <a:ext cx="2765476" cy="509203"/>
      </dsp:txXfrm>
    </dsp:sp>
    <dsp:sp modelId="{C7E5E998-E10E-4330-A556-814E2B91135E}">
      <dsp:nvSpPr>
        <dsp:cNvPr id="0" name=""/>
        <dsp:cNvSpPr/>
      </dsp:nvSpPr>
      <dsp:spPr>
        <a:xfrm>
          <a:off x="3122340" y="628457"/>
          <a:ext cx="2973631" cy="349838"/>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3C413A5-044F-4851-B6A2-10708CC58DCB}">
      <dsp:nvSpPr>
        <dsp:cNvPr id="0" name=""/>
        <dsp:cNvSpPr/>
      </dsp:nvSpPr>
      <dsp:spPr>
        <a:xfrm>
          <a:off x="3122340" y="759843"/>
          <a:ext cx="218453" cy="218453"/>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4698A570-E9C3-4F3D-B96E-19A15A8EE5B2}">
      <dsp:nvSpPr>
        <dsp:cNvPr id="0" name=""/>
        <dsp:cNvSpPr/>
      </dsp:nvSpPr>
      <dsp:spPr>
        <a:xfrm>
          <a:off x="3122340" y="0"/>
          <a:ext cx="2973631" cy="628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005" tIns="26670" rIns="40005" bIns="26670" numCol="1" spcCol="1270" anchor="ctr" anchorCtr="0">
          <a:noAutofit/>
        </a:bodyPr>
        <a:lstStyle/>
        <a:p>
          <a:pPr lvl="0" algn="l" defTabSz="933450">
            <a:lnSpc>
              <a:spcPct val="90000"/>
            </a:lnSpc>
            <a:spcBef>
              <a:spcPct val="0"/>
            </a:spcBef>
            <a:spcAft>
              <a:spcPct val="35000"/>
            </a:spcAft>
          </a:pPr>
          <a:r>
            <a:rPr lang="fr-FR" sz="2100" kern="1200" dirty="0" smtClean="0">
              <a:solidFill>
                <a:schemeClr val="accent1"/>
              </a:solidFill>
            </a:rPr>
            <a:t>Les objectifs de la </a:t>
          </a:r>
          <a:r>
            <a:rPr lang="fr-FR" sz="2100" kern="1200" dirty="0" smtClean="0">
              <a:solidFill>
                <a:schemeClr val="accent1"/>
              </a:solidFill>
            </a:rPr>
            <a:t>Présentation </a:t>
          </a:r>
          <a:r>
            <a:rPr lang="fr-FR" sz="2100" kern="1200" dirty="0" smtClean="0">
              <a:solidFill>
                <a:schemeClr val="accent1"/>
              </a:solidFill>
            </a:rPr>
            <a:t>:</a:t>
          </a:r>
          <a:endParaRPr lang="fr-FR" sz="2100" kern="1200" dirty="0">
            <a:solidFill>
              <a:schemeClr val="accent1"/>
            </a:solidFill>
          </a:endParaRPr>
        </a:p>
      </dsp:txBody>
      <dsp:txXfrm>
        <a:off x="3122340" y="0"/>
        <a:ext cx="2973631" cy="628457"/>
      </dsp:txXfrm>
    </dsp:sp>
    <dsp:sp modelId="{7FA670E1-0D9E-4B75-A812-0039D78E4853}">
      <dsp:nvSpPr>
        <dsp:cNvPr id="0" name=""/>
        <dsp:cNvSpPr/>
      </dsp:nvSpPr>
      <dsp:spPr>
        <a:xfrm>
          <a:off x="3122340" y="1269052"/>
          <a:ext cx="218448" cy="218448"/>
        </a:xfrm>
        <a:prstGeom prst="rect">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33CC6D5-17B2-4695-A7A1-3F722C20B570}">
      <dsp:nvSpPr>
        <dsp:cNvPr id="0" name=""/>
        <dsp:cNvSpPr/>
      </dsp:nvSpPr>
      <dsp:spPr>
        <a:xfrm>
          <a:off x="3330494" y="1123674"/>
          <a:ext cx="2765476" cy="509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fr-FR" sz="1400" kern="1200" dirty="0" smtClean="0">
              <a:solidFill>
                <a:schemeClr val="bg2"/>
              </a:solidFill>
            </a:rPr>
            <a:t>Comprendre les départs </a:t>
          </a:r>
          <a:endParaRPr lang="fr-FR" sz="1400" kern="1200" dirty="0">
            <a:solidFill>
              <a:schemeClr val="bg2"/>
            </a:solidFill>
          </a:endParaRPr>
        </a:p>
      </dsp:txBody>
      <dsp:txXfrm>
        <a:off x="3330494" y="1123674"/>
        <a:ext cx="2765476" cy="509203"/>
      </dsp:txXfrm>
    </dsp:sp>
    <dsp:sp modelId="{1EC858FD-CF6E-4111-817E-47CB305512AD}">
      <dsp:nvSpPr>
        <dsp:cNvPr id="0" name=""/>
        <dsp:cNvSpPr/>
      </dsp:nvSpPr>
      <dsp:spPr>
        <a:xfrm>
          <a:off x="3122340" y="1778255"/>
          <a:ext cx="218448" cy="218448"/>
        </a:xfrm>
        <a:prstGeom prst="rect">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FCFEB52-E886-497D-9698-ADF76A93A1DB}">
      <dsp:nvSpPr>
        <dsp:cNvPr id="0" name=""/>
        <dsp:cNvSpPr/>
      </dsp:nvSpPr>
      <dsp:spPr>
        <a:xfrm>
          <a:off x="3330494" y="1632878"/>
          <a:ext cx="2765476" cy="509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fr-FR" sz="1400" kern="1200" dirty="0" smtClean="0">
              <a:solidFill>
                <a:schemeClr val="bg2"/>
              </a:solidFill>
            </a:rPr>
            <a:t>Identifier les profils à risque</a:t>
          </a:r>
          <a:r>
            <a:rPr lang="fr-FR" sz="1400" kern="1200" dirty="0" smtClean="0"/>
            <a:t> </a:t>
          </a:r>
          <a:endParaRPr lang="fr-FR" sz="1400" kern="1200" dirty="0"/>
        </a:p>
      </dsp:txBody>
      <dsp:txXfrm>
        <a:off x="3330494" y="1632878"/>
        <a:ext cx="2765476" cy="509203"/>
      </dsp:txXfrm>
    </dsp:sp>
    <dsp:sp modelId="{B0EC7733-2C5F-47D2-9D0B-225D4AAEB885}">
      <dsp:nvSpPr>
        <dsp:cNvPr id="0" name=""/>
        <dsp:cNvSpPr/>
      </dsp:nvSpPr>
      <dsp:spPr>
        <a:xfrm>
          <a:off x="3122340" y="2287459"/>
          <a:ext cx="218448" cy="218448"/>
        </a:xfrm>
        <a:prstGeom prst="rect">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EDB5E27-18BD-4EFC-9923-CF699E059307}">
      <dsp:nvSpPr>
        <dsp:cNvPr id="0" name=""/>
        <dsp:cNvSpPr/>
      </dsp:nvSpPr>
      <dsp:spPr>
        <a:xfrm>
          <a:off x="3330494" y="2142081"/>
          <a:ext cx="2765476" cy="509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fr-FR" sz="1400" kern="1200" dirty="0" smtClean="0">
              <a:solidFill>
                <a:schemeClr val="bg2"/>
              </a:solidFill>
            </a:rPr>
            <a:t>Communiquer clairement </a:t>
          </a:r>
          <a:endParaRPr lang="fr-FR" sz="1400" kern="1200" dirty="0">
            <a:solidFill>
              <a:schemeClr val="bg2"/>
            </a:solidFill>
          </a:endParaRPr>
        </a:p>
      </dsp:txBody>
      <dsp:txXfrm>
        <a:off x="3330494" y="2142081"/>
        <a:ext cx="2765476" cy="509203"/>
      </dsp:txXfrm>
    </dsp:sp>
    <dsp:sp modelId="{00182D57-F457-4300-AAF7-F2D50484E0F3}">
      <dsp:nvSpPr>
        <dsp:cNvPr id="0" name=""/>
        <dsp:cNvSpPr/>
      </dsp:nvSpPr>
      <dsp:spPr>
        <a:xfrm>
          <a:off x="3122340" y="2796662"/>
          <a:ext cx="218448" cy="218448"/>
        </a:xfrm>
        <a:prstGeom prst="rect">
          <a:avLst/>
        </a:prstGeom>
        <a:solidFill>
          <a:schemeClr val="l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CB55CB64-4A3A-4114-9DC9-AD84D735CDEE}">
      <dsp:nvSpPr>
        <dsp:cNvPr id="0" name=""/>
        <dsp:cNvSpPr/>
      </dsp:nvSpPr>
      <dsp:spPr>
        <a:xfrm>
          <a:off x="3330494" y="2651285"/>
          <a:ext cx="2765476" cy="509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ctr" anchorCtr="0">
          <a:noAutofit/>
        </a:bodyPr>
        <a:lstStyle/>
        <a:p>
          <a:pPr lvl="0" algn="l" defTabSz="622300">
            <a:lnSpc>
              <a:spcPct val="90000"/>
            </a:lnSpc>
            <a:spcBef>
              <a:spcPct val="0"/>
            </a:spcBef>
            <a:spcAft>
              <a:spcPct val="35000"/>
            </a:spcAft>
          </a:pPr>
          <a:r>
            <a:rPr lang="fr-FR" sz="1400" kern="1200" dirty="0" smtClean="0">
              <a:solidFill>
                <a:schemeClr val="bg2"/>
              </a:solidFill>
            </a:rPr>
            <a:t>Faciliter la prise de décision </a:t>
          </a:r>
          <a:endParaRPr lang="fr-FR" sz="1400" kern="1200" dirty="0">
            <a:solidFill>
              <a:schemeClr val="bg2"/>
            </a:solidFill>
          </a:endParaRPr>
        </a:p>
      </dsp:txBody>
      <dsp:txXfrm>
        <a:off x="3330494" y="2651285"/>
        <a:ext cx="2765476" cy="509203"/>
      </dsp:txXfrm>
    </dsp:sp>
  </dsp:spTree>
</dsp:drawing>
</file>

<file path=ppt/diagrams/layout1.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87581916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90870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54135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6" name="Google Shape;28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17879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7" name="Google Shape;29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87722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7" name="Google Shape;29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29834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1" name="Google Shape;32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20296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
        <p:cNvGrpSpPr/>
        <p:nvPr/>
      </p:nvGrpSpPr>
      <p:grpSpPr>
        <a:xfrm>
          <a:off x="0" y="0"/>
          <a:ext cx="0" cy="0"/>
          <a:chOff x="0" y="0"/>
          <a:chExt cx="0" cy="0"/>
        </a:xfrm>
      </p:grpSpPr>
      <p:grpSp>
        <p:nvGrpSpPr>
          <p:cNvPr id="10" name="Google Shape;10;p9"/>
          <p:cNvGrpSpPr/>
          <p:nvPr/>
        </p:nvGrpSpPr>
        <p:grpSpPr>
          <a:xfrm>
            <a:off x="6866714" y="1255"/>
            <a:ext cx="2267380" cy="2601741"/>
            <a:chOff x="6790514" y="1255"/>
            <a:chExt cx="2267380" cy="2601741"/>
          </a:xfrm>
        </p:grpSpPr>
        <p:grpSp>
          <p:nvGrpSpPr>
            <p:cNvPr id="11" name="Google Shape;11;p9"/>
            <p:cNvGrpSpPr/>
            <p:nvPr/>
          </p:nvGrpSpPr>
          <p:grpSpPr>
            <a:xfrm>
              <a:off x="7067536" y="1255"/>
              <a:ext cx="1990358" cy="1990303"/>
              <a:chOff x="7067536" y="1255"/>
              <a:chExt cx="1990358" cy="1990303"/>
            </a:xfrm>
          </p:grpSpPr>
          <p:sp>
            <p:nvSpPr>
              <p:cNvPr id="12" name="Google Shape;12;p9"/>
              <p:cNvSpPr/>
              <p:nvPr/>
            </p:nvSpPr>
            <p:spPr>
              <a:xfrm rot="-8648551">
                <a:off x="7594313" y="527721"/>
                <a:ext cx="937226" cy="937226"/>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9"/>
              <p:cNvSpPr/>
              <p:nvPr/>
            </p:nvSpPr>
            <p:spPr>
              <a:xfrm rot="-8648551">
                <a:off x="7594313" y="527721"/>
                <a:ext cx="937226" cy="937226"/>
              </a:xfrm>
              <a:prstGeom prst="pie">
                <a:avLst>
                  <a:gd name="adj1" fmla="val 19376841"/>
                  <a:gd name="adj2" fmla="val 12313574"/>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9"/>
              <p:cNvSpPr/>
              <p:nvPr/>
            </p:nvSpPr>
            <p:spPr>
              <a:xfrm rot="-8649154">
                <a:off x="7349891" y="283705"/>
                <a:ext cx="1425647" cy="1425404"/>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 name="Google Shape;15;p9"/>
            <p:cNvGrpSpPr/>
            <p:nvPr/>
          </p:nvGrpSpPr>
          <p:grpSpPr>
            <a:xfrm>
              <a:off x="8207126" y="1807997"/>
              <a:ext cx="795000" cy="795000"/>
              <a:chOff x="8207126" y="1807997"/>
              <a:chExt cx="795000" cy="795000"/>
            </a:xfrm>
          </p:grpSpPr>
          <p:sp>
            <p:nvSpPr>
              <p:cNvPr id="16" name="Google Shape;16;p9"/>
              <p:cNvSpPr/>
              <p:nvPr/>
            </p:nvSpPr>
            <p:spPr>
              <a:xfrm rot="2152054">
                <a:off x="8319942" y="1920813"/>
                <a:ext cx="569367" cy="569367"/>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9"/>
              <p:cNvSpPr/>
              <p:nvPr/>
            </p:nvSpPr>
            <p:spPr>
              <a:xfrm rot="2150259">
                <a:off x="8408218" y="2008610"/>
                <a:ext cx="393004" cy="393004"/>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9"/>
              <p:cNvSpPr/>
              <p:nvPr/>
            </p:nvSpPr>
            <p:spPr>
              <a:xfrm rot="2150259">
                <a:off x="8408218" y="2008610"/>
                <a:ext cx="393004" cy="393004"/>
              </a:xfrm>
              <a:prstGeom prst="pie">
                <a:avLst>
                  <a:gd name="adj1" fmla="val 5699893"/>
                  <a:gd name="adj2" fmla="val 12313574"/>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 name="Google Shape;19;p9"/>
            <p:cNvGrpSpPr/>
            <p:nvPr/>
          </p:nvGrpSpPr>
          <p:grpSpPr>
            <a:xfrm>
              <a:off x="6790514" y="118857"/>
              <a:ext cx="548700" cy="548700"/>
              <a:chOff x="6790514" y="118857"/>
              <a:chExt cx="548700" cy="548700"/>
            </a:xfrm>
          </p:grpSpPr>
          <p:sp>
            <p:nvSpPr>
              <p:cNvPr id="20" name="Google Shape;20;p9"/>
              <p:cNvSpPr/>
              <p:nvPr/>
            </p:nvSpPr>
            <p:spPr>
              <a:xfrm rot="2150259">
                <a:off x="6868362" y="196705"/>
                <a:ext cx="393004" cy="393004"/>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9"/>
              <p:cNvSpPr/>
              <p:nvPr/>
            </p:nvSpPr>
            <p:spPr>
              <a:xfrm rot="2150259">
                <a:off x="6868362" y="196705"/>
                <a:ext cx="393004" cy="393004"/>
              </a:xfrm>
              <a:prstGeom prst="pie">
                <a:avLst>
                  <a:gd name="adj1" fmla="val 5699893"/>
                  <a:gd name="adj2" fmla="val 12313574"/>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22" name="Google Shape;22;p9"/>
          <p:cNvSpPr txBox="1">
            <a:spLocks noGrp="1"/>
          </p:cNvSpPr>
          <p:nvPr>
            <p:ph type="title"/>
          </p:nvPr>
        </p:nvSpPr>
        <p:spPr>
          <a:xfrm>
            <a:off x="824000" y="763600"/>
            <a:ext cx="5857800" cy="35733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3" name="Google Shape;23;p9"/>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grpSp>
        <p:nvGrpSpPr>
          <p:cNvPr id="25" name="Google Shape;25;p10"/>
          <p:cNvGrpSpPr/>
          <p:nvPr/>
        </p:nvGrpSpPr>
        <p:grpSpPr>
          <a:xfrm>
            <a:off x="625966" y="299376"/>
            <a:ext cx="999312" cy="999312"/>
            <a:chOff x="348199" y="179450"/>
            <a:chExt cx="1116300" cy="1116300"/>
          </a:xfrm>
        </p:grpSpPr>
        <p:sp>
          <p:nvSpPr>
            <p:cNvPr id="26" name="Google Shape;26;p10"/>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10"/>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10"/>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10"/>
          <p:cNvSpPr txBox="1">
            <a:spLocks noGrp="1"/>
          </p:cNvSpPr>
          <p:nvPr>
            <p:ph type="body" idx="1"/>
          </p:nvPr>
        </p:nvSpPr>
        <p:spPr>
          <a:xfrm>
            <a:off x="1303800" y="1990050"/>
            <a:ext cx="7030500" cy="2541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0" name="Google Shape;30;p10"/>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1"/>
        <p:cNvGrpSpPr/>
        <p:nvPr/>
      </p:nvGrpSpPr>
      <p:grpSpPr>
        <a:xfrm>
          <a:off x="0" y="0"/>
          <a:ext cx="0" cy="0"/>
          <a:chOff x="0" y="0"/>
          <a:chExt cx="0" cy="0"/>
        </a:xfrm>
      </p:grpSpPr>
      <p:grpSp>
        <p:nvGrpSpPr>
          <p:cNvPr id="32" name="Google Shape;32;p11"/>
          <p:cNvGrpSpPr/>
          <p:nvPr/>
        </p:nvGrpSpPr>
        <p:grpSpPr>
          <a:xfrm>
            <a:off x="52" y="4099200"/>
            <a:ext cx="9144036" cy="1044300"/>
            <a:chOff x="52" y="4099200"/>
            <a:chExt cx="9144036" cy="1044300"/>
          </a:xfrm>
        </p:grpSpPr>
        <p:grpSp>
          <p:nvGrpSpPr>
            <p:cNvPr id="33" name="Google Shape;33;p11"/>
            <p:cNvGrpSpPr/>
            <p:nvPr/>
          </p:nvGrpSpPr>
          <p:grpSpPr>
            <a:xfrm>
              <a:off x="52" y="4309200"/>
              <a:ext cx="231622" cy="834300"/>
              <a:chOff x="2688737" y="4301380"/>
              <a:chExt cx="231900" cy="834300"/>
            </a:xfrm>
          </p:grpSpPr>
          <p:sp>
            <p:nvSpPr>
              <p:cNvPr id="34" name="Google Shape;34;p11"/>
              <p:cNvSpPr/>
              <p:nvPr/>
            </p:nvSpPr>
            <p:spPr>
              <a:xfrm flipH="1">
                <a:off x="2688737" y="4720780"/>
                <a:ext cx="2319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11"/>
              <p:cNvSpPr/>
              <p:nvPr/>
            </p:nvSpPr>
            <p:spPr>
              <a:xfrm flipH="1">
                <a:off x="2688737" y="4301380"/>
                <a:ext cx="2319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11"/>
              <p:cNvSpPr/>
              <p:nvPr/>
            </p:nvSpPr>
            <p:spPr>
              <a:xfrm flipH="1">
                <a:off x="2688737" y="4511080"/>
                <a:ext cx="2319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1"/>
              <p:cNvSpPr/>
              <p:nvPr/>
            </p:nvSpPr>
            <p:spPr>
              <a:xfrm flipH="1">
                <a:off x="2688737" y="4930480"/>
                <a:ext cx="2319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8" name="Google Shape;38;p11"/>
            <p:cNvGrpSpPr/>
            <p:nvPr/>
          </p:nvGrpSpPr>
          <p:grpSpPr>
            <a:xfrm>
              <a:off x="371406" y="4099200"/>
              <a:ext cx="231622" cy="1044300"/>
              <a:chOff x="2688737" y="4091380"/>
              <a:chExt cx="231900" cy="1044300"/>
            </a:xfrm>
          </p:grpSpPr>
          <p:sp>
            <p:nvSpPr>
              <p:cNvPr id="39" name="Google Shape;39;p11"/>
              <p:cNvSpPr/>
              <p:nvPr/>
            </p:nvSpPr>
            <p:spPr>
              <a:xfrm flipH="1">
                <a:off x="2688737" y="4720780"/>
                <a:ext cx="2319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11"/>
              <p:cNvSpPr/>
              <p:nvPr/>
            </p:nvSpPr>
            <p:spPr>
              <a:xfrm flipH="1">
                <a:off x="2688737" y="4301380"/>
                <a:ext cx="2319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11"/>
              <p:cNvSpPr/>
              <p:nvPr/>
            </p:nvSpPr>
            <p:spPr>
              <a:xfrm flipH="1">
                <a:off x="2688737" y="4511080"/>
                <a:ext cx="2319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11"/>
              <p:cNvSpPr/>
              <p:nvPr/>
            </p:nvSpPr>
            <p:spPr>
              <a:xfrm flipH="1">
                <a:off x="2688737" y="4091380"/>
                <a:ext cx="231900" cy="104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11"/>
              <p:cNvSpPr/>
              <p:nvPr/>
            </p:nvSpPr>
            <p:spPr>
              <a:xfrm flipH="1">
                <a:off x="2688737" y="4930480"/>
                <a:ext cx="2319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4" name="Google Shape;44;p11"/>
            <p:cNvGrpSpPr/>
            <p:nvPr/>
          </p:nvGrpSpPr>
          <p:grpSpPr>
            <a:xfrm>
              <a:off x="742761" y="4309200"/>
              <a:ext cx="231622" cy="834300"/>
              <a:chOff x="2688737" y="4301380"/>
              <a:chExt cx="231900" cy="834300"/>
            </a:xfrm>
          </p:grpSpPr>
          <p:sp>
            <p:nvSpPr>
              <p:cNvPr id="45" name="Google Shape;45;p11"/>
              <p:cNvSpPr/>
              <p:nvPr/>
            </p:nvSpPr>
            <p:spPr>
              <a:xfrm flipH="1">
                <a:off x="2688737" y="4720780"/>
                <a:ext cx="2319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11"/>
              <p:cNvSpPr/>
              <p:nvPr/>
            </p:nvSpPr>
            <p:spPr>
              <a:xfrm flipH="1">
                <a:off x="2688737" y="4301380"/>
                <a:ext cx="2319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11"/>
              <p:cNvSpPr/>
              <p:nvPr/>
            </p:nvSpPr>
            <p:spPr>
              <a:xfrm flipH="1">
                <a:off x="2688737" y="4511080"/>
                <a:ext cx="2319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11"/>
              <p:cNvSpPr/>
              <p:nvPr/>
            </p:nvSpPr>
            <p:spPr>
              <a:xfrm flipH="1">
                <a:off x="2688737" y="4930480"/>
                <a:ext cx="2319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9" name="Google Shape;49;p11"/>
            <p:cNvGrpSpPr/>
            <p:nvPr/>
          </p:nvGrpSpPr>
          <p:grpSpPr>
            <a:xfrm>
              <a:off x="1114115" y="4518900"/>
              <a:ext cx="231622" cy="624600"/>
              <a:chOff x="2688737" y="4511080"/>
              <a:chExt cx="231900" cy="624600"/>
            </a:xfrm>
          </p:grpSpPr>
          <p:sp>
            <p:nvSpPr>
              <p:cNvPr id="50" name="Google Shape;50;p11"/>
              <p:cNvSpPr/>
              <p:nvPr/>
            </p:nvSpPr>
            <p:spPr>
              <a:xfrm flipH="1">
                <a:off x="2688737" y="4720780"/>
                <a:ext cx="2319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11"/>
              <p:cNvSpPr/>
              <p:nvPr/>
            </p:nvSpPr>
            <p:spPr>
              <a:xfrm flipH="1">
                <a:off x="2688737" y="4511080"/>
                <a:ext cx="2319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11"/>
              <p:cNvSpPr/>
              <p:nvPr/>
            </p:nvSpPr>
            <p:spPr>
              <a:xfrm flipH="1">
                <a:off x="2688737" y="4930480"/>
                <a:ext cx="2319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3" name="Google Shape;53;p11"/>
            <p:cNvGrpSpPr/>
            <p:nvPr/>
          </p:nvGrpSpPr>
          <p:grpSpPr>
            <a:xfrm>
              <a:off x="1856753" y="4099200"/>
              <a:ext cx="231600" cy="1044300"/>
              <a:chOff x="1856753" y="4099200"/>
              <a:chExt cx="231600" cy="1044300"/>
            </a:xfrm>
          </p:grpSpPr>
          <p:sp>
            <p:nvSpPr>
              <p:cNvPr id="54" name="Google Shape;54;p11"/>
              <p:cNvSpPr/>
              <p:nvPr/>
            </p:nvSpPr>
            <p:spPr>
              <a:xfrm flipH="1">
                <a:off x="1856753"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1"/>
              <p:cNvSpPr/>
              <p:nvPr/>
            </p:nvSpPr>
            <p:spPr>
              <a:xfrm flipH="1">
                <a:off x="1856753"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11"/>
              <p:cNvSpPr/>
              <p:nvPr/>
            </p:nvSpPr>
            <p:spPr>
              <a:xfrm flipH="1">
                <a:off x="1856753"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11"/>
              <p:cNvSpPr/>
              <p:nvPr/>
            </p:nvSpPr>
            <p:spPr>
              <a:xfrm flipH="1">
                <a:off x="1856753" y="4099200"/>
                <a:ext cx="231600" cy="104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1"/>
              <p:cNvSpPr/>
              <p:nvPr/>
            </p:nvSpPr>
            <p:spPr>
              <a:xfrm flipH="1">
                <a:off x="1856753"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9" name="Google Shape;59;p11"/>
            <p:cNvGrpSpPr/>
            <p:nvPr/>
          </p:nvGrpSpPr>
          <p:grpSpPr>
            <a:xfrm>
              <a:off x="2228107" y="4309200"/>
              <a:ext cx="231600" cy="834300"/>
              <a:chOff x="2228107" y="4309200"/>
              <a:chExt cx="231600" cy="834300"/>
            </a:xfrm>
          </p:grpSpPr>
          <p:sp>
            <p:nvSpPr>
              <p:cNvPr id="60" name="Google Shape;60;p11"/>
              <p:cNvSpPr/>
              <p:nvPr/>
            </p:nvSpPr>
            <p:spPr>
              <a:xfrm flipH="1">
                <a:off x="2228107"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11"/>
              <p:cNvSpPr/>
              <p:nvPr/>
            </p:nvSpPr>
            <p:spPr>
              <a:xfrm flipH="1">
                <a:off x="2228107"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11"/>
              <p:cNvSpPr/>
              <p:nvPr/>
            </p:nvSpPr>
            <p:spPr>
              <a:xfrm flipH="1">
                <a:off x="2228107"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11"/>
              <p:cNvSpPr/>
              <p:nvPr/>
            </p:nvSpPr>
            <p:spPr>
              <a:xfrm flipH="1">
                <a:off x="2228107"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4" name="Google Shape;64;p11"/>
            <p:cNvGrpSpPr/>
            <p:nvPr/>
          </p:nvGrpSpPr>
          <p:grpSpPr>
            <a:xfrm>
              <a:off x="2599462" y="4518900"/>
              <a:ext cx="231600" cy="624600"/>
              <a:chOff x="2599462" y="4518900"/>
              <a:chExt cx="231600" cy="624600"/>
            </a:xfrm>
          </p:grpSpPr>
          <p:sp>
            <p:nvSpPr>
              <p:cNvPr id="65" name="Google Shape;65;p11"/>
              <p:cNvSpPr/>
              <p:nvPr/>
            </p:nvSpPr>
            <p:spPr>
              <a:xfrm flipH="1">
                <a:off x="2599462"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11"/>
              <p:cNvSpPr/>
              <p:nvPr/>
            </p:nvSpPr>
            <p:spPr>
              <a:xfrm flipH="1">
                <a:off x="2599462"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11"/>
              <p:cNvSpPr/>
              <p:nvPr/>
            </p:nvSpPr>
            <p:spPr>
              <a:xfrm flipH="1">
                <a:off x="2599462"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8" name="Google Shape;68;p11"/>
            <p:cNvGrpSpPr/>
            <p:nvPr/>
          </p:nvGrpSpPr>
          <p:grpSpPr>
            <a:xfrm>
              <a:off x="3342171" y="4099200"/>
              <a:ext cx="231600" cy="1044300"/>
              <a:chOff x="3342171" y="4099200"/>
              <a:chExt cx="231600" cy="1044300"/>
            </a:xfrm>
          </p:grpSpPr>
          <p:sp>
            <p:nvSpPr>
              <p:cNvPr id="69" name="Google Shape;69;p11"/>
              <p:cNvSpPr/>
              <p:nvPr/>
            </p:nvSpPr>
            <p:spPr>
              <a:xfrm flipH="1">
                <a:off x="3342171"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11"/>
              <p:cNvSpPr/>
              <p:nvPr/>
            </p:nvSpPr>
            <p:spPr>
              <a:xfrm flipH="1">
                <a:off x="3342171"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11"/>
              <p:cNvSpPr/>
              <p:nvPr/>
            </p:nvSpPr>
            <p:spPr>
              <a:xfrm flipH="1">
                <a:off x="3342171"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11"/>
              <p:cNvSpPr/>
              <p:nvPr/>
            </p:nvSpPr>
            <p:spPr>
              <a:xfrm flipH="1">
                <a:off x="3342171" y="4099200"/>
                <a:ext cx="231600" cy="104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11"/>
              <p:cNvSpPr/>
              <p:nvPr/>
            </p:nvSpPr>
            <p:spPr>
              <a:xfrm flipH="1">
                <a:off x="3342171"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4" name="Google Shape;74;p11"/>
            <p:cNvGrpSpPr/>
            <p:nvPr/>
          </p:nvGrpSpPr>
          <p:grpSpPr>
            <a:xfrm>
              <a:off x="3713525" y="4309200"/>
              <a:ext cx="231600" cy="834300"/>
              <a:chOff x="3713525" y="4309200"/>
              <a:chExt cx="231600" cy="834300"/>
            </a:xfrm>
          </p:grpSpPr>
          <p:sp>
            <p:nvSpPr>
              <p:cNvPr id="75" name="Google Shape;75;p11"/>
              <p:cNvSpPr/>
              <p:nvPr/>
            </p:nvSpPr>
            <p:spPr>
              <a:xfrm flipH="1">
                <a:off x="3713525"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1"/>
              <p:cNvSpPr/>
              <p:nvPr/>
            </p:nvSpPr>
            <p:spPr>
              <a:xfrm flipH="1">
                <a:off x="3713525"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1"/>
              <p:cNvSpPr/>
              <p:nvPr/>
            </p:nvSpPr>
            <p:spPr>
              <a:xfrm flipH="1">
                <a:off x="3713525"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1"/>
              <p:cNvSpPr/>
              <p:nvPr/>
            </p:nvSpPr>
            <p:spPr>
              <a:xfrm flipH="1">
                <a:off x="3713525"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9" name="Google Shape;79;p11"/>
            <p:cNvGrpSpPr/>
            <p:nvPr/>
          </p:nvGrpSpPr>
          <p:grpSpPr>
            <a:xfrm>
              <a:off x="1485398" y="4309200"/>
              <a:ext cx="231600" cy="834300"/>
              <a:chOff x="1485398" y="4309200"/>
              <a:chExt cx="231600" cy="834300"/>
            </a:xfrm>
          </p:grpSpPr>
          <p:sp>
            <p:nvSpPr>
              <p:cNvPr id="80" name="Google Shape;80;p11"/>
              <p:cNvSpPr/>
              <p:nvPr/>
            </p:nvSpPr>
            <p:spPr>
              <a:xfrm flipH="1">
                <a:off x="1485398"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1"/>
              <p:cNvSpPr/>
              <p:nvPr/>
            </p:nvSpPr>
            <p:spPr>
              <a:xfrm flipH="1">
                <a:off x="1485398"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1"/>
              <p:cNvSpPr/>
              <p:nvPr/>
            </p:nvSpPr>
            <p:spPr>
              <a:xfrm flipH="1">
                <a:off x="1485398"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1"/>
              <p:cNvSpPr/>
              <p:nvPr/>
            </p:nvSpPr>
            <p:spPr>
              <a:xfrm flipH="1">
                <a:off x="1485398"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4" name="Google Shape;84;p11"/>
            <p:cNvGrpSpPr/>
            <p:nvPr/>
          </p:nvGrpSpPr>
          <p:grpSpPr>
            <a:xfrm>
              <a:off x="4084879" y="4518900"/>
              <a:ext cx="231600" cy="624600"/>
              <a:chOff x="4084879" y="4518900"/>
              <a:chExt cx="231600" cy="624600"/>
            </a:xfrm>
          </p:grpSpPr>
          <p:sp>
            <p:nvSpPr>
              <p:cNvPr id="85" name="Google Shape;85;p11"/>
              <p:cNvSpPr/>
              <p:nvPr/>
            </p:nvSpPr>
            <p:spPr>
              <a:xfrm flipH="1">
                <a:off x="4084879"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1"/>
              <p:cNvSpPr/>
              <p:nvPr/>
            </p:nvSpPr>
            <p:spPr>
              <a:xfrm flipH="1">
                <a:off x="4084879"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1"/>
              <p:cNvSpPr/>
              <p:nvPr/>
            </p:nvSpPr>
            <p:spPr>
              <a:xfrm flipH="1">
                <a:off x="4084879"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8" name="Google Shape;88;p11"/>
            <p:cNvGrpSpPr/>
            <p:nvPr/>
          </p:nvGrpSpPr>
          <p:grpSpPr>
            <a:xfrm>
              <a:off x="2970816" y="4309200"/>
              <a:ext cx="231600" cy="834300"/>
              <a:chOff x="2970816" y="4309200"/>
              <a:chExt cx="231600" cy="834300"/>
            </a:xfrm>
          </p:grpSpPr>
          <p:sp>
            <p:nvSpPr>
              <p:cNvPr id="89" name="Google Shape;89;p11"/>
              <p:cNvSpPr/>
              <p:nvPr/>
            </p:nvSpPr>
            <p:spPr>
              <a:xfrm flipH="1">
                <a:off x="2970816"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11"/>
              <p:cNvSpPr/>
              <p:nvPr/>
            </p:nvSpPr>
            <p:spPr>
              <a:xfrm flipH="1">
                <a:off x="2970816"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11"/>
              <p:cNvSpPr/>
              <p:nvPr/>
            </p:nvSpPr>
            <p:spPr>
              <a:xfrm flipH="1">
                <a:off x="2970816"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11"/>
              <p:cNvSpPr/>
              <p:nvPr/>
            </p:nvSpPr>
            <p:spPr>
              <a:xfrm flipH="1">
                <a:off x="2970816"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3" name="Google Shape;93;p11"/>
            <p:cNvGrpSpPr/>
            <p:nvPr/>
          </p:nvGrpSpPr>
          <p:grpSpPr>
            <a:xfrm>
              <a:off x="4456234" y="4309200"/>
              <a:ext cx="231600" cy="834300"/>
              <a:chOff x="4456234" y="4309200"/>
              <a:chExt cx="231600" cy="834300"/>
            </a:xfrm>
          </p:grpSpPr>
          <p:sp>
            <p:nvSpPr>
              <p:cNvPr id="94" name="Google Shape;94;p11"/>
              <p:cNvSpPr/>
              <p:nvPr/>
            </p:nvSpPr>
            <p:spPr>
              <a:xfrm flipH="1">
                <a:off x="4456234"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1"/>
              <p:cNvSpPr/>
              <p:nvPr/>
            </p:nvSpPr>
            <p:spPr>
              <a:xfrm flipH="1">
                <a:off x="4456234"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11"/>
              <p:cNvSpPr/>
              <p:nvPr/>
            </p:nvSpPr>
            <p:spPr>
              <a:xfrm flipH="1">
                <a:off x="4456234"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11"/>
              <p:cNvSpPr/>
              <p:nvPr/>
            </p:nvSpPr>
            <p:spPr>
              <a:xfrm flipH="1">
                <a:off x="4456234"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8" name="Google Shape;98;p11"/>
            <p:cNvGrpSpPr/>
            <p:nvPr/>
          </p:nvGrpSpPr>
          <p:grpSpPr>
            <a:xfrm>
              <a:off x="4827588" y="4099200"/>
              <a:ext cx="231600" cy="1044300"/>
              <a:chOff x="4827588" y="4099200"/>
              <a:chExt cx="231600" cy="1044300"/>
            </a:xfrm>
          </p:grpSpPr>
          <p:sp>
            <p:nvSpPr>
              <p:cNvPr id="99" name="Google Shape;99;p11"/>
              <p:cNvSpPr/>
              <p:nvPr/>
            </p:nvSpPr>
            <p:spPr>
              <a:xfrm flipH="1">
                <a:off x="4827588"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11"/>
              <p:cNvSpPr/>
              <p:nvPr/>
            </p:nvSpPr>
            <p:spPr>
              <a:xfrm flipH="1">
                <a:off x="4827588"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1"/>
              <p:cNvSpPr/>
              <p:nvPr/>
            </p:nvSpPr>
            <p:spPr>
              <a:xfrm flipH="1">
                <a:off x="4827588"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11"/>
              <p:cNvSpPr/>
              <p:nvPr/>
            </p:nvSpPr>
            <p:spPr>
              <a:xfrm flipH="1">
                <a:off x="4827588" y="4099200"/>
                <a:ext cx="231600" cy="104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1"/>
              <p:cNvSpPr/>
              <p:nvPr/>
            </p:nvSpPr>
            <p:spPr>
              <a:xfrm flipH="1">
                <a:off x="4827588"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4" name="Google Shape;104;p11"/>
            <p:cNvGrpSpPr/>
            <p:nvPr/>
          </p:nvGrpSpPr>
          <p:grpSpPr>
            <a:xfrm>
              <a:off x="5198943" y="4309200"/>
              <a:ext cx="231600" cy="834300"/>
              <a:chOff x="5198943" y="4309200"/>
              <a:chExt cx="231600" cy="834300"/>
            </a:xfrm>
          </p:grpSpPr>
          <p:sp>
            <p:nvSpPr>
              <p:cNvPr id="105" name="Google Shape;105;p11"/>
              <p:cNvSpPr/>
              <p:nvPr/>
            </p:nvSpPr>
            <p:spPr>
              <a:xfrm flipH="1">
                <a:off x="5198943"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1"/>
              <p:cNvSpPr/>
              <p:nvPr/>
            </p:nvSpPr>
            <p:spPr>
              <a:xfrm flipH="1">
                <a:off x="5198943"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11"/>
              <p:cNvSpPr/>
              <p:nvPr/>
            </p:nvSpPr>
            <p:spPr>
              <a:xfrm flipH="1">
                <a:off x="5198943"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1"/>
              <p:cNvSpPr/>
              <p:nvPr/>
            </p:nvSpPr>
            <p:spPr>
              <a:xfrm flipH="1">
                <a:off x="5198943"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9" name="Google Shape;109;p11"/>
            <p:cNvGrpSpPr/>
            <p:nvPr/>
          </p:nvGrpSpPr>
          <p:grpSpPr>
            <a:xfrm>
              <a:off x="5570297" y="4518900"/>
              <a:ext cx="231600" cy="624600"/>
              <a:chOff x="5570297" y="4518900"/>
              <a:chExt cx="231600" cy="624600"/>
            </a:xfrm>
          </p:grpSpPr>
          <p:sp>
            <p:nvSpPr>
              <p:cNvPr id="110" name="Google Shape;110;p11"/>
              <p:cNvSpPr/>
              <p:nvPr/>
            </p:nvSpPr>
            <p:spPr>
              <a:xfrm flipH="1">
                <a:off x="5570297"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1"/>
              <p:cNvSpPr/>
              <p:nvPr/>
            </p:nvSpPr>
            <p:spPr>
              <a:xfrm flipH="1">
                <a:off x="5570297"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11"/>
              <p:cNvSpPr/>
              <p:nvPr/>
            </p:nvSpPr>
            <p:spPr>
              <a:xfrm flipH="1">
                <a:off x="5570297"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3" name="Google Shape;113;p11"/>
            <p:cNvGrpSpPr/>
            <p:nvPr/>
          </p:nvGrpSpPr>
          <p:grpSpPr>
            <a:xfrm>
              <a:off x="5941652" y="4309200"/>
              <a:ext cx="231600" cy="834300"/>
              <a:chOff x="5941652" y="4309200"/>
              <a:chExt cx="231600" cy="834300"/>
            </a:xfrm>
          </p:grpSpPr>
          <p:sp>
            <p:nvSpPr>
              <p:cNvPr id="114" name="Google Shape;114;p11"/>
              <p:cNvSpPr/>
              <p:nvPr/>
            </p:nvSpPr>
            <p:spPr>
              <a:xfrm flipH="1">
                <a:off x="5941652"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11"/>
              <p:cNvSpPr/>
              <p:nvPr/>
            </p:nvSpPr>
            <p:spPr>
              <a:xfrm flipH="1">
                <a:off x="5941652"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11"/>
              <p:cNvSpPr/>
              <p:nvPr/>
            </p:nvSpPr>
            <p:spPr>
              <a:xfrm flipH="1">
                <a:off x="5941652"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11"/>
              <p:cNvSpPr/>
              <p:nvPr/>
            </p:nvSpPr>
            <p:spPr>
              <a:xfrm flipH="1">
                <a:off x="5941652"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8" name="Google Shape;118;p11"/>
            <p:cNvGrpSpPr/>
            <p:nvPr/>
          </p:nvGrpSpPr>
          <p:grpSpPr>
            <a:xfrm>
              <a:off x="6313006" y="4099200"/>
              <a:ext cx="231600" cy="1044300"/>
              <a:chOff x="6313006" y="4099200"/>
              <a:chExt cx="231600" cy="1044300"/>
            </a:xfrm>
          </p:grpSpPr>
          <p:sp>
            <p:nvSpPr>
              <p:cNvPr id="119" name="Google Shape;119;p11"/>
              <p:cNvSpPr/>
              <p:nvPr/>
            </p:nvSpPr>
            <p:spPr>
              <a:xfrm flipH="1">
                <a:off x="6313006"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11"/>
              <p:cNvSpPr/>
              <p:nvPr/>
            </p:nvSpPr>
            <p:spPr>
              <a:xfrm flipH="1">
                <a:off x="6313006"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11"/>
              <p:cNvSpPr/>
              <p:nvPr/>
            </p:nvSpPr>
            <p:spPr>
              <a:xfrm flipH="1">
                <a:off x="6313006"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1"/>
              <p:cNvSpPr/>
              <p:nvPr/>
            </p:nvSpPr>
            <p:spPr>
              <a:xfrm flipH="1">
                <a:off x="6313006" y="4099200"/>
                <a:ext cx="231600" cy="104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1"/>
              <p:cNvSpPr/>
              <p:nvPr/>
            </p:nvSpPr>
            <p:spPr>
              <a:xfrm flipH="1">
                <a:off x="6313006"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4" name="Google Shape;124;p11"/>
            <p:cNvGrpSpPr/>
            <p:nvPr/>
          </p:nvGrpSpPr>
          <p:grpSpPr>
            <a:xfrm>
              <a:off x="6684361" y="4309200"/>
              <a:ext cx="231600" cy="834300"/>
              <a:chOff x="6684361" y="4309200"/>
              <a:chExt cx="231600" cy="834300"/>
            </a:xfrm>
          </p:grpSpPr>
          <p:sp>
            <p:nvSpPr>
              <p:cNvPr id="125" name="Google Shape;125;p11"/>
              <p:cNvSpPr/>
              <p:nvPr/>
            </p:nvSpPr>
            <p:spPr>
              <a:xfrm flipH="1">
                <a:off x="6684361"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11"/>
              <p:cNvSpPr/>
              <p:nvPr/>
            </p:nvSpPr>
            <p:spPr>
              <a:xfrm flipH="1">
                <a:off x="6684361"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11"/>
              <p:cNvSpPr/>
              <p:nvPr/>
            </p:nvSpPr>
            <p:spPr>
              <a:xfrm flipH="1">
                <a:off x="6684361"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11"/>
              <p:cNvSpPr/>
              <p:nvPr/>
            </p:nvSpPr>
            <p:spPr>
              <a:xfrm flipH="1">
                <a:off x="6684361"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9" name="Google Shape;129;p11"/>
            <p:cNvGrpSpPr/>
            <p:nvPr/>
          </p:nvGrpSpPr>
          <p:grpSpPr>
            <a:xfrm>
              <a:off x="7055715" y="4518900"/>
              <a:ext cx="231600" cy="624600"/>
              <a:chOff x="7055715" y="4518900"/>
              <a:chExt cx="231600" cy="624600"/>
            </a:xfrm>
          </p:grpSpPr>
          <p:sp>
            <p:nvSpPr>
              <p:cNvPr id="130" name="Google Shape;130;p11"/>
              <p:cNvSpPr/>
              <p:nvPr/>
            </p:nvSpPr>
            <p:spPr>
              <a:xfrm flipH="1">
                <a:off x="7055715"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11"/>
              <p:cNvSpPr/>
              <p:nvPr/>
            </p:nvSpPr>
            <p:spPr>
              <a:xfrm flipH="1">
                <a:off x="7055715"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11"/>
              <p:cNvSpPr/>
              <p:nvPr/>
            </p:nvSpPr>
            <p:spPr>
              <a:xfrm flipH="1">
                <a:off x="7055715"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3" name="Google Shape;133;p11"/>
            <p:cNvGrpSpPr/>
            <p:nvPr/>
          </p:nvGrpSpPr>
          <p:grpSpPr>
            <a:xfrm>
              <a:off x="7798424" y="4099200"/>
              <a:ext cx="231600" cy="1044300"/>
              <a:chOff x="7798424" y="4099200"/>
              <a:chExt cx="231600" cy="1044300"/>
            </a:xfrm>
          </p:grpSpPr>
          <p:sp>
            <p:nvSpPr>
              <p:cNvPr id="134" name="Google Shape;134;p11"/>
              <p:cNvSpPr/>
              <p:nvPr/>
            </p:nvSpPr>
            <p:spPr>
              <a:xfrm flipH="1">
                <a:off x="7798424"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11"/>
              <p:cNvSpPr/>
              <p:nvPr/>
            </p:nvSpPr>
            <p:spPr>
              <a:xfrm flipH="1">
                <a:off x="7798424"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11"/>
              <p:cNvSpPr/>
              <p:nvPr/>
            </p:nvSpPr>
            <p:spPr>
              <a:xfrm flipH="1">
                <a:off x="7798424"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11"/>
              <p:cNvSpPr/>
              <p:nvPr/>
            </p:nvSpPr>
            <p:spPr>
              <a:xfrm flipH="1">
                <a:off x="7798424" y="4099200"/>
                <a:ext cx="231600" cy="104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11"/>
              <p:cNvSpPr/>
              <p:nvPr/>
            </p:nvSpPr>
            <p:spPr>
              <a:xfrm flipH="1">
                <a:off x="7798424"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9" name="Google Shape;139;p11"/>
            <p:cNvGrpSpPr/>
            <p:nvPr/>
          </p:nvGrpSpPr>
          <p:grpSpPr>
            <a:xfrm>
              <a:off x="8169779" y="4309200"/>
              <a:ext cx="231600" cy="834300"/>
              <a:chOff x="8169779" y="4309200"/>
              <a:chExt cx="231600" cy="834300"/>
            </a:xfrm>
          </p:grpSpPr>
          <p:sp>
            <p:nvSpPr>
              <p:cNvPr id="140" name="Google Shape;140;p11"/>
              <p:cNvSpPr/>
              <p:nvPr/>
            </p:nvSpPr>
            <p:spPr>
              <a:xfrm flipH="1">
                <a:off x="8169779"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11"/>
              <p:cNvSpPr/>
              <p:nvPr/>
            </p:nvSpPr>
            <p:spPr>
              <a:xfrm flipH="1">
                <a:off x="8169779"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11"/>
              <p:cNvSpPr/>
              <p:nvPr/>
            </p:nvSpPr>
            <p:spPr>
              <a:xfrm flipH="1">
                <a:off x="8169779"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11"/>
              <p:cNvSpPr/>
              <p:nvPr/>
            </p:nvSpPr>
            <p:spPr>
              <a:xfrm flipH="1">
                <a:off x="8169779"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4" name="Google Shape;144;p11"/>
            <p:cNvGrpSpPr/>
            <p:nvPr/>
          </p:nvGrpSpPr>
          <p:grpSpPr>
            <a:xfrm>
              <a:off x="7427070" y="4309200"/>
              <a:ext cx="231600" cy="834300"/>
              <a:chOff x="7427070" y="4309200"/>
              <a:chExt cx="231600" cy="834300"/>
            </a:xfrm>
          </p:grpSpPr>
          <p:sp>
            <p:nvSpPr>
              <p:cNvPr id="145" name="Google Shape;145;p11"/>
              <p:cNvSpPr/>
              <p:nvPr/>
            </p:nvSpPr>
            <p:spPr>
              <a:xfrm flipH="1">
                <a:off x="7427070"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11"/>
              <p:cNvSpPr/>
              <p:nvPr/>
            </p:nvSpPr>
            <p:spPr>
              <a:xfrm flipH="1">
                <a:off x="7427070"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11"/>
              <p:cNvSpPr/>
              <p:nvPr/>
            </p:nvSpPr>
            <p:spPr>
              <a:xfrm flipH="1">
                <a:off x="7427070"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11"/>
              <p:cNvSpPr/>
              <p:nvPr/>
            </p:nvSpPr>
            <p:spPr>
              <a:xfrm flipH="1">
                <a:off x="7427070"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9" name="Google Shape;149;p11"/>
            <p:cNvGrpSpPr/>
            <p:nvPr/>
          </p:nvGrpSpPr>
          <p:grpSpPr>
            <a:xfrm>
              <a:off x="8541133" y="4518900"/>
              <a:ext cx="231600" cy="624600"/>
              <a:chOff x="8541133" y="4518900"/>
              <a:chExt cx="231600" cy="624600"/>
            </a:xfrm>
          </p:grpSpPr>
          <p:sp>
            <p:nvSpPr>
              <p:cNvPr id="150" name="Google Shape;150;p11"/>
              <p:cNvSpPr/>
              <p:nvPr/>
            </p:nvSpPr>
            <p:spPr>
              <a:xfrm flipH="1">
                <a:off x="8541133"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11"/>
              <p:cNvSpPr/>
              <p:nvPr/>
            </p:nvSpPr>
            <p:spPr>
              <a:xfrm flipH="1">
                <a:off x="8541133"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11"/>
              <p:cNvSpPr/>
              <p:nvPr/>
            </p:nvSpPr>
            <p:spPr>
              <a:xfrm flipH="1">
                <a:off x="8541133"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3" name="Google Shape;153;p11"/>
            <p:cNvGrpSpPr/>
            <p:nvPr/>
          </p:nvGrpSpPr>
          <p:grpSpPr>
            <a:xfrm>
              <a:off x="8912488" y="4309200"/>
              <a:ext cx="231600" cy="834300"/>
              <a:chOff x="8912488" y="4309200"/>
              <a:chExt cx="231600" cy="834300"/>
            </a:xfrm>
          </p:grpSpPr>
          <p:sp>
            <p:nvSpPr>
              <p:cNvPr id="154" name="Google Shape;154;p11"/>
              <p:cNvSpPr/>
              <p:nvPr/>
            </p:nvSpPr>
            <p:spPr>
              <a:xfrm flipH="1">
                <a:off x="8912488" y="4728600"/>
                <a:ext cx="231600" cy="4149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11"/>
              <p:cNvSpPr/>
              <p:nvPr/>
            </p:nvSpPr>
            <p:spPr>
              <a:xfrm flipH="1">
                <a:off x="8912488" y="4309200"/>
                <a:ext cx="231600" cy="8343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11"/>
              <p:cNvSpPr/>
              <p:nvPr/>
            </p:nvSpPr>
            <p:spPr>
              <a:xfrm flipH="1">
                <a:off x="8912488" y="4518900"/>
                <a:ext cx="231600" cy="6246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11"/>
              <p:cNvSpPr/>
              <p:nvPr/>
            </p:nvSpPr>
            <p:spPr>
              <a:xfrm flipH="1">
                <a:off x="8912488" y="4938300"/>
                <a:ext cx="231600" cy="2052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158" name="Google Shape;158;p11"/>
          <p:cNvSpPr txBox="1">
            <a:spLocks noGrp="1"/>
          </p:cNvSpPr>
          <p:nvPr>
            <p:ph type="title" hasCustomPrompt="1"/>
          </p:nvPr>
        </p:nvSpPr>
        <p:spPr>
          <a:xfrm>
            <a:off x="1388625" y="772725"/>
            <a:ext cx="6366900" cy="18633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8000"/>
              <a:buNone/>
              <a:defRPr sz="8000">
                <a:solidFill>
                  <a:schemeClr val="lt1"/>
                </a:solidFill>
              </a:defRPr>
            </a:lvl1pPr>
            <a:lvl2pPr lvl="1" algn="ctr">
              <a:lnSpc>
                <a:spcPct val="100000"/>
              </a:lnSpc>
              <a:spcBef>
                <a:spcPts val="0"/>
              </a:spcBef>
              <a:spcAft>
                <a:spcPts val="0"/>
              </a:spcAft>
              <a:buClr>
                <a:schemeClr val="lt1"/>
              </a:buClr>
              <a:buSzPts val="8000"/>
              <a:buNone/>
              <a:defRPr sz="8000">
                <a:solidFill>
                  <a:schemeClr val="lt1"/>
                </a:solidFill>
              </a:defRPr>
            </a:lvl2pPr>
            <a:lvl3pPr lvl="2" algn="ctr">
              <a:lnSpc>
                <a:spcPct val="100000"/>
              </a:lnSpc>
              <a:spcBef>
                <a:spcPts val="0"/>
              </a:spcBef>
              <a:spcAft>
                <a:spcPts val="0"/>
              </a:spcAft>
              <a:buClr>
                <a:schemeClr val="lt1"/>
              </a:buClr>
              <a:buSzPts val="8000"/>
              <a:buNone/>
              <a:defRPr sz="8000">
                <a:solidFill>
                  <a:schemeClr val="lt1"/>
                </a:solidFill>
              </a:defRPr>
            </a:lvl3pPr>
            <a:lvl4pPr lvl="3" algn="ctr">
              <a:lnSpc>
                <a:spcPct val="100000"/>
              </a:lnSpc>
              <a:spcBef>
                <a:spcPts val="0"/>
              </a:spcBef>
              <a:spcAft>
                <a:spcPts val="0"/>
              </a:spcAft>
              <a:buClr>
                <a:schemeClr val="lt1"/>
              </a:buClr>
              <a:buSzPts val="8000"/>
              <a:buNone/>
              <a:defRPr sz="8000">
                <a:solidFill>
                  <a:schemeClr val="lt1"/>
                </a:solidFill>
              </a:defRPr>
            </a:lvl4pPr>
            <a:lvl5pPr lvl="4" algn="ctr">
              <a:lnSpc>
                <a:spcPct val="100000"/>
              </a:lnSpc>
              <a:spcBef>
                <a:spcPts val="0"/>
              </a:spcBef>
              <a:spcAft>
                <a:spcPts val="0"/>
              </a:spcAft>
              <a:buClr>
                <a:schemeClr val="lt1"/>
              </a:buClr>
              <a:buSzPts val="8000"/>
              <a:buNone/>
              <a:defRPr sz="8000">
                <a:solidFill>
                  <a:schemeClr val="lt1"/>
                </a:solidFill>
              </a:defRPr>
            </a:lvl5pPr>
            <a:lvl6pPr lvl="5" algn="ctr">
              <a:lnSpc>
                <a:spcPct val="100000"/>
              </a:lnSpc>
              <a:spcBef>
                <a:spcPts val="0"/>
              </a:spcBef>
              <a:spcAft>
                <a:spcPts val="0"/>
              </a:spcAft>
              <a:buClr>
                <a:schemeClr val="lt1"/>
              </a:buClr>
              <a:buSzPts val="8000"/>
              <a:buNone/>
              <a:defRPr sz="8000">
                <a:solidFill>
                  <a:schemeClr val="lt1"/>
                </a:solidFill>
              </a:defRPr>
            </a:lvl6pPr>
            <a:lvl7pPr lvl="6" algn="ctr">
              <a:lnSpc>
                <a:spcPct val="100000"/>
              </a:lnSpc>
              <a:spcBef>
                <a:spcPts val="0"/>
              </a:spcBef>
              <a:spcAft>
                <a:spcPts val="0"/>
              </a:spcAft>
              <a:buClr>
                <a:schemeClr val="lt1"/>
              </a:buClr>
              <a:buSzPts val="8000"/>
              <a:buNone/>
              <a:defRPr sz="8000">
                <a:solidFill>
                  <a:schemeClr val="lt1"/>
                </a:solidFill>
              </a:defRPr>
            </a:lvl7pPr>
            <a:lvl8pPr lvl="7" algn="ctr">
              <a:lnSpc>
                <a:spcPct val="100000"/>
              </a:lnSpc>
              <a:spcBef>
                <a:spcPts val="0"/>
              </a:spcBef>
              <a:spcAft>
                <a:spcPts val="0"/>
              </a:spcAft>
              <a:buClr>
                <a:schemeClr val="lt1"/>
              </a:buClr>
              <a:buSzPts val="8000"/>
              <a:buNone/>
              <a:defRPr sz="8000">
                <a:solidFill>
                  <a:schemeClr val="lt1"/>
                </a:solidFill>
              </a:defRPr>
            </a:lvl8pPr>
            <a:lvl9pPr lvl="8" algn="ctr">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159" name="Google Shape;159;p11"/>
          <p:cNvSpPr txBox="1">
            <a:spLocks noGrp="1"/>
          </p:cNvSpPr>
          <p:nvPr>
            <p:ph type="body" idx="1"/>
          </p:nvPr>
        </p:nvSpPr>
        <p:spPr>
          <a:xfrm>
            <a:off x="1388625" y="2712300"/>
            <a:ext cx="6366900" cy="1111200"/>
          </a:xfrm>
          <a:prstGeom prst="rect">
            <a:avLst/>
          </a:prstGeom>
          <a:noFill/>
          <a:ln>
            <a:noFill/>
          </a:ln>
        </p:spPr>
        <p:txBody>
          <a:bodyPr spcFirstLastPara="1" wrap="square" lIns="91425" tIns="91425" rIns="91425" bIns="91425" anchor="t" anchorCtr="0">
            <a:normAutofit/>
          </a:bodyPr>
          <a:lstStyle>
            <a:lvl1pPr marL="457200" lvl="0" indent="-311150" algn="ctr">
              <a:lnSpc>
                <a:spcPct val="115000"/>
              </a:lnSpc>
              <a:spcBef>
                <a:spcPts val="0"/>
              </a:spcBef>
              <a:spcAft>
                <a:spcPts val="0"/>
              </a:spcAft>
              <a:buClr>
                <a:schemeClr val="lt1"/>
              </a:buClr>
              <a:buSzPts val="1300"/>
              <a:buChar char="●"/>
              <a:defRPr>
                <a:solidFill>
                  <a:schemeClr val="lt1"/>
                </a:solidFill>
              </a:defRPr>
            </a:lvl1pPr>
            <a:lvl2pPr marL="914400" lvl="1" indent="-298450" algn="ctr">
              <a:lnSpc>
                <a:spcPct val="115000"/>
              </a:lnSpc>
              <a:spcBef>
                <a:spcPts val="0"/>
              </a:spcBef>
              <a:spcAft>
                <a:spcPts val="0"/>
              </a:spcAft>
              <a:buClr>
                <a:schemeClr val="lt1"/>
              </a:buClr>
              <a:buSzPts val="1100"/>
              <a:buChar char="○"/>
              <a:defRPr>
                <a:solidFill>
                  <a:schemeClr val="lt1"/>
                </a:solidFill>
              </a:defRPr>
            </a:lvl2pPr>
            <a:lvl3pPr marL="1371600" lvl="2" indent="-298450" algn="ctr">
              <a:lnSpc>
                <a:spcPct val="115000"/>
              </a:lnSpc>
              <a:spcBef>
                <a:spcPts val="0"/>
              </a:spcBef>
              <a:spcAft>
                <a:spcPts val="0"/>
              </a:spcAft>
              <a:buClr>
                <a:schemeClr val="lt1"/>
              </a:buClr>
              <a:buSzPts val="1100"/>
              <a:buChar char="■"/>
              <a:defRPr>
                <a:solidFill>
                  <a:schemeClr val="lt1"/>
                </a:solidFill>
              </a:defRPr>
            </a:lvl3pPr>
            <a:lvl4pPr marL="1828800" lvl="3" indent="-298450" algn="ctr">
              <a:lnSpc>
                <a:spcPct val="115000"/>
              </a:lnSpc>
              <a:spcBef>
                <a:spcPts val="0"/>
              </a:spcBef>
              <a:spcAft>
                <a:spcPts val="0"/>
              </a:spcAft>
              <a:buClr>
                <a:schemeClr val="lt1"/>
              </a:buClr>
              <a:buSzPts val="1100"/>
              <a:buChar char="●"/>
              <a:defRPr>
                <a:solidFill>
                  <a:schemeClr val="lt1"/>
                </a:solidFill>
              </a:defRPr>
            </a:lvl4pPr>
            <a:lvl5pPr marL="2286000" lvl="4" indent="-298450" algn="ctr">
              <a:lnSpc>
                <a:spcPct val="115000"/>
              </a:lnSpc>
              <a:spcBef>
                <a:spcPts val="0"/>
              </a:spcBef>
              <a:spcAft>
                <a:spcPts val="0"/>
              </a:spcAft>
              <a:buClr>
                <a:schemeClr val="lt1"/>
              </a:buClr>
              <a:buSzPts val="1100"/>
              <a:buChar char="○"/>
              <a:defRPr>
                <a:solidFill>
                  <a:schemeClr val="lt1"/>
                </a:solidFill>
              </a:defRPr>
            </a:lvl5pPr>
            <a:lvl6pPr marL="2743200" lvl="5" indent="-298450" algn="ctr">
              <a:lnSpc>
                <a:spcPct val="115000"/>
              </a:lnSpc>
              <a:spcBef>
                <a:spcPts val="0"/>
              </a:spcBef>
              <a:spcAft>
                <a:spcPts val="0"/>
              </a:spcAft>
              <a:buClr>
                <a:schemeClr val="lt1"/>
              </a:buClr>
              <a:buSzPts val="1100"/>
              <a:buChar char="■"/>
              <a:defRPr>
                <a:solidFill>
                  <a:schemeClr val="lt1"/>
                </a:solidFill>
              </a:defRPr>
            </a:lvl6pPr>
            <a:lvl7pPr marL="3200400" lvl="6" indent="-298450" algn="ctr">
              <a:lnSpc>
                <a:spcPct val="115000"/>
              </a:lnSpc>
              <a:spcBef>
                <a:spcPts val="0"/>
              </a:spcBef>
              <a:spcAft>
                <a:spcPts val="0"/>
              </a:spcAft>
              <a:buClr>
                <a:schemeClr val="lt1"/>
              </a:buClr>
              <a:buSzPts val="1100"/>
              <a:buChar char="●"/>
              <a:defRPr>
                <a:solidFill>
                  <a:schemeClr val="lt1"/>
                </a:solidFill>
              </a:defRPr>
            </a:lvl7pPr>
            <a:lvl8pPr marL="3657600" lvl="7" indent="-298450" algn="ctr">
              <a:lnSpc>
                <a:spcPct val="115000"/>
              </a:lnSpc>
              <a:spcBef>
                <a:spcPts val="0"/>
              </a:spcBef>
              <a:spcAft>
                <a:spcPts val="0"/>
              </a:spcAft>
              <a:buClr>
                <a:schemeClr val="lt1"/>
              </a:buClr>
              <a:buSzPts val="1100"/>
              <a:buChar char="○"/>
              <a:defRPr>
                <a:solidFill>
                  <a:schemeClr val="lt1"/>
                </a:solidFill>
              </a:defRPr>
            </a:lvl8pPr>
            <a:lvl9pPr marL="4114800" lvl="8" indent="-298450" algn="ctr">
              <a:lnSpc>
                <a:spcPct val="115000"/>
              </a:lnSpc>
              <a:spcBef>
                <a:spcPts val="0"/>
              </a:spcBef>
              <a:spcAft>
                <a:spcPts val="0"/>
              </a:spcAft>
              <a:buClr>
                <a:schemeClr val="lt1"/>
              </a:buClr>
              <a:buSzPts val="1100"/>
              <a:buChar char="■"/>
              <a:defRPr>
                <a:solidFill>
                  <a:schemeClr val="lt1"/>
                </a:solidFill>
              </a:defRPr>
            </a:lvl9pPr>
          </a:lstStyle>
          <a:p>
            <a:endParaRPr/>
          </a:p>
        </p:txBody>
      </p:sp>
      <p:sp>
        <p:nvSpPr>
          <p:cNvPr id="160" name="Google Shape;160;p1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1"/>
        <p:cNvGrpSpPr/>
        <p:nvPr/>
      </p:nvGrpSpPr>
      <p:grpSpPr>
        <a:xfrm>
          <a:off x="0" y="0"/>
          <a:ext cx="0" cy="0"/>
          <a:chOff x="0" y="0"/>
          <a:chExt cx="0" cy="0"/>
        </a:xfrm>
      </p:grpSpPr>
      <p:grpSp>
        <p:nvGrpSpPr>
          <p:cNvPr id="162" name="Google Shape;162;p12"/>
          <p:cNvGrpSpPr/>
          <p:nvPr/>
        </p:nvGrpSpPr>
        <p:grpSpPr>
          <a:xfrm>
            <a:off x="7343003" y="3409675"/>
            <a:ext cx="1691422" cy="1732548"/>
            <a:chOff x="7343003" y="3409675"/>
            <a:chExt cx="1691422" cy="1732548"/>
          </a:xfrm>
        </p:grpSpPr>
        <p:grpSp>
          <p:nvGrpSpPr>
            <p:cNvPr id="163" name="Google Shape;163;p12"/>
            <p:cNvGrpSpPr/>
            <p:nvPr/>
          </p:nvGrpSpPr>
          <p:grpSpPr>
            <a:xfrm>
              <a:off x="7343003" y="4453711"/>
              <a:ext cx="316800" cy="688512"/>
              <a:chOff x="7343003" y="4453711"/>
              <a:chExt cx="316800" cy="688512"/>
            </a:xfrm>
          </p:grpSpPr>
          <p:sp>
            <p:nvSpPr>
              <p:cNvPr id="164" name="Google Shape;164;p12"/>
              <p:cNvSpPr/>
              <p:nvPr/>
            </p:nvSpPr>
            <p:spPr>
              <a:xfrm>
                <a:off x="7343003" y="4453711"/>
                <a:ext cx="316800" cy="688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12"/>
              <p:cNvSpPr/>
              <p:nvPr/>
            </p:nvSpPr>
            <p:spPr>
              <a:xfrm>
                <a:off x="7343003" y="4801723"/>
                <a:ext cx="316800" cy="340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6" name="Google Shape;166;p12"/>
            <p:cNvGrpSpPr/>
            <p:nvPr/>
          </p:nvGrpSpPr>
          <p:grpSpPr>
            <a:xfrm>
              <a:off x="7801210" y="4105700"/>
              <a:ext cx="316800" cy="1036523"/>
              <a:chOff x="7801210" y="4105700"/>
              <a:chExt cx="316800" cy="1036523"/>
            </a:xfrm>
          </p:grpSpPr>
          <p:sp>
            <p:nvSpPr>
              <p:cNvPr id="167" name="Google Shape;167;p12"/>
              <p:cNvSpPr/>
              <p:nvPr/>
            </p:nvSpPr>
            <p:spPr>
              <a:xfrm>
                <a:off x="7801210" y="4453711"/>
                <a:ext cx="316800" cy="688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12"/>
              <p:cNvSpPr/>
              <p:nvPr/>
            </p:nvSpPr>
            <p:spPr>
              <a:xfrm>
                <a:off x="7801210" y="4105700"/>
                <a:ext cx="316800" cy="1036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12"/>
              <p:cNvSpPr/>
              <p:nvPr/>
            </p:nvSpPr>
            <p:spPr>
              <a:xfrm>
                <a:off x="7801210" y="4801723"/>
                <a:ext cx="316800" cy="340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0" name="Google Shape;170;p12"/>
            <p:cNvGrpSpPr/>
            <p:nvPr/>
          </p:nvGrpSpPr>
          <p:grpSpPr>
            <a:xfrm>
              <a:off x="8259418" y="3757688"/>
              <a:ext cx="316800" cy="1384535"/>
              <a:chOff x="8259418" y="3757688"/>
              <a:chExt cx="316800" cy="1384535"/>
            </a:xfrm>
          </p:grpSpPr>
          <p:sp>
            <p:nvSpPr>
              <p:cNvPr id="171" name="Google Shape;171;p12"/>
              <p:cNvSpPr/>
              <p:nvPr/>
            </p:nvSpPr>
            <p:spPr>
              <a:xfrm>
                <a:off x="8259418" y="4453711"/>
                <a:ext cx="316800" cy="688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12"/>
              <p:cNvSpPr/>
              <p:nvPr/>
            </p:nvSpPr>
            <p:spPr>
              <a:xfrm>
                <a:off x="8259418" y="3757688"/>
                <a:ext cx="316800" cy="1384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12"/>
              <p:cNvSpPr/>
              <p:nvPr/>
            </p:nvSpPr>
            <p:spPr>
              <a:xfrm>
                <a:off x="8259418" y="4105700"/>
                <a:ext cx="316800" cy="1036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12"/>
              <p:cNvSpPr/>
              <p:nvPr/>
            </p:nvSpPr>
            <p:spPr>
              <a:xfrm>
                <a:off x="8259418" y="4801723"/>
                <a:ext cx="316800" cy="340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5" name="Google Shape;175;p12"/>
            <p:cNvGrpSpPr/>
            <p:nvPr/>
          </p:nvGrpSpPr>
          <p:grpSpPr>
            <a:xfrm>
              <a:off x="8717625" y="3409675"/>
              <a:ext cx="316800" cy="1732548"/>
              <a:chOff x="8717625" y="3409675"/>
              <a:chExt cx="316800" cy="1732548"/>
            </a:xfrm>
          </p:grpSpPr>
          <p:sp>
            <p:nvSpPr>
              <p:cNvPr id="176" name="Google Shape;176;p12"/>
              <p:cNvSpPr/>
              <p:nvPr/>
            </p:nvSpPr>
            <p:spPr>
              <a:xfrm>
                <a:off x="8717625" y="4453711"/>
                <a:ext cx="316800" cy="688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12"/>
              <p:cNvSpPr/>
              <p:nvPr/>
            </p:nvSpPr>
            <p:spPr>
              <a:xfrm>
                <a:off x="8717625" y="3757688"/>
                <a:ext cx="316800" cy="1384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12"/>
              <p:cNvSpPr/>
              <p:nvPr/>
            </p:nvSpPr>
            <p:spPr>
              <a:xfrm>
                <a:off x="8717625" y="4105700"/>
                <a:ext cx="316800" cy="1036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12"/>
              <p:cNvSpPr/>
              <p:nvPr/>
            </p:nvSpPr>
            <p:spPr>
              <a:xfrm>
                <a:off x="8717625" y="3409675"/>
                <a:ext cx="316800" cy="1732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12"/>
              <p:cNvSpPr/>
              <p:nvPr/>
            </p:nvSpPr>
            <p:spPr>
              <a:xfrm>
                <a:off x="8717625" y="4801723"/>
                <a:ext cx="316800" cy="340500"/>
              </a:xfrm>
              <a:prstGeom prst="round2SameRect">
                <a:avLst>
                  <a:gd name="adj1" fmla="val 50000"/>
                  <a:gd name="adj2" fmla="val 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181" name="Google Shape;181;p12"/>
          <p:cNvGrpSpPr/>
          <p:nvPr/>
        </p:nvGrpSpPr>
        <p:grpSpPr>
          <a:xfrm>
            <a:off x="5043503" y="0"/>
            <a:ext cx="3814072" cy="3839102"/>
            <a:chOff x="5043503" y="0"/>
            <a:chExt cx="3814072" cy="3839102"/>
          </a:xfrm>
        </p:grpSpPr>
        <p:sp>
          <p:nvSpPr>
            <p:cNvPr id="182" name="Google Shape;182;p12"/>
            <p:cNvSpPr/>
            <p:nvPr/>
          </p:nvSpPr>
          <p:spPr>
            <a:xfrm>
              <a:off x="8460975" y="1817775"/>
              <a:ext cx="396600" cy="396600"/>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12"/>
            <p:cNvSpPr/>
            <p:nvPr/>
          </p:nvSpPr>
          <p:spPr>
            <a:xfrm rot="-9830444">
              <a:off x="6469759" y="3480728"/>
              <a:ext cx="320148" cy="320148"/>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4" name="Google Shape;184;p12"/>
            <p:cNvGrpSpPr/>
            <p:nvPr/>
          </p:nvGrpSpPr>
          <p:grpSpPr>
            <a:xfrm>
              <a:off x="7647812" y="2704283"/>
              <a:ext cx="635219" cy="635219"/>
              <a:chOff x="6725724" y="2701260"/>
              <a:chExt cx="1208101" cy="1208100"/>
            </a:xfrm>
          </p:grpSpPr>
          <p:sp>
            <p:nvSpPr>
              <p:cNvPr id="185" name="Google Shape;185;p12"/>
              <p:cNvSpPr/>
              <p:nvPr/>
            </p:nvSpPr>
            <p:spPr>
              <a:xfrm rot="5400000">
                <a:off x="6725725" y="2701260"/>
                <a:ext cx="1208100" cy="1208100"/>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12"/>
              <p:cNvSpPr/>
              <p:nvPr/>
            </p:nvSpPr>
            <p:spPr>
              <a:xfrm rot="5400000">
                <a:off x="6725724" y="2701260"/>
                <a:ext cx="1208100" cy="1208100"/>
              </a:xfrm>
              <a:prstGeom prst="pie">
                <a:avLst>
                  <a:gd name="adj1" fmla="val 8244818"/>
                  <a:gd name="adj2" fmla="val 16246175"/>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12"/>
              <p:cNvSpPr/>
              <p:nvPr/>
            </p:nvSpPr>
            <p:spPr>
              <a:xfrm rot="5400000">
                <a:off x="6954988" y="2930398"/>
                <a:ext cx="749700" cy="749700"/>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88" name="Google Shape;188;p12"/>
            <p:cNvSpPr/>
            <p:nvPr/>
          </p:nvSpPr>
          <p:spPr>
            <a:xfrm>
              <a:off x="8460975" y="1817775"/>
              <a:ext cx="396600" cy="396600"/>
            </a:xfrm>
            <a:prstGeom prst="pie">
              <a:avLst>
                <a:gd name="adj1" fmla="val 19376841"/>
                <a:gd name="adj2" fmla="val 1620000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9" name="Google Shape;189;p12"/>
            <p:cNvGrpSpPr/>
            <p:nvPr/>
          </p:nvGrpSpPr>
          <p:grpSpPr>
            <a:xfrm>
              <a:off x="7952720" y="179238"/>
              <a:ext cx="873165" cy="873003"/>
              <a:chOff x="7754428" y="208725"/>
              <a:chExt cx="541800" cy="541800"/>
            </a:xfrm>
          </p:grpSpPr>
          <p:sp>
            <p:nvSpPr>
              <p:cNvPr id="190" name="Google Shape;190;p12"/>
              <p:cNvSpPr/>
              <p:nvPr/>
            </p:nvSpPr>
            <p:spPr>
              <a:xfrm rot="-8647347">
                <a:off x="7831319" y="285616"/>
                <a:ext cx="388018" cy="388018"/>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12"/>
              <p:cNvSpPr/>
              <p:nvPr/>
            </p:nvSpPr>
            <p:spPr>
              <a:xfrm rot="-8647347">
                <a:off x="7831319" y="285616"/>
                <a:ext cx="388018" cy="388018"/>
              </a:xfrm>
              <a:prstGeom prst="pie">
                <a:avLst>
                  <a:gd name="adj1" fmla="val 19376841"/>
                  <a:gd name="adj2" fmla="val 12313574"/>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2" name="Google Shape;192;p12"/>
            <p:cNvSpPr/>
            <p:nvPr/>
          </p:nvSpPr>
          <p:spPr>
            <a:xfrm>
              <a:off x="5399840" y="356365"/>
              <a:ext cx="2577000" cy="2577000"/>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12"/>
            <p:cNvSpPr/>
            <p:nvPr/>
          </p:nvSpPr>
          <p:spPr>
            <a:xfrm rot="2043858">
              <a:off x="5503813" y="460310"/>
              <a:ext cx="2369480" cy="2369480"/>
            </a:xfrm>
            <a:prstGeom prst="ellipse">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12"/>
            <p:cNvSpPr/>
            <p:nvPr/>
          </p:nvSpPr>
          <p:spPr>
            <a:xfrm>
              <a:off x="5399795" y="360281"/>
              <a:ext cx="2577000" cy="2577000"/>
            </a:xfrm>
            <a:prstGeom prst="pie">
              <a:avLst>
                <a:gd name="adj1" fmla="val 8801158"/>
                <a:gd name="adj2" fmla="val 1620000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1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12"/>
            <p:cNvSpPr/>
            <p:nvPr/>
          </p:nvSpPr>
          <p:spPr>
            <a:xfrm>
              <a:off x="5399795" y="356358"/>
              <a:ext cx="2577000" cy="2577000"/>
            </a:xfrm>
            <a:prstGeom prst="pie">
              <a:avLst>
                <a:gd name="adj1" fmla="val 12554101"/>
                <a:gd name="adj2" fmla="val 1620000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12"/>
            <p:cNvSpPr/>
            <p:nvPr/>
          </p:nvSpPr>
          <p:spPr>
            <a:xfrm rot="-9830444">
              <a:off x="6469759" y="3480727"/>
              <a:ext cx="320148" cy="320148"/>
            </a:xfrm>
            <a:prstGeom prst="pie">
              <a:avLst>
                <a:gd name="adj1" fmla="val 19376841"/>
                <a:gd name="adj2" fmla="val 16200000"/>
              </a:avLst>
            </a:prstGeom>
            <a:solidFill>
              <a:schemeClr val="lt1">
                <a:alpha val="901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8" name="Google Shape;198;p12"/>
          <p:cNvSpPr txBox="1">
            <a:spLocks noGrp="1"/>
          </p:cNvSpPr>
          <p:nvPr>
            <p:ph type="ctrTitle"/>
          </p:nvPr>
        </p:nvSpPr>
        <p:spPr>
          <a:xfrm>
            <a:off x="824000" y="1613813"/>
            <a:ext cx="4255500" cy="18729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199" name="Google Shape;199;p12"/>
          <p:cNvSpPr txBox="1">
            <a:spLocks noGrp="1"/>
          </p:cNvSpPr>
          <p:nvPr>
            <p:ph type="subTitle" idx="1"/>
          </p:nvPr>
        </p:nvSpPr>
        <p:spPr>
          <a:xfrm>
            <a:off x="824000" y="3596300"/>
            <a:ext cx="4255500" cy="695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200" name="Google Shape;200;p12"/>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lt1"/>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6"/>
        <p:cNvGrpSpPr/>
        <p:nvPr/>
      </p:nvGrpSpPr>
      <p:grpSpPr>
        <a:xfrm>
          <a:off x="0" y="0"/>
          <a:ext cx="0" cy="0"/>
          <a:chOff x="0" y="0"/>
          <a:chExt cx="0" cy="0"/>
        </a:xfrm>
      </p:grpSpPr>
      <p:grpSp>
        <p:nvGrpSpPr>
          <p:cNvPr id="237" name="Google Shape;237;p14"/>
          <p:cNvGrpSpPr/>
          <p:nvPr/>
        </p:nvGrpSpPr>
        <p:grpSpPr>
          <a:xfrm>
            <a:off x="625966" y="299376"/>
            <a:ext cx="999312" cy="999312"/>
            <a:chOff x="348199" y="179450"/>
            <a:chExt cx="1116300" cy="1116300"/>
          </a:xfrm>
        </p:grpSpPr>
        <p:sp>
          <p:nvSpPr>
            <p:cNvPr id="238" name="Google Shape;238;p14"/>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 name="Google Shape;239;p14"/>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40" name="Google Shape;240;p14"/>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1" name="Google Shape;241;p14"/>
          <p:cNvSpPr txBox="1">
            <a:spLocks noGrp="1"/>
          </p:cNvSpPr>
          <p:nvPr>
            <p:ph type="body" idx="1"/>
          </p:nvPr>
        </p:nvSpPr>
        <p:spPr>
          <a:xfrm>
            <a:off x="1303800" y="1990050"/>
            <a:ext cx="3430500" cy="2541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242" name="Google Shape;242;p14"/>
          <p:cNvSpPr txBox="1">
            <a:spLocks noGrp="1"/>
          </p:cNvSpPr>
          <p:nvPr>
            <p:ph type="body" idx="2"/>
          </p:nvPr>
        </p:nvSpPr>
        <p:spPr>
          <a:xfrm>
            <a:off x="4903650" y="1990050"/>
            <a:ext cx="3430500" cy="2541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243" name="Google Shape;243;p14"/>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4"/>
        <p:cNvGrpSpPr/>
        <p:nvPr/>
      </p:nvGrpSpPr>
      <p:grpSpPr>
        <a:xfrm>
          <a:off x="0" y="0"/>
          <a:ext cx="0" cy="0"/>
          <a:chOff x="0" y="0"/>
          <a:chExt cx="0" cy="0"/>
        </a:xfrm>
      </p:grpSpPr>
      <p:grpSp>
        <p:nvGrpSpPr>
          <p:cNvPr id="245" name="Google Shape;245;p15"/>
          <p:cNvGrpSpPr/>
          <p:nvPr/>
        </p:nvGrpSpPr>
        <p:grpSpPr>
          <a:xfrm>
            <a:off x="625966" y="299376"/>
            <a:ext cx="999312" cy="999312"/>
            <a:chOff x="348199" y="179450"/>
            <a:chExt cx="1116300" cy="1116300"/>
          </a:xfrm>
        </p:grpSpPr>
        <p:sp>
          <p:nvSpPr>
            <p:cNvPr id="246" name="Google Shape;246;p15"/>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15"/>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48" name="Google Shape;248;p15"/>
          <p:cNvSpPr txBox="1">
            <a:spLocks noGrp="1"/>
          </p:cNvSpPr>
          <p:nvPr>
            <p:ph type="title"/>
          </p:nvPr>
        </p:nvSpPr>
        <p:spPr>
          <a:xfrm>
            <a:off x="1303800" y="598575"/>
            <a:ext cx="7030500" cy="999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9" name="Google Shape;249;p15"/>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0"/>
        <p:cNvGrpSpPr/>
        <p:nvPr/>
      </p:nvGrpSpPr>
      <p:grpSpPr>
        <a:xfrm>
          <a:off x="0" y="0"/>
          <a:ext cx="0" cy="0"/>
          <a:chOff x="0" y="0"/>
          <a:chExt cx="0" cy="0"/>
        </a:xfrm>
      </p:grpSpPr>
      <p:grpSp>
        <p:nvGrpSpPr>
          <p:cNvPr id="251" name="Google Shape;251;p16"/>
          <p:cNvGrpSpPr/>
          <p:nvPr/>
        </p:nvGrpSpPr>
        <p:grpSpPr>
          <a:xfrm>
            <a:off x="625966" y="299376"/>
            <a:ext cx="999312" cy="999312"/>
            <a:chOff x="348199" y="179450"/>
            <a:chExt cx="1116300" cy="1116300"/>
          </a:xfrm>
        </p:grpSpPr>
        <p:sp>
          <p:nvSpPr>
            <p:cNvPr id="252" name="Google Shape;252;p16"/>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16"/>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4" name="Google Shape;254;p16"/>
          <p:cNvSpPr txBox="1">
            <a:spLocks noGrp="1"/>
          </p:cNvSpPr>
          <p:nvPr>
            <p:ph type="title"/>
          </p:nvPr>
        </p:nvSpPr>
        <p:spPr>
          <a:xfrm>
            <a:off x="1303800" y="598575"/>
            <a:ext cx="3312000" cy="1590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55" name="Google Shape;255;p16"/>
          <p:cNvSpPr txBox="1">
            <a:spLocks noGrp="1"/>
          </p:cNvSpPr>
          <p:nvPr>
            <p:ph type="body" idx="1"/>
          </p:nvPr>
        </p:nvSpPr>
        <p:spPr>
          <a:xfrm>
            <a:off x="1303800" y="2309675"/>
            <a:ext cx="3312000" cy="22218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256" name="Google Shape;256;p16"/>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57"/>
        <p:cNvGrpSpPr/>
        <p:nvPr/>
      </p:nvGrpSpPr>
      <p:grpSpPr>
        <a:xfrm>
          <a:off x="0" y="0"/>
          <a:ext cx="0" cy="0"/>
          <a:chOff x="0" y="0"/>
          <a:chExt cx="0" cy="0"/>
        </a:xfrm>
      </p:grpSpPr>
      <p:grpSp>
        <p:nvGrpSpPr>
          <p:cNvPr id="258" name="Google Shape;258;p17"/>
          <p:cNvGrpSpPr/>
          <p:nvPr/>
        </p:nvGrpSpPr>
        <p:grpSpPr>
          <a:xfrm>
            <a:off x="625966" y="299376"/>
            <a:ext cx="999312" cy="999312"/>
            <a:chOff x="348199" y="179450"/>
            <a:chExt cx="1116300" cy="1116300"/>
          </a:xfrm>
        </p:grpSpPr>
        <p:sp>
          <p:nvSpPr>
            <p:cNvPr id="259" name="Google Shape;259;p17"/>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17"/>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1" name="Google Shape;261;p17"/>
          <p:cNvSpPr txBox="1">
            <a:spLocks noGrp="1"/>
          </p:cNvSpPr>
          <p:nvPr>
            <p:ph type="title"/>
          </p:nvPr>
        </p:nvSpPr>
        <p:spPr>
          <a:xfrm>
            <a:off x="1303800" y="598575"/>
            <a:ext cx="3430500" cy="1990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62" name="Google Shape;262;p17"/>
          <p:cNvSpPr txBox="1">
            <a:spLocks noGrp="1"/>
          </p:cNvSpPr>
          <p:nvPr>
            <p:ph type="subTitle" idx="1"/>
          </p:nvPr>
        </p:nvSpPr>
        <p:spPr>
          <a:xfrm>
            <a:off x="1303800" y="2743203"/>
            <a:ext cx="3430500" cy="7260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63" name="Google Shape;263;p17"/>
          <p:cNvSpPr txBox="1">
            <a:spLocks noGrp="1"/>
          </p:cNvSpPr>
          <p:nvPr>
            <p:ph type="body" idx="2"/>
          </p:nvPr>
        </p:nvSpPr>
        <p:spPr>
          <a:xfrm>
            <a:off x="4903700" y="661000"/>
            <a:ext cx="3430500" cy="38706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264" name="Google Shape;264;p17"/>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65"/>
        <p:cNvGrpSpPr/>
        <p:nvPr/>
      </p:nvGrpSpPr>
      <p:grpSpPr>
        <a:xfrm>
          <a:off x="0" y="0"/>
          <a:ext cx="0" cy="0"/>
          <a:chOff x="0" y="0"/>
          <a:chExt cx="0" cy="0"/>
        </a:xfrm>
      </p:grpSpPr>
      <p:grpSp>
        <p:nvGrpSpPr>
          <p:cNvPr id="266" name="Google Shape;266;p18"/>
          <p:cNvGrpSpPr/>
          <p:nvPr/>
        </p:nvGrpSpPr>
        <p:grpSpPr>
          <a:xfrm>
            <a:off x="713373" y="3847119"/>
            <a:ext cx="825392" cy="825392"/>
            <a:chOff x="348199" y="179450"/>
            <a:chExt cx="1116300" cy="1116300"/>
          </a:xfrm>
        </p:grpSpPr>
        <p:sp>
          <p:nvSpPr>
            <p:cNvPr id="267" name="Google Shape;267;p18"/>
            <p:cNvSpPr/>
            <p:nvPr/>
          </p:nvSpPr>
          <p:spPr>
            <a:xfrm rot="-5400000">
              <a:off x="574557" y="405788"/>
              <a:ext cx="663600" cy="6636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18"/>
            <p:cNvSpPr/>
            <p:nvPr/>
          </p:nvSpPr>
          <p:spPr>
            <a:xfrm rot="-5400000">
              <a:off x="348199" y="179450"/>
              <a:ext cx="1116300" cy="1116300"/>
            </a:xfrm>
            <a:prstGeom prst="pie">
              <a:avLst>
                <a:gd name="adj1" fmla="val 10792838"/>
                <a:gd name="adj2" fmla="val 16200000"/>
              </a:avLst>
            </a:prstGeom>
            <a:solidFill>
              <a:schemeClr val="dk2">
                <a:alpha val="12156"/>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9" name="Google Shape;269;p18"/>
          <p:cNvSpPr txBox="1">
            <a:spLocks noGrp="1"/>
          </p:cNvSpPr>
          <p:nvPr>
            <p:ph type="body" idx="1"/>
          </p:nvPr>
        </p:nvSpPr>
        <p:spPr>
          <a:xfrm>
            <a:off x="1303800" y="4138975"/>
            <a:ext cx="5843100" cy="534900"/>
          </a:xfrm>
          <a:prstGeom prst="rect">
            <a:avLst/>
          </a:prstGeom>
          <a:noFill/>
          <a:ln>
            <a:noFill/>
          </a:ln>
        </p:spPr>
        <p:txBody>
          <a:bodyPr spcFirstLastPara="1" wrap="square" lIns="91425" tIns="91425" rIns="91425" bIns="91425" anchor="t"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270" name="Google Shape;270;p18"/>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9"/>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blipFill>
          <a:blip r:embed="rId12">
            <a:alphaModFix/>
          </a:blip>
          <a:stretch>
            <a:fillRect/>
          </a:stretch>
        </a:blip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1pPr>
            <a:lvl2pPr marR="0" lvl="1"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2pPr>
            <a:lvl3pPr marR="0" lvl="2"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3pPr>
            <a:lvl4pPr marR="0" lvl="3"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4pPr>
            <a:lvl5pPr marR="0" lvl="4"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5pPr>
            <a:lvl6pPr marR="0" lvl="5"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6pPr>
            <a:lvl7pPr marR="0" lvl="6"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7pPr>
            <a:lvl8pPr marR="0" lvl="7"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8pPr>
            <a:lvl9pPr marR="0" lvl="8" algn="l" rtl="0">
              <a:lnSpc>
                <a:spcPct val="100000"/>
              </a:lnSpc>
              <a:spcBef>
                <a:spcPts val="0"/>
              </a:spcBef>
              <a:spcAft>
                <a:spcPts val="0"/>
              </a:spcAft>
              <a:buClr>
                <a:schemeClr val="dk2"/>
              </a:buClr>
              <a:buSzPts val="2800"/>
              <a:buFont typeface="Maven Pro"/>
              <a:buNone/>
              <a:defRPr sz="2800" b="1" i="0" u="none" strike="noStrike" cap="none">
                <a:solidFill>
                  <a:schemeClr val="dk2"/>
                </a:solidFill>
                <a:latin typeface="Maven Pro"/>
                <a:ea typeface="Maven Pro"/>
                <a:cs typeface="Maven Pro"/>
                <a:sym typeface="Maven Pro"/>
              </a:defRPr>
            </a:lvl9pPr>
          </a:lstStyle>
          <a:p>
            <a:endParaRPr/>
          </a:p>
        </p:txBody>
      </p:sp>
      <p:sp>
        <p:nvSpPr>
          <p:cNvPr id="7" name="Google Shape;7;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1pPr>
            <a:lvl2pPr marL="914400" marR="0" lvl="1"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2pPr>
            <a:lvl3pPr marL="1371600" marR="0" lvl="2"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5pPr>
            <a:lvl6pPr marL="2743200" marR="0" lvl="5"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6pPr>
            <a:lvl7pPr marL="3200400" marR="0" lvl="6"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7pPr>
            <a:lvl8pPr marL="3657600" marR="0" lvl="7"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8pPr>
            <a:lvl9pPr marL="4114800" marR="0" lvl="8" indent="-298450" algn="l" rtl="0">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9pPr>
          </a:lstStyle>
          <a:p>
            <a:endParaRPr/>
          </a:p>
        </p:txBody>
      </p:sp>
      <p:sp>
        <p:nvSpPr>
          <p:cNvPr id="8" name="Google Shape;8;p8"/>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0.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6"/>
        <p:cNvGrpSpPr/>
        <p:nvPr/>
      </p:nvGrpSpPr>
      <p:grpSpPr>
        <a:xfrm>
          <a:off x="0" y="0"/>
          <a:ext cx="0" cy="0"/>
          <a:chOff x="0" y="0"/>
          <a:chExt cx="0" cy="0"/>
        </a:xfrm>
      </p:grpSpPr>
      <p:sp>
        <p:nvSpPr>
          <p:cNvPr id="277" name="Google Shape;277;p1"/>
          <p:cNvSpPr txBox="1"/>
          <p:nvPr/>
        </p:nvSpPr>
        <p:spPr>
          <a:xfrm>
            <a:off x="818000" y="2171550"/>
            <a:ext cx="7845776" cy="1846629"/>
          </a:xfrm>
          <a:prstGeom prst="rect">
            <a:avLst/>
          </a:prstGeom>
          <a:noFill/>
          <a:ln>
            <a:noFill/>
          </a:ln>
        </p:spPr>
        <p:txBody>
          <a:bodyPr spcFirstLastPara="1" wrap="square" lIns="91425" tIns="91425" rIns="91425" bIns="91425" anchor="t" anchorCtr="0">
            <a:spAutoFit/>
          </a:bodyPr>
          <a:lstStyle/>
          <a:p>
            <a:pPr lvl="0">
              <a:buSzPts val="4000"/>
            </a:pPr>
            <a:r>
              <a:rPr lang="fr-FR" sz="3600" dirty="0">
                <a:solidFill>
                  <a:schemeClr val="bg1">
                    <a:lumMod val="85000"/>
                  </a:schemeClr>
                </a:solidFill>
              </a:rPr>
              <a:t>Analyse de l'Attrition et Fidélité Client : Stratégies pour Réduire la Perte et Renforcer l'Engagement</a:t>
            </a:r>
            <a:endParaRPr sz="3600" b="0" i="0" u="none" strike="noStrike" cap="none" dirty="0">
              <a:solidFill>
                <a:schemeClr val="bg1">
                  <a:lumMod val="85000"/>
                </a:schemeClr>
              </a:solidFill>
              <a:latin typeface="Titillium Web"/>
              <a:ea typeface="Titillium Web"/>
              <a:cs typeface="Titillium Web"/>
              <a:sym typeface="Titillium Web"/>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
          <p:cNvSpPr txBox="1">
            <a:spLocks noGrp="1"/>
          </p:cNvSpPr>
          <p:nvPr>
            <p:ph type="title"/>
          </p:nvPr>
        </p:nvSpPr>
        <p:spPr>
          <a:xfrm>
            <a:off x="1303800" y="578840"/>
            <a:ext cx="7030500" cy="9993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fr-FR" dirty="0"/>
              <a:t>Notre compréhension de vos </a:t>
            </a:r>
            <a:r>
              <a:rPr lang="fr-FR" dirty="0" smtClean="0"/>
              <a:t>enjeux.</a:t>
            </a:r>
            <a:endParaRPr dirty="0"/>
          </a:p>
        </p:txBody>
      </p:sp>
      <p:graphicFrame>
        <p:nvGraphicFramePr>
          <p:cNvPr id="2" name="Diagramme 1"/>
          <p:cNvGraphicFramePr/>
          <p:nvPr>
            <p:extLst>
              <p:ext uri="{D42A27DB-BD31-4B8C-83A1-F6EECF244321}">
                <p14:modId xmlns:p14="http://schemas.microsoft.com/office/powerpoint/2010/main" val="3991706243"/>
              </p:ext>
            </p:extLst>
          </p:nvPr>
        </p:nvGraphicFramePr>
        <p:xfrm>
          <a:off x="1458215" y="1309424"/>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rot="-5400000">
            <a:off x="3116034" y="3323407"/>
            <a:ext cx="939798" cy="1898581"/>
          </a:xfrm>
          <a:custGeom>
            <a:avLst/>
            <a:gdLst/>
            <a:ahLst/>
            <a:cxnLst/>
            <a:rect l="l" t="t" r="r" b="b"/>
            <a:pathLst>
              <a:path w="1879595" h="3797162">
                <a:moveTo>
                  <a:pt x="0" y="0"/>
                </a:moveTo>
                <a:lnTo>
                  <a:pt x="1879595" y="0"/>
                </a:lnTo>
                <a:lnTo>
                  <a:pt x="1879595" y="3797162"/>
                </a:lnTo>
                <a:lnTo>
                  <a:pt x="0" y="3797162"/>
                </a:lnTo>
                <a:lnTo>
                  <a:pt x="0" y="0"/>
                </a:lnTo>
                <a:close/>
              </a:path>
            </a:pathLst>
          </a:custGeom>
          <a:blipFill>
            <a:blip r:embed="rId2">
              <a:alphaModFix amt="7999"/>
            </a:blip>
            <a:stretch>
              <a:fillRect/>
            </a:stretch>
          </a:blipFill>
        </p:spPr>
      </p:sp>
      <p:sp>
        <p:nvSpPr>
          <p:cNvPr id="5" name="Freeform 5"/>
          <p:cNvSpPr/>
          <p:nvPr/>
        </p:nvSpPr>
        <p:spPr>
          <a:xfrm rot="-5400000">
            <a:off x="5014615" y="3323407"/>
            <a:ext cx="939798" cy="1898581"/>
          </a:xfrm>
          <a:custGeom>
            <a:avLst/>
            <a:gdLst/>
            <a:ahLst/>
            <a:cxnLst/>
            <a:rect l="l" t="t" r="r" b="b"/>
            <a:pathLst>
              <a:path w="1879595" h="3797162">
                <a:moveTo>
                  <a:pt x="0" y="0"/>
                </a:moveTo>
                <a:lnTo>
                  <a:pt x="1879595" y="0"/>
                </a:lnTo>
                <a:lnTo>
                  <a:pt x="1879595" y="3797162"/>
                </a:lnTo>
                <a:lnTo>
                  <a:pt x="0" y="3797162"/>
                </a:lnTo>
                <a:lnTo>
                  <a:pt x="0" y="0"/>
                </a:lnTo>
                <a:close/>
              </a:path>
            </a:pathLst>
          </a:custGeom>
          <a:blipFill>
            <a:blip r:embed="rId2">
              <a:alphaModFix amt="7999"/>
            </a:blip>
            <a:stretch>
              <a:fillRect/>
            </a:stretch>
          </a:blipFill>
        </p:spPr>
      </p:sp>
      <p:sp>
        <p:nvSpPr>
          <p:cNvPr id="6" name="Freeform 6"/>
          <p:cNvSpPr/>
          <p:nvPr/>
        </p:nvSpPr>
        <p:spPr>
          <a:xfrm rot="-5400000">
            <a:off x="1217454" y="3163443"/>
            <a:ext cx="939798" cy="1898581"/>
          </a:xfrm>
          <a:custGeom>
            <a:avLst/>
            <a:gdLst/>
            <a:ahLst/>
            <a:cxnLst/>
            <a:rect l="l" t="t" r="r" b="b"/>
            <a:pathLst>
              <a:path w="1879595" h="3797162">
                <a:moveTo>
                  <a:pt x="0" y="0"/>
                </a:moveTo>
                <a:lnTo>
                  <a:pt x="1879595" y="0"/>
                </a:lnTo>
                <a:lnTo>
                  <a:pt x="1879595" y="3797162"/>
                </a:lnTo>
                <a:lnTo>
                  <a:pt x="0" y="3797162"/>
                </a:lnTo>
                <a:lnTo>
                  <a:pt x="0" y="0"/>
                </a:lnTo>
                <a:close/>
              </a:path>
            </a:pathLst>
          </a:custGeom>
          <a:blipFill>
            <a:blip r:embed="rId2">
              <a:alphaModFix amt="7999"/>
            </a:blip>
            <a:stretch>
              <a:fillRect/>
            </a:stretch>
          </a:blipFill>
        </p:spPr>
      </p:sp>
      <p:grpSp>
        <p:nvGrpSpPr>
          <p:cNvPr id="7" name="Group 7"/>
          <p:cNvGrpSpPr/>
          <p:nvPr/>
        </p:nvGrpSpPr>
        <p:grpSpPr>
          <a:xfrm>
            <a:off x="2775547" y="2429371"/>
            <a:ext cx="1618897" cy="1925656"/>
            <a:chOff x="0" y="0"/>
            <a:chExt cx="865306" cy="1029270"/>
          </a:xfrm>
        </p:grpSpPr>
        <p:sp>
          <p:nvSpPr>
            <p:cNvPr id="8" name="Freeform 8"/>
            <p:cNvSpPr/>
            <p:nvPr/>
          </p:nvSpPr>
          <p:spPr>
            <a:xfrm>
              <a:off x="0" y="0"/>
              <a:ext cx="865306" cy="1029270"/>
            </a:xfrm>
            <a:custGeom>
              <a:avLst/>
              <a:gdLst/>
              <a:ahLst/>
              <a:cxnLst/>
              <a:rect l="l" t="t" r="r" b="b"/>
              <a:pathLst>
                <a:path w="865306" h="1029270">
                  <a:moveTo>
                    <a:pt x="35867" y="0"/>
                  </a:moveTo>
                  <a:lnTo>
                    <a:pt x="829440" y="0"/>
                  </a:lnTo>
                  <a:cubicBezTo>
                    <a:pt x="849248" y="0"/>
                    <a:pt x="865306" y="16058"/>
                    <a:pt x="865306" y="35867"/>
                  </a:cubicBezTo>
                  <a:lnTo>
                    <a:pt x="865306" y="993404"/>
                  </a:lnTo>
                  <a:cubicBezTo>
                    <a:pt x="865306" y="1013212"/>
                    <a:pt x="849248" y="1029270"/>
                    <a:pt x="829440" y="1029270"/>
                  </a:cubicBezTo>
                  <a:lnTo>
                    <a:pt x="35867" y="1029270"/>
                  </a:lnTo>
                  <a:cubicBezTo>
                    <a:pt x="16058" y="1029270"/>
                    <a:pt x="0" y="1013212"/>
                    <a:pt x="0" y="993404"/>
                  </a:cubicBezTo>
                  <a:lnTo>
                    <a:pt x="0" y="35867"/>
                  </a:lnTo>
                  <a:cubicBezTo>
                    <a:pt x="0" y="16058"/>
                    <a:pt x="16058" y="0"/>
                    <a:pt x="35867" y="0"/>
                  </a:cubicBezTo>
                  <a:close/>
                </a:path>
              </a:pathLst>
            </a:custGeom>
            <a:solidFill>
              <a:srgbClr val="F6F6F7"/>
            </a:solidFill>
          </p:spPr>
        </p:sp>
        <p:sp>
          <p:nvSpPr>
            <p:cNvPr id="9" name="TextBox 9"/>
            <p:cNvSpPr txBox="1"/>
            <p:nvPr/>
          </p:nvSpPr>
          <p:spPr>
            <a:xfrm>
              <a:off x="0" y="-28575"/>
              <a:ext cx="865306" cy="1057845"/>
            </a:xfrm>
            <a:prstGeom prst="rect">
              <a:avLst/>
            </a:prstGeom>
          </p:spPr>
          <p:txBody>
            <a:bodyPr lIns="25400" tIns="25400" rIns="25400" bIns="25400" rtlCol="0" anchor="ctr"/>
            <a:lstStyle/>
            <a:p>
              <a:pPr algn="ctr">
                <a:lnSpc>
                  <a:spcPts val="1120"/>
                </a:lnSpc>
              </a:pPr>
              <a:endParaRPr sz="700"/>
            </a:p>
          </p:txBody>
        </p:sp>
      </p:grpSp>
      <p:grpSp>
        <p:nvGrpSpPr>
          <p:cNvPr id="10" name="Group 10"/>
          <p:cNvGrpSpPr/>
          <p:nvPr/>
        </p:nvGrpSpPr>
        <p:grpSpPr>
          <a:xfrm>
            <a:off x="2776484" y="1715351"/>
            <a:ext cx="1618897" cy="1618897"/>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7"/>
            </a:solidFill>
          </p:spPr>
        </p:sp>
        <p:sp>
          <p:nvSpPr>
            <p:cNvPr id="12" name="TextBox 12"/>
            <p:cNvSpPr txBox="1"/>
            <p:nvPr/>
          </p:nvSpPr>
          <p:spPr>
            <a:xfrm>
              <a:off x="76200" y="47625"/>
              <a:ext cx="660400" cy="688975"/>
            </a:xfrm>
            <a:prstGeom prst="rect">
              <a:avLst/>
            </a:prstGeom>
          </p:spPr>
          <p:txBody>
            <a:bodyPr lIns="25400" tIns="25400" rIns="25400" bIns="25400" rtlCol="0" anchor="ctr"/>
            <a:lstStyle/>
            <a:p>
              <a:pPr algn="ctr">
                <a:lnSpc>
                  <a:spcPts val="1120"/>
                </a:lnSpc>
              </a:pPr>
              <a:endParaRPr sz="700"/>
            </a:p>
          </p:txBody>
        </p:sp>
      </p:grpSp>
      <p:pic>
        <p:nvPicPr>
          <p:cNvPr id="13" name="Picture 13"/>
          <p:cNvPicPr>
            <a:picLocks noChangeAspect="1"/>
          </p:cNvPicPr>
          <p:nvPr/>
        </p:nvPicPr>
        <p:blipFill>
          <a:blip r:embed="rId3"/>
          <a:stretch>
            <a:fillRect/>
          </a:stretch>
        </p:blipFill>
        <p:spPr>
          <a:xfrm>
            <a:off x="2816198" y="1685901"/>
            <a:ext cx="1520663" cy="1520663"/>
          </a:xfrm>
          <a:prstGeom prst="rect">
            <a:avLst/>
          </a:prstGeom>
        </p:spPr>
      </p:pic>
      <p:grpSp>
        <p:nvGrpSpPr>
          <p:cNvPr id="14" name="Group 14"/>
          <p:cNvGrpSpPr/>
          <p:nvPr/>
        </p:nvGrpSpPr>
        <p:grpSpPr>
          <a:xfrm>
            <a:off x="4688782" y="2461198"/>
            <a:ext cx="1618897" cy="1925656"/>
            <a:chOff x="0" y="0"/>
            <a:chExt cx="865306" cy="1029270"/>
          </a:xfrm>
        </p:grpSpPr>
        <p:sp>
          <p:nvSpPr>
            <p:cNvPr id="15" name="Freeform 15"/>
            <p:cNvSpPr/>
            <p:nvPr/>
          </p:nvSpPr>
          <p:spPr>
            <a:xfrm>
              <a:off x="0" y="0"/>
              <a:ext cx="865306" cy="1029270"/>
            </a:xfrm>
            <a:custGeom>
              <a:avLst/>
              <a:gdLst/>
              <a:ahLst/>
              <a:cxnLst/>
              <a:rect l="l" t="t" r="r" b="b"/>
              <a:pathLst>
                <a:path w="865306" h="1029270">
                  <a:moveTo>
                    <a:pt x="35867" y="0"/>
                  </a:moveTo>
                  <a:lnTo>
                    <a:pt x="829440" y="0"/>
                  </a:lnTo>
                  <a:cubicBezTo>
                    <a:pt x="849248" y="0"/>
                    <a:pt x="865306" y="16058"/>
                    <a:pt x="865306" y="35867"/>
                  </a:cubicBezTo>
                  <a:lnTo>
                    <a:pt x="865306" y="993404"/>
                  </a:lnTo>
                  <a:cubicBezTo>
                    <a:pt x="865306" y="1013212"/>
                    <a:pt x="849248" y="1029270"/>
                    <a:pt x="829440" y="1029270"/>
                  </a:cubicBezTo>
                  <a:lnTo>
                    <a:pt x="35867" y="1029270"/>
                  </a:lnTo>
                  <a:cubicBezTo>
                    <a:pt x="16058" y="1029270"/>
                    <a:pt x="0" y="1013212"/>
                    <a:pt x="0" y="993404"/>
                  </a:cubicBezTo>
                  <a:lnTo>
                    <a:pt x="0" y="35867"/>
                  </a:lnTo>
                  <a:cubicBezTo>
                    <a:pt x="0" y="16058"/>
                    <a:pt x="16058" y="0"/>
                    <a:pt x="35867" y="0"/>
                  </a:cubicBezTo>
                  <a:close/>
                </a:path>
              </a:pathLst>
            </a:custGeom>
            <a:solidFill>
              <a:srgbClr val="F6F6F7"/>
            </a:solidFill>
          </p:spPr>
        </p:sp>
        <p:sp>
          <p:nvSpPr>
            <p:cNvPr id="16" name="TextBox 16"/>
            <p:cNvSpPr txBox="1"/>
            <p:nvPr/>
          </p:nvSpPr>
          <p:spPr>
            <a:xfrm>
              <a:off x="0" y="-28575"/>
              <a:ext cx="865306" cy="1057845"/>
            </a:xfrm>
            <a:prstGeom prst="rect">
              <a:avLst/>
            </a:prstGeom>
          </p:spPr>
          <p:txBody>
            <a:bodyPr lIns="25400" tIns="25400" rIns="25400" bIns="25400" rtlCol="0" anchor="ctr"/>
            <a:lstStyle/>
            <a:p>
              <a:pPr algn="ctr">
                <a:lnSpc>
                  <a:spcPts val="1120"/>
                </a:lnSpc>
              </a:pPr>
              <a:endParaRPr sz="700"/>
            </a:p>
          </p:txBody>
        </p:sp>
      </p:grpSp>
      <p:sp>
        <p:nvSpPr>
          <p:cNvPr id="17" name="Freeform 17"/>
          <p:cNvSpPr/>
          <p:nvPr/>
        </p:nvSpPr>
        <p:spPr>
          <a:xfrm rot="-5400000">
            <a:off x="6913196" y="3323407"/>
            <a:ext cx="939798" cy="1898581"/>
          </a:xfrm>
          <a:custGeom>
            <a:avLst/>
            <a:gdLst/>
            <a:ahLst/>
            <a:cxnLst/>
            <a:rect l="l" t="t" r="r" b="b"/>
            <a:pathLst>
              <a:path w="1879595" h="3797162">
                <a:moveTo>
                  <a:pt x="0" y="0"/>
                </a:moveTo>
                <a:lnTo>
                  <a:pt x="1879595" y="0"/>
                </a:lnTo>
                <a:lnTo>
                  <a:pt x="1879595" y="3797162"/>
                </a:lnTo>
                <a:lnTo>
                  <a:pt x="0" y="3797162"/>
                </a:lnTo>
                <a:lnTo>
                  <a:pt x="0" y="0"/>
                </a:lnTo>
                <a:close/>
              </a:path>
            </a:pathLst>
          </a:custGeom>
          <a:blipFill>
            <a:blip r:embed="rId2">
              <a:alphaModFix amt="7999"/>
            </a:blip>
            <a:stretch>
              <a:fillRect/>
            </a:stretch>
          </a:blipFill>
        </p:spPr>
      </p:sp>
      <p:grpSp>
        <p:nvGrpSpPr>
          <p:cNvPr id="18" name="Group 18"/>
          <p:cNvGrpSpPr/>
          <p:nvPr/>
        </p:nvGrpSpPr>
        <p:grpSpPr>
          <a:xfrm>
            <a:off x="6537915" y="2445868"/>
            <a:ext cx="1618897" cy="1925656"/>
            <a:chOff x="0" y="0"/>
            <a:chExt cx="865306" cy="1029270"/>
          </a:xfrm>
        </p:grpSpPr>
        <p:sp>
          <p:nvSpPr>
            <p:cNvPr id="19" name="Freeform 19"/>
            <p:cNvSpPr/>
            <p:nvPr/>
          </p:nvSpPr>
          <p:spPr>
            <a:xfrm>
              <a:off x="0" y="0"/>
              <a:ext cx="865306" cy="1029270"/>
            </a:xfrm>
            <a:custGeom>
              <a:avLst/>
              <a:gdLst/>
              <a:ahLst/>
              <a:cxnLst/>
              <a:rect l="l" t="t" r="r" b="b"/>
              <a:pathLst>
                <a:path w="865306" h="1029270">
                  <a:moveTo>
                    <a:pt x="35867" y="0"/>
                  </a:moveTo>
                  <a:lnTo>
                    <a:pt x="829440" y="0"/>
                  </a:lnTo>
                  <a:cubicBezTo>
                    <a:pt x="849248" y="0"/>
                    <a:pt x="865306" y="16058"/>
                    <a:pt x="865306" y="35867"/>
                  </a:cubicBezTo>
                  <a:lnTo>
                    <a:pt x="865306" y="993404"/>
                  </a:lnTo>
                  <a:cubicBezTo>
                    <a:pt x="865306" y="1013212"/>
                    <a:pt x="849248" y="1029270"/>
                    <a:pt x="829440" y="1029270"/>
                  </a:cubicBezTo>
                  <a:lnTo>
                    <a:pt x="35867" y="1029270"/>
                  </a:lnTo>
                  <a:cubicBezTo>
                    <a:pt x="16058" y="1029270"/>
                    <a:pt x="0" y="1013212"/>
                    <a:pt x="0" y="993404"/>
                  </a:cubicBezTo>
                  <a:lnTo>
                    <a:pt x="0" y="35867"/>
                  </a:lnTo>
                  <a:cubicBezTo>
                    <a:pt x="0" y="16058"/>
                    <a:pt x="16058" y="0"/>
                    <a:pt x="35867" y="0"/>
                  </a:cubicBezTo>
                  <a:close/>
                </a:path>
              </a:pathLst>
            </a:custGeom>
            <a:solidFill>
              <a:srgbClr val="F6F6F7"/>
            </a:solidFill>
          </p:spPr>
        </p:sp>
        <p:sp>
          <p:nvSpPr>
            <p:cNvPr id="20" name="TextBox 20"/>
            <p:cNvSpPr txBox="1"/>
            <p:nvPr/>
          </p:nvSpPr>
          <p:spPr>
            <a:xfrm>
              <a:off x="0" y="-28575"/>
              <a:ext cx="865306" cy="1057845"/>
            </a:xfrm>
            <a:prstGeom prst="rect">
              <a:avLst/>
            </a:prstGeom>
          </p:spPr>
          <p:txBody>
            <a:bodyPr lIns="25400" tIns="25400" rIns="25400" bIns="25400" rtlCol="0" anchor="ctr"/>
            <a:lstStyle/>
            <a:p>
              <a:pPr algn="ctr">
                <a:lnSpc>
                  <a:spcPts val="1120"/>
                </a:lnSpc>
              </a:pPr>
              <a:endParaRPr sz="700"/>
            </a:p>
          </p:txBody>
        </p:sp>
      </p:grpSp>
      <p:grpSp>
        <p:nvGrpSpPr>
          <p:cNvPr id="21" name="Group 21"/>
          <p:cNvGrpSpPr/>
          <p:nvPr/>
        </p:nvGrpSpPr>
        <p:grpSpPr>
          <a:xfrm>
            <a:off x="4689719" y="1715351"/>
            <a:ext cx="1618897" cy="1618897"/>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7"/>
            </a:solidFill>
          </p:spPr>
        </p:sp>
        <p:sp>
          <p:nvSpPr>
            <p:cNvPr id="23" name="TextBox 23"/>
            <p:cNvSpPr txBox="1"/>
            <p:nvPr/>
          </p:nvSpPr>
          <p:spPr>
            <a:xfrm>
              <a:off x="76200" y="47625"/>
              <a:ext cx="660400" cy="688975"/>
            </a:xfrm>
            <a:prstGeom prst="rect">
              <a:avLst/>
            </a:prstGeom>
          </p:spPr>
          <p:txBody>
            <a:bodyPr lIns="25400" tIns="25400" rIns="25400" bIns="25400" rtlCol="0" anchor="ctr"/>
            <a:lstStyle/>
            <a:p>
              <a:pPr algn="ctr">
                <a:lnSpc>
                  <a:spcPts val="1120"/>
                </a:lnSpc>
              </a:pPr>
              <a:endParaRPr sz="700"/>
            </a:p>
          </p:txBody>
        </p:sp>
      </p:grpSp>
      <p:grpSp>
        <p:nvGrpSpPr>
          <p:cNvPr id="24" name="Group 24"/>
          <p:cNvGrpSpPr/>
          <p:nvPr/>
        </p:nvGrpSpPr>
        <p:grpSpPr>
          <a:xfrm>
            <a:off x="6603891" y="1715351"/>
            <a:ext cx="1618897" cy="1618897"/>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7"/>
            </a:solidFill>
          </p:spPr>
        </p:sp>
        <p:sp>
          <p:nvSpPr>
            <p:cNvPr id="26" name="TextBox 26"/>
            <p:cNvSpPr txBox="1"/>
            <p:nvPr/>
          </p:nvSpPr>
          <p:spPr>
            <a:xfrm>
              <a:off x="76200" y="47625"/>
              <a:ext cx="660400" cy="688975"/>
            </a:xfrm>
            <a:prstGeom prst="rect">
              <a:avLst/>
            </a:prstGeom>
          </p:spPr>
          <p:txBody>
            <a:bodyPr lIns="25400" tIns="25400" rIns="25400" bIns="25400" rtlCol="0" anchor="ctr"/>
            <a:lstStyle/>
            <a:p>
              <a:pPr algn="ctr">
                <a:lnSpc>
                  <a:spcPts val="1120"/>
                </a:lnSpc>
              </a:pPr>
              <a:endParaRPr sz="700"/>
            </a:p>
          </p:txBody>
        </p:sp>
      </p:grpSp>
      <p:pic>
        <p:nvPicPr>
          <p:cNvPr id="27" name="Picture 27"/>
          <p:cNvPicPr>
            <a:picLocks noChangeAspect="1"/>
          </p:cNvPicPr>
          <p:nvPr/>
        </p:nvPicPr>
        <p:blipFill>
          <a:blip r:embed="rId4"/>
          <a:stretch>
            <a:fillRect/>
          </a:stretch>
        </p:blipFill>
        <p:spPr>
          <a:xfrm>
            <a:off x="4738836" y="1764467"/>
            <a:ext cx="1520663" cy="1520663"/>
          </a:xfrm>
          <a:prstGeom prst="rect">
            <a:avLst/>
          </a:prstGeom>
        </p:spPr>
      </p:pic>
      <p:pic>
        <p:nvPicPr>
          <p:cNvPr id="28" name="Picture 28"/>
          <p:cNvPicPr>
            <a:picLocks noChangeAspect="1"/>
          </p:cNvPicPr>
          <p:nvPr/>
        </p:nvPicPr>
        <p:blipFill>
          <a:blip r:embed="rId5"/>
          <a:stretch>
            <a:fillRect/>
          </a:stretch>
        </p:blipFill>
        <p:spPr>
          <a:xfrm>
            <a:off x="6653008" y="1764467"/>
            <a:ext cx="1520663" cy="1520663"/>
          </a:xfrm>
          <a:prstGeom prst="rect">
            <a:avLst/>
          </a:prstGeom>
        </p:spPr>
      </p:pic>
      <p:grpSp>
        <p:nvGrpSpPr>
          <p:cNvPr id="29" name="Group 29"/>
          <p:cNvGrpSpPr/>
          <p:nvPr/>
        </p:nvGrpSpPr>
        <p:grpSpPr>
          <a:xfrm>
            <a:off x="863249" y="2456102"/>
            <a:ext cx="1618897" cy="1925656"/>
            <a:chOff x="0" y="0"/>
            <a:chExt cx="865306" cy="1029270"/>
          </a:xfrm>
        </p:grpSpPr>
        <p:sp>
          <p:nvSpPr>
            <p:cNvPr id="30" name="Freeform 30"/>
            <p:cNvSpPr/>
            <p:nvPr/>
          </p:nvSpPr>
          <p:spPr>
            <a:xfrm>
              <a:off x="0" y="0"/>
              <a:ext cx="865306" cy="1029270"/>
            </a:xfrm>
            <a:custGeom>
              <a:avLst/>
              <a:gdLst/>
              <a:ahLst/>
              <a:cxnLst/>
              <a:rect l="l" t="t" r="r" b="b"/>
              <a:pathLst>
                <a:path w="865306" h="1029270">
                  <a:moveTo>
                    <a:pt x="35867" y="0"/>
                  </a:moveTo>
                  <a:lnTo>
                    <a:pt x="829440" y="0"/>
                  </a:lnTo>
                  <a:cubicBezTo>
                    <a:pt x="849248" y="0"/>
                    <a:pt x="865306" y="16058"/>
                    <a:pt x="865306" y="35867"/>
                  </a:cubicBezTo>
                  <a:lnTo>
                    <a:pt x="865306" y="993404"/>
                  </a:lnTo>
                  <a:cubicBezTo>
                    <a:pt x="865306" y="1013212"/>
                    <a:pt x="849248" y="1029270"/>
                    <a:pt x="829440" y="1029270"/>
                  </a:cubicBezTo>
                  <a:lnTo>
                    <a:pt x="35867" y="1029270"/>
                  </a:lnTo>
                  <a:cubicBezTo>
                    <a:pt x="16058" y="1029270"/>
                    <a:pt x="0" y="1013212"/>
                    <a:pt x="0" y="993404"/>
                  </a:cubicBezTo>
                  <a:lnTo>
                    <a:pt x="0" y="35867"/>
                  </a:lnTo>
                  <a:cubicBezTo>
                    <a:pt x="0" y="16058"/>
                    <a:pt x="16058" y="0"/>
                    <a:pt x="35867" y="0"/>
                  </a:cubicBezTo>
                  <a:close/>
                </a:path>
              </a:pathLst>
            </a:custGeom>
            <a:solidFill>
              <a:srgbClr val="F6F6F7"/>
            </a:solidFill>
          </p:spPr>
        </p:sp>
        <p:sp>
          <p:nvSpPr>
            <p:cNvPr id="31" name="TextBox 31"/>
            <p:cNvSpPr txBox="1"/>
            <p:nvPr/>
          </p:nvSpPr>
          <p:spPr>
            <a:xfrm>
              <a:off x="0" y="-28575"/>
              <a:ext cx="865306" cy="1057845"/>
            </a:xfrm>
            <a:prstGeom prst="rect">
              <a:avLst/>
            </a:prstGeom>
          </p:spPr>
          <p:txBody>
            <a:bodyPr lIns="25400" tIns="25400" rIns="25400" bIns="25400" rtlCol="0" anchor="ctr"/>
            <a:lstStyle/>
            <a:p>
              <a:pPr algn="ctr">
                <a:lnSpc>
                  <a:spcPts val="1120"/>
                </a:lnSpc>
              </a:pPr>
              <a:endParaRPr sz="700"/>
            </a:p>
            <a:p>
              <a:pPr algn="ctr">
                <a:lnSpc>
                  <a:spcPts val="1120"/>
                </a:lnSpc>
              </a:pPr>
              <a:endParaRPr sz="700"/>
            </a:p>
          </p:txBody>
        </p:sp>
      </p:grpSp>
      <p:grpSp>
        <p:nvGrpSpPr>
          <p:cNvPr id="32" name="Group 32"/>
          <p:cNvGrpSpPr/>
          <p:nvPr/>
        </p:nvGrpSpPr>
        <p:grpSpPr>
          <a:xfrm>
            <a:off x="863249" y="1715351"/>
            <a:ext cx="1618897" cy="1618897"/>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7"/>
            </a:solidFill>
          </p:spPr>
        </p:sp>
        <p:sp>
          <p:nvSpPr>
            <p:cNvPr id="34" name="TextBox 34"/>
            <p:cNvSpPr txBox="1"/>
            <p:nvPr/>
          </p:nvSpPr>
          <p:spPr>
            <a:xfrm>
              <a:off x="76200" y="47625"/>
              <a:ext cx="660400" cy="688975"/>
            </a:xfrm>
            <a:prstGeom prst="rect">
              <a:avLst/>
            </a:prstGeom>
          </p:spPr>
          <p:txBody>
            <a:bodyPr lIns="25400" tIns="25400" rIns="25400" bIns="25400" rtlCol="0" anchor="ctr"/>
            <a:lstStyle/>
            <a:p>
              <a:pPr algn="ctr">
                <a:lnSpc>
                  <a:spcPts val="1120"/>
                </a:lnSpc>
              </a:pPr>
              <a:endParaRPr sz="700"/>
            </a:p>
          </p:txBody>
        </p:sp>
      </p:grpSp>
      <p:pic>
        <p:nvPicPr>
          <p:cNvPr id="35" name="Picture 35"/>
          <p:cNvPicPr>
            <a:picLocks noChangeAspect="1"/>
          </p:cNvPicPr>
          <p:nvPr/>
        </p:nvPicPr>
        <p:blipFill>
          <a:blip r:embed="rId6"/>
          <a:stretch>
            <a:fillRect/>
          </a:stretch>
        </p:blipFill>
        <p:spPr>
          <a:xfrm>
            <a:off x="912366" y="1764467"/>
            <a:ext cx="1520663" cy="1520663"/>
          </a:xfrm>
          <a:prstGeom prst="rect">
            <a:avLst/>
          </a:prstGeom>
        </p:spPr>
      </p:pic>
      <p:sp>
        <p:nvSpPr>
          <p:cNvPr id="37" name="Freeform 37"/>
          <p:cNvSpPr/>
          <p:nvPr/>
        </p:nvSpPr>
        <p:spPr>
          <a:xfrm>
            <a:off x="7166993" y="2374272"/>
            <a:ext cx="581407" cy="325104"/>
          </a:xfrm>
          <a:custGeom>
            <a:avLst/>
            <a:gdLst/>
            <a:ahLst/>
            <a:cxnLst/>
            <a:rect l="l" t="t" r="r" b="b"/>
            <a:pathLst>
              <a:path w="1162814" h="650207">
                <a:moveTo>
                  <a:pt x="0" y="0"/>
                </a:moveTo>
                <a:lnTo>
                  <a:pt x="1162814" y="0"/>
                </a:lnTo>
                <a:lnTo>
                  <a:pt x="1162814" y="650207"/>
                </a:lnTo>
                <a:lnTo>
                  <a:pt x="0" y="650207"/>
                </a:lnTo>
                <a:lnTo>
                  <a:pt x="0" y="0"/>
                </a:lnTo>
                <a:close/>
              </a:path>
            </a:pathLst>
          </a:custGeom>
          <a:blipFill>
            <a:blip r:embed="rId7"/>
            <a:stretch>
              <a:fillRect/>
            </a:stretch>
          </a:blipFill>
        </p:spPr>
      </p:sp>
      <p:sp>
        <p:nvSpPr>
          <p:cNvPr id="38" name="Freeform 38"/>
          <p:cNvSpPr/>
          <p:nvPr/>
        </p:nvSpPr>
        <p:spPr>
          <a:xfrm>
            <a:off x="5214157" y="2374272"/>
            <a:ext cx="540713" cy="325104"/>
          </a:xfrm>
          <a:custGeom>
            <a:avLst/>
            <a:gdLst/>
            <a:ahLst/>
            <a:cxnLst/>
            <a:rect l="l" t="t" r="r" b="b"/>
            <a:pathLst>
              <a:path w="1081425" h="650207">
                <a:moveTo>
                  <a:pt x="0" y="0"/>
                </a:moveTo>
                <a:lnTo>
                  <a:pt x="1081425" y="0"/>
                </a:lnTo>
                <a:lnTo>
                  <a:pt x="1081425" y="650207"/>
                </a:lnTo>
                <a:lnTo>
                  <a:pt x="0" y="650207"/>
                </a:lnTo>
                <a:lnTo>
                  <a:pt x="0" y="0"/>
                </a:lnTo>
                <a:close/>
              </a:path>
            </a:pathLst>
          </a:custGeom>
          <a:blipFill>
            <a:blip r:embed="rId8"/>
            <a:stretch>
              <a:fillRect/>
            </a:stretch>
          </a:blipFill>
        </p:spPr>
      </p:sp>
      <p:sp>
        <p:nvSpPr>
          <p:cNvPr id="39" name="Freeform 39"/>
          <p:cNvSpPr/>
          <p:nvPr/>
        </p:nvSpPr>
        <p:spPr>
          <a:xfrm>
            <a:off x="3292577" y="2348785"/>
            <a:ext cx="586712" cy="352027"/>
          </a:xfrm>
          <a:custGeom>
            <a:avLst/>
            <a:gdLst/>
            <a:ahLst/>
            <a:cxnLst/>
            <a:rect l="l" t="t" r="r" b="b"/>
            <a:pathLst>
              <a:path w="1173423" h="704054">
                <a:moveTo>
                  <a:pt x="0" y="0"/>
                </a:moveTo>
                <a:lnTo>
                  <a:pt x="1173423" y="0"/>
                </a:lnTo>
                <a:lnTo>
                  <a:pt x="1173423" y="704054"/>
                </a:lnTo>
                <a:lnTo>
                  <a:pt x="0" y="704054"/>
                </a:lnTo>
                <a:lnTo>
                  <a:pt x="0" y="0"/>
                </a:lnTo>
                <a:close/>
              </a:path>
            </a:pathLst>
          </a:custGeom>
          <a:blipFill>
            <a:blip r:embed="rId9"/>
            <a:stretch>
              <a:fillRect/>
            </a:stretch>
          </a:blipFill>
        </p:spPr>
      </p:sp>
      <p:sp>
        <p:nvSpPr>
          <p:cNvPr id="40" name="Freeform 40"/>
          <p:cNvSpPr/>
          <p:nvPr/>
        </p:nvSpPr>
        <p:spPr>
          <a:xfrm>
            <a:off x="1351184" y="2313563"/>
            <a:ext cx="643026" cy="352861"/>
          </a:xfrm>
          <a:custGeom>
            <a:avLst/>
            <a:gdLst/>
            <a:ahLst/>
            <a:cxnLst/>
            <a:rect l="l" t="t" r="r" b="b"/>
            <a:pathLst>
              <a:path w="1286052" h="705721">
                <a:moveTo>
                  <a:pt x="0" y="0"/>
                </a:moveTo>
                <a:lnTo>
                  <a:pt x="1286052" y="0"/>
                </a:lnTo>
                <a:lnTo>
                  <a:pt x="1286052" y="705721"/>
                </a:lnTo>
                <a:lnTo>
                  <a:pt x="0" y="705721"/>
                </a:lnTo>
                <a:lnTo>
                  <a:pt x="0" y="0"/>
                </a:lnTo>
                <a:close/>
              </a:path>
            </a:pathLst>
          </a:custGeom>
          <a:blipFill>
            <a:blip r:embed="rId10"/>
            <a:stretch>
              <a:fillRect/>
            </a:stretch>
          </a:blipFill>
        </p:spPr>
      </p:sp>
      <p:sp>
        <p:nvSpPr>
          <p:cNvPr id="41" name="TextBox 41"/>
          <p:cNvSpPr txBox="1"/>
          <p:nvPr/>
        </p:nvSpPr>
        <p:spPr>
          <a:xfrm>
            <a:off x="1212183" y="3326462"/>
            <a:ext cx="921028" cy="179536"/>
          </a:xfrm>
          <a:prstGeom prst="rect">
            <a:avLst/>
          </a:prstGeom>
        </p:spPr>
        <p:txBody>
          <a:bodyPr lIns="0" tIns="0" rIns="0" bIns="0" rtlCol="0" anchor="t">
            <a:spAutoFit/>
          </a:bodyPr>
          <a:lstStyle/>
          <a:p>
            <a:pPr algn="ctr">
              <a:lnSpc>
                <a:spcPts val="1430"/>
              </a:lnSpc>
            </a:pPr>
            <a:r>
              <a:rPr lang="en-US" sz="1022" b="1" dirty="0">
                <a:solidFill>
                  <a:srgbClr val="121A5D"/>
                </a:solidFill>
                <a:latin typeface="Canva Sans Bold"/>
                <a:ea typeface="Canva Sans Bold"/>
                <a:cs typeface="Canva Sans Bold"/>
                <a:sym typeface="Canva Sans Bold"/>
              </a:rPr>
              <a:t>BLUE</a:t>
            </a:r>
          </a:p>
        </p:txBody>
      </p:sp>
      <p:grpSp>
        <p:nvGrpSpPr>
          <p:cNvPr id="42" name="Group 42"/>
          <p:cNvGrpSpPr/>
          <p:nvPr/>
        </p:nvGrpSpPr>
        <p:grpSpPr>
          <a:xfrm>
            <a:off x="3023658" y="3328843"/>
            <a:ext cx="1321065" cy="751752"/>
            <a:chOff x="0" y="-57149"/>
            <a:chExt cx="3522840" cy="2004670"/>
          </a:xfrm>
        </p:grpSpPr>
        <p:sp>
          <p:nvSpPr>
            <p:cNvPr id="43" name="TextBox 43"/>
            <p:cNvSpPr txBox="1"/>
            <p:nvPr/>
          </p:nvSpPr>
          <p:spPr>
            <a:xfrm>
              <a:off x="210264" y="-57149"/>
              <a:ext cx="3102315" cy="438584"/>
            </a:xfrm>
            <a:prstGeom prst="rect">
              <a:avLst/>
            </a:prstGeom>
          </p:spPr>
          <p:txBody>
            <a:bodyPr lIns="0" tIns="0" rIns="0" bIns="0" rtlCol="0" anchor="t">
              <a:spAutoFit/>
            </a:bodyPr>
            <a:lstStyle/>
            <a:p>
              <a:pPr algn="ctr">
                <a:lnSpc>
                  <a:spcPts val="1430"/>
                </a:lnSpc>
              </a:pPr>
              <a:r>
                <a:rPr lang="en-US" sz="1022" b="1" dirty="0">
                  <a:solidFill>
                    <a:srgbClr val="121A5D"/>
                  </a:solidFill>
                  <a:latin typeface="Canva Sans Bold"/>
                  <a:ea typeface="Canva Sans Bold"/>
                  <a:cs typeface="Canva Sans Bold"/>
                  <a:sym typeface="Canva Sans Bold"/>
                </a:rPr>
                <a:t>GOLD</a:t>
              </a:r>
            </a:p>
          </p:txBody>
        </p:sp>
        <p:sp>
          <p:nvSpPr>
            <p:cNvPr id="44" name="TextBox 44"/>
            <p:cNvSpPr txBox="1"/>
            <p:nvPr/>
          </p:nvSpPr>
          <p:spPr>
            <a:xfrm>
              <a:off x="0" y="1126783"/>
              <a:ext cx="3522840" cy="820738"/>
            </a:xfrm>
            <a:prstGeom prst="rect">
              <a:avLst/>
            </a:prstGeom>
          </p:spPr>
          <p:txBody>
            <a:bodyPr lIns="0" tIns="0" rIns="0" bIns="0" rtlCol="0" anchor="t">
              <a:spAutoFit/>
            </a:bodyPr>
            <a:lstStyle/>
            <a:p>
              <a:pPr algn="ctr">
                <a:lnSpc>
                  <a:spcPts val="1218"/>
                </a:lnSpc>
              </a:pPr>
              <a:r>
                <a:rPr lang="en-US" sz="870" b="1" dirty="0">
                  <a:solidFill>
                    <a:srgbClr val="121A5D"/>
                  </a:solidFill>
                  <a:latin typeface="Canva Sans Bold"/>
                  <a:ea typeface="Canva Sans Bold"/>
                  <a:cs typeface="Canva Sans Bold"/>
                  <a:sym typeface="Canva Sans Bold"/>
                </a:rPr>
                <a:t>CLIENT </a:t>
              </a:r>
              <a:r>
                <a:rPr lang="en-US" sz="870" b="1" dirty="0" smtClean="0">
                  <a:solidFill>
                    <a:srgbClr val="121A5D"/>
                  </a:solidFill>
                  <a:latin typeface="Canva Sans Bold"/>
                  <a:ea typeface="Canva Sans Bold"/>
                  <a:cs typeface="Canva Sans Bold"/>
                  <a:sym typeface="Canva Sans Bold"/>
                </a:rPr>
                <a:t>ACTUEL: 82% </a:t>
              </a:r>
              <a:endParaRPr lang="en-US" sz="870" b="1" dirty="0">
                <a:solidFill>
                  <a:srgbClr val="121A5D"/>
                </a:solidFill>
                <a:latin typeface="Canva Sans Bold"/>
                <a:ea typeface="Canva Sans Bold"/>
                <a:cs typeface="Canva Sans Bold"/>
                <a:sym typeface="Canva Sans Bold"/>
              </a:endParaRPr>
            </a:p>
            <a:p>
              <a:pPr algn="ctr">
                <a:lnSpc>
                  <a:spcPts val="1218"/>
                </a:lnSpc>
              </a:pPr>
              <a:r>
                <a:rPr lang="en-US" sz="870" b="1" dirty="0">
                  <a:solidFill>
                    <a:srgbClr val="121A5D"/>
                  </a:solidFill>
                  <a:latin typeface="Canva Sans Bold"/>
                  <a:ea typeface="Canva Sans Bold"/>
                  <a:cs typeface="Canva Sans Bold"/>
                  <a:sym typeface="Canva Sans Bold"/>
                </a:rPr>
                <a:t>CLIENT PERDU </a:t>
              </a:r>
              <a:r>
                <a:rPr lang="en-US" sz="870" b="1" dirty="0" smtClean="0">
                  <a:solidFill>
                    <a:srgbClr val="121A5D"/>
                  </a:solidFill>
                  <a:latin typeface="Canva Sans Bold"/>
                  <a:ea typeface="Canva Sans Bold"/>
                  <a:cs typeface="Canva Sans Bold"/>
                  <a:sym typeface="Canva Sans Bold"/>
                </a:rPr>
                <a:t>: 18%</a:t>
              </a:r>
              <a:endParaRPr lang="en-US" sz="870" b="1" dirty="0">
                <a:solidFill>
                  <a:srgbClr val="121A5D"/>
                </a:solidFill>
                <a:latin typeface="Canva Sans Bold"/>
                <a:ea typeface="Canva Sans Bold"/>
                <a:cs typeface="Canva Sans Bold"/>
                <a:sym typeface="Canva Sans Bold"/>
              </a:endParaRPr>
            </a:p>
          </p:txBody>
        </p:sp>
      </p:grpSp>
      <p:sp>
        <p:nvSpPr>
          <p:cNvPr id="45" name="TextBox 45"/>
          <p:cNvSpPr txBox="1"/>
          <p:nvPr/>
        </p:nvSpPr>
        <p:spPr>
          <a:xfrm>
            <a:off x="5038654" y="3326462"/>
            <a:ext cx="921028" cy="164469"/>
          </a:xfrm>
          <a:prstGeom prst="rect">
            <a:avLst/>
          </a:prstGeom>
        </p:spPr>
        <p:txBody>
          <a:bodyPr lIns="0" tIns="0" rIns="0" bIns="0" rtlCol="0" anchor="t">
            <a:spAutoFit/>
          </a:bodyPr>
          <a:lstStyle/>
          <a:p>
            <a:pPr algn="ctr">
              <a:lnSpc>
                <a:spcPts val="1430"/>
              </a:lnSpc>
            </a:pPr>
            <a:r>
              <a:rPr lang="en-US" sz="1022" b="1" dirty="0">
                <a:solidFill>
                  <a:srgbClr val="121A5D"/>
                </a:solidFill>
                <a:latin typeface="Canva Sans Bold"/>
                <a:ea typeface="Canva Sans Bold"/>
                <a:cs typeface="Canva Sans Bold"/>
                <a:sym typeface="Canva Sans Bold"/>
              </a:rPr>
              <a:t>SILVER</a:t>
            </a:r>
          </a:p>
        </p:txBody>
      </p:sp>
      <p:sp>
        <p:nvSpPr>
          <p:cNvPr id="46" name="TextBox 46"/>
          <p:cNvSpPr txBox="1"/>
          <p:nvPr/>
        </p:nvSpPr>
        <p:spPr>
          <a:xfrm>
            <a:off x="6952825" y="3326462"/>
            <a:ext cx="921028" cy="164469"/>
          </a:xfrm>
          <a:prstGeom prst="rect">
            <a:avLst/>
          </a:prstGeom>
        </p:spPr>
        <p:txBody>
          <a:bodyPr lIns="0" tIns="0" rIns="0" bIns="0" rtlCol="0" anchor="t">
            <a:spAutoFit/>
          </a:bodyPr>
          <a:lstStyle/>
          <a:p>
            <a:pPr algn="ctr">
              <a:lnSpc>
                <a:spcPts val="1430"/>
              </a:lnSpc>
            </a:pPr>
            <a:r>
              <a:rPr lang="en-US" sz="1022" b="1" dirty="0">
                <a:solidFill>
                  <a:srgbClr val="121A5D"/>
                </a:solidFill>
                <a:latin typeface="Canva Sans Bold"/>
                <a:ea typeface="Canva Sans Bold"/>
                <a:cs typeface="Canva Sans Bold"/>
                <a:sym typeface="Canva Sans Bold"/>
              </a:rPr>
              <a:t>PLATINIUM</a:t>
            </a:r>
          </a:p>
        </p:txBody>
      </p:sp>
      <p:sp>
        <p:nvSpPr>
          <p:cNvPr id="47" name="TextBox 47"/>
          <p:cNvSpPr txBox="1"/>
          <p:nvPr/>
        </p:nvSpPr>
        <p:spPr>
          <a:xfrm>
            <a:off x="4791167" y="3828120"/>
            <a:ext cx="1452137" cy="307777"/>
          </a:xfrm>
          <a:prstGeom prst="rect">
            <a:avLst/>
          </a:prstGeom>
        </p:spPr>
        <p:txBody>
          <a:bodyPr lIns="0" tIns="0" rIns="0" bIns="0" rtlCol="0" anchor="t">
            <a:spAutoFit/>
          </a:bodyPr>
          <a:lstStyle/>
          <a:p>
            <a:pPr algn="ctr">
              <a:lnSpc>
                <a:spcPts val="1192"/>
              </a:lnSpc>
            </a:pPr>
            <a:r>
              <a:rPr lang="en-US" sz="851" b="1" dirty="0">
                <a:solidFill>
                  <a:srgbClr val="121A5D"/>
                </a:solidFill>
                <a:latin typeface="Canva Sans Bold"/>
                <a:ea typeface="Canva Sans Bold"/>
                <a:cs typeface="Canva Sans Bold"/>
                <a:sym typeface="Canva Sans Bold"/>
              </a:rPr>
              <a:t>CLIENT ACTUEL: </a:t>
            </a:r>
            <a:r>
              <a:rPr lang="en-US" sz="851" b="1" dirty="0" smtClean="0">
                <a:solidFill>
                  <a:srgbClr val="121A5D"/>
                </a:solidFill>
                <a:latin typeface="Canva Sans Bold"/>
                <a:ea typeface="Canva Sans Bold"/>
                <a:cs typeface="Canva Sans Bold"/>
                <a:sym typeface="Canva Sans Bold"/>
              </a:rPr>
              <a:t>85%</a:t>
            </a:r>
            <a:endParaRPr lang="en-US" sz="851" b="1" dirty="0">
              <a:solidFill>
                <a:srgbClr val="121A5D"/>
              </a:solidFill>
              <a:latin typeface="Canva Sans Bold"/>
              <a:ea typeface="Canva Sans Bold"/>
              <a:cs typeface="Canva Sans Bold"/>
              <a:sym typeface="Canva Sans Bold"/>
            </a:endParaRPr>
          </a:p>
          <a:p>
            <a:pPr algn="ctr">
              <a:lnSpc>
                <a:spcPts val="1192"/>
              </a:lnSpc>
            </a:pPr>
            <a:r>
              <a:rPr lang="en-US" sz="851" b="1" dirty="0">
                <a:solidFill>
                  <a:srgbClr val="121A5D"/>
                </a:solidFill>
                <a:latin typeface="Canva Sans Bold"/>
                <a:ea typeface="Canva Sans Bold"/>
                <a:cs typeface="Canva Sans Bold"/>
                <a:sym typeface="Canva Sans Bold"/>
              </a:rPr>
              <a:t>CLIENT PERDU: </a:t>
            </a:r>
            <a:r>
              <a:rPr lang="en-US" sz="851" b="1" dirty="0" smtClean="0">
                <a:solidFill>
                  <a:srgbClr val="121A5D"/>
                </a:solidFill>
                <a:latin typeface="Canva Sans Bold"/>
                <a:ea typeface="Canva Sans Bold"/>
                <a:cs typeface="Canva Sans Bold"/>
                <a:sym typeface="Canva Sans Bold"/>
              </a:rPr>
              <a:t>15%</a:t>
            </a:r>
            <a:endParaRPr lang="en-US" sz="851" b="1" dirty="0">
              <a:solidFill>
                <a:srgbClr val="121A5D"/>
              </a:solidFill>
              <a:latin typeface="Canva Sans Bold"/>
              <a:ea typeface="Canva Sans Bold"/>
              <a:cs typeface="Canva Sans Bold"/>
              <a:sym typeface="Canva Sans Bold"/>
            </a:endParaRPr>
          </a:p>
        </p:txBody>
      </p:sp>
      <p:sp>
        <p:nvSpPr>
          <p:cNvPr id="48" name="TextBox 48"/>
          <p:cNvSpPr txBox="1"/>
          <p:nvPr/>
        </p:nvSpPr>
        <p:spPr>
          <a:xfrm>
            <a:off x="6695741" y="3831365"/>
            <a:ext cx="1420350" cy="307777"/>
          </a:xfrm>
          <a:prstGeom prst="rect">
            <a:avLst/>
          </a:prstGeom>
        </p:spPr>
        <p:txBody>
          <a:bodyPr lIns="0" tIns="0" rIns="0" bIns="0" rtlCol="0" anchor="t">
            <a:spAutoFit/>
          </a:bodyPr>
          <a:lstStyle/>
          <a:p>
            <a:pPr algn="ctr">
              <a:lnSpc>
                <a:spcPts val="1198"/>
              </a:lnSpc>
            </a:pPr>
            <a:r>
              <a:rPr lang="en-US" sz="856" b="1" dirty="0">
                <a:solidFill>
                  <a:srgbClr val="121A5D"/>
                </a:solidFill>
                <a:latin typeface="Canva Sans Bold"/>
                <a:ea typeface="Canva Sans Bold"/>
                <a:cs typeface="Canva Sans Bold"/>
                <a:sym typeface="Canva Sans Bold"/>
              </a:rPr>
              <a:t>CLIENT ACTUEL : 30%</a:t>
            </a:r>
          </a:p>
          <a:p>
            <a:pPr algn="ctr">
              <a:lnSpc>
                <a:spcPts val="1198"/>
              </a:lnSpc>
            </a:pPr>
            <a:r>
              <a:rPr lang="en-US" sz="856" b="1" dirty="0">
                <a:solidFill>
                  <a:srgbClr val="121A5D"/>
                </a:solidFill>
                <a:latin typeface="Canva Sans Bold"/>
                <a:ea typeface="Canva Sans Bold"/>
                <a:cs typeface="Canva Sans Bold"/>
                <a:sym typeface="Canva Sans Bold"/>
              </a:rPr>
              <a:t>CLIENT PERDU :  70%</a:t>
            </a:r>
          </a:p>
        </p:txBody>
      </p:sp>
      <p:sp>
        <p:nvSpPr>
          <p:cNvPr id="49" name="TextBox 49"/>
          <p:cNvSpPr txBox="1"/>
          <p:nvPr/>
        </p:nvSpPr>
        <p:spPr>
          <a:xfrm>
            <a:off x="1120789" y="1194804"/>
            <a:ext cx="7137860" cy="641201"/>
          </a:xfrm>
          <a:prstGeom prst="rect">
            <a:avLst/>
          </a:prstGeom>
        </p:spPr>
        <p:txBody>
          <a:bodyPr lIns="0" tIns="0" rIns="0" bIns="0" rtlCol="0" anchor="t">
            <a:spAutoFit/>
          </a:bodyPr>
          <a:lstStyle/>
          <a:p>
            <a:pPr algn="ctr">
              <a:lnSpc>
                <a:spcPts val="1284"/>
              </a:lnSpc>
            </a:pPr>
            <a:r>
              <a:rPr lang="en-US" sz="917" dirty="0">
                <a:solidFill>
                  <a:srgbClr val="121A5D"/>
                </a:solidFill>
                <a:latin typeface="Canva Sans"/>
                <a:ea typeface="Canva Sans"/>
                <a:cs typeface="Canva Sans"/>
                <a:sym typeface="Canva Sans"/>
              </a:rPr>
              <a:t>Les clients perdus sont majoritairement associés aux cartes Platinum (70 %), tandis que les clients actuels préfèrent les cartes Blue, Gold </a:t>
            </a:r>
            <a:r>
              <a:rPr lang="en-US" sz="917" dirty="0" smtClean="0">
                <a:solidFill>
                  <a:srgbClr val="121A5D"/>
                </a:solidFill>
                <a:latin typeface="Canva Sans"/>
                <a:ea typeface="Canva Sans"/>
                <a:cs typeface="Canva Sans"/>
                <a:sym typeface="Canva Sans"/>
              </a:rPr>
              <a:t>Et </a:t>
            </a:r>
            <a:r>
              <a:rPr lang="en-US" sz="917" dirty="0">
                <a:solidFill>
                  <a:srgbClr val="121A5D"/>
                </a:solidFill>
                <a:latin typeface="Canva Sans"/>
                <a:ea typeface="Canva Sans"/>
                <a:cs typeface="Canva Sans"/>
                <a:sym typeface="Canva Sans"/>
              </a:rPr>
              <a:t>Silver avec des taux d'utilisation supérieurs à 80 %. </a:t>
            </a:r>
            <a:r>
              <a:rPr lang="en-US" sz="917" dirty="0" smtClean="0">
                <a:solidFill>
                  <a:srgbClr val="121A5D"/>
                </a:solidFill>
                <a:latin typeface="Canva Sans"/>
                <a:ea typeface="Canva Sans"/>
                <a:cs typeface="Canva Sans"/>
                <a:sym typeface="Canva Sans"/>
              </a:rPr>
              <a:t>Ce </a:t>
            </a:r>
            <a:r>
              <a:rPr lang="en-US" sz="917" dirty="0">
                <a:solidFill>
                  <a:srgbClr val="121A5D"/>
                </a:solidFill>
                <a:latin typeface="Canva Sans"/>
                <a:ea typeface="Canva Sans"/>
                <a:cs typeface="Canva Sans"/>
                <a:sym typeface="Canva Sans"/>
              </a:rPr>
              <a:t>qu’on peut faire r</a:t>
            </a:r>
            <a:r>
              <a:rPr lang="en-US" sz="917" dirty="0" smtClean="0">
                <a:solidFill>
                  <a:srgbClr val="121A5D"/>
                </a:solidFill>
                <a:latin typeface="Canva Sans"/>
                <a:ea typeface="Canva Sans"/>
                <a:cs typeface="Canva Sans"/>
                <a:sym typeface="Canva Sans"/>
              </a:rPr>
              <a:t>evoir </a:t>
            </a:r>
            <a:r>
              <a:rPr lang="en-US" sz="917" dirty="0">
                <a:solidFill>
                  <a:srgbClr val="121A5D"/>
                </a:solidFill>
                <a:latin typeface="Canva Sans"/>
                <a:ea typeface="Canva Sans"/>
                <a:cs typeface="Canva Sans"/>
                <a:sym typeface="Canva Sans"/>
              </a:rPr>
              <a:t>et enrichir les avantages liés aux cartes Platinum </a:t>
            </a:r>
            <a:r>
              <a:rPr lang="en-US" sz="917" dirty="0" smtClean="0">
                <a:solidFill>
                  <a:srgbClr val="121A5D"/>
                </a:solidFill>
                <a:latin typeface="Canva Sans"/>
                <a:ea typeface="Canva Sans"/>
                <a:cs typeface="Canva Sans"/>
                <a:sym typeface="Canva Sans"/>
              </a:rPr>
              <a:t>pour</a:t>
            </a:r>
          </a:p>
          <a:p>
            <a:pPr algn="ctr">
              <a:lnSpc>
                <a:spcPts val="1284"/>
              </a:lnSpc>
            </a:pPr>
            <a:r>
              <a:rPr lang="en-US" sz="917" dirty="0" smtClean="0">
                <a:solidFill>
                  <a:srgbClr val="121A5D"/>
                </a:solidFill>
                <a:latin typeface="Canva Sans"/>
                <a:ea typeface="Canva Sans"/>
                <a:cs typeface="Canva Sans"/>
                <a:sym typeface="Canva Sans"/>
              </a:rPr>
              <a:t>M</a:t>
            </a:r>
            <a:r>
              <a:rPr lang="en-US" sz="917" dirty="0" smtClean="0">
                <a:solidFill>
                  <a:srgbClr val="121A5D"/>
                </a:solidFill>
                <a:latin typeface="Canva Sans"/>
                <a:ea typeface="Canva Sans"/>
                <a:cs typeface="Canva Sans"/>
                <a:sym typeface="Canva Sans"/>
              </a:rPr>
              <a:t>ieux </a:t>
            </a:r>
            <a:r>
              <a:rPr lang="en-US" sz="917" dirty="0">
                <a:solidFill>
                  <a:srgbClr val="121A5D"/>
                </a:solidFill>
                <a:latin typeface="Canva Sans"/>
                <a:ea typeface="Canva Sans"/>
                <a:cs typeface="Canva Sans"/>
                <a:sym typeface="Canva Sans"/>
              </a:rPr>
              <a:t>répondre aux attentes de cette clientèle haut de gamme.</a:t>
            </a:r>
          </a:p>
          <a:p>
            <a:pPr algn="ctr">
              <a:lnSpc>
                <a:spcPts val="1074"/>
              </a:lnSpc>
            </a:pPr>
            <a:endParaRPr lang="en-US" sz="917" dirty="0">
              <a:solidFill>
                <a:srgbClr val="121A5D"/>
              </a:solidFill>
              <a:latin typeface="Canva Sans"/>
              <a:ea typeface="Canva Sans"/>
              <a:cs typeface="Canva Sans"/>
              <a:sym typeface="Canva Sans"/>
            </a:endParaRPr>
          </a:p>
        </p:txBody>
      </p:sp>
      <p:grpSp>
        <p:nvGrpSpPr>
          <p:cNvPr id="50" name="Group 50"/>
          <p:cNvGrpSpPr/>
          <p:nvPr/>
        </p:nvGrpSpPr>
        <p:grpSpPr>
          <a:xfrm>
            <a:off x="827323" y="3720585"/>
            <a:ext cx="208004" cy="202777"/>
            <a:chOff x="0" y="0"/>
            <a:chExt cx="252730" cy="246380"/>
          </a:xfrm>
        </p:grpSpPr>
        <p:sp>
          <p:nvSpPr>
            <p:cNvPr id="51" name="Freeform 51"/>
            <p:cNvSpPr/>
            <p:nvPr/>
          </p:nvSpPr>
          <p:spPr>
            <a:xfrm>
              <a:off x="49530" y="49530"/>
              <a:ext cx="149860" cy="154940"/>
            </a:xfrm>
            <a:custGeom>
              <a:avLst/>
              <a:gdLst/>
              <a:ahLst/>
              <a:cxnLst/>
              <a:rect l="l" t="t" r="r" b="b"/>
              <a:pathLst>
                <a:path w="149860" h="154940">
                  <a:moveTo>
                    <a:pt x="149860" y="53340"/>
                  </a:moveTo>
                  <a:cubicBezTo>
                    <a:pt x="146050" y="107950"/>
                    <a:pt x="127000" y="137160"/>
                    <a:pt x="107950" y="146050"/>
                  </a:cubicBezTo>
                  <a:cubicBezTo>
                    <a:pt x="88900" y="154940"/>
                    <a:pt x="54610" y="149860"/>
                    <a:pt x="36830" y="142240"/>
                  </a:cubicBezTo>
                  <a:cubicBezTo>
                    <a:pt x="25400" y="135890"/>
                    <a:pt x="17780" y="125730"/>
                    <a:pt x="11430" y="115570"/>
                  </a:cubicBezTo>
                  <a:cubicBezTo>
                    <a:pt x="5080" y="105410"/>
                    <a:pt x="0" y="93980"/>
                    <a:pt x="1270" y="81280"/>
                  </a:cubicBezTo>
                  <a:cubicBezTo>
                    <a:pt x="1270" y="62230"/>
                    <a:pt x="16510" y="29210"/>
                    <a:pt x="29210" y="16510"/>
                  </a:cubicBezTo>
                  <a:cubicBezTo>
                    <a:pt x="39370" y="7620"/>
                    <a:pt x="49530" y="2540"/>
                    <a:pt x="63500" y="1270"/>
                  </a:cubicBezTo>
                  <a:cubicBezTo>
                    <a:pt x="81280" y="0"/>
                    <a:pt x="130810" y="22860"/>
                    <a:pt x="130810" y="22860"/>
                  </a:cubicBezTo>
                </a:path>
              </a:pathLst>
            </a:custGeom>
            <a:solidFill>
              <a:srgbClr val="717EEE"/>
            </a:solidFill>
            <a:ln cap="sq">
              <a:noFill/>
              <a:prstDash val="solid"/>
              <a:miter/>
            </a:ln>
          </p:spPr>
        </p:sp>
      </p:grpSp>
      <p:grpSp>
        <p:nvGrpSpPr>
          <p:cNvPr id="52" name="Group 52"/>
          <p:cNvGrpSpPr/>
          <p:nvPr/>
        </p:nvGrpSpPr>
        <p:grpSpPr>
          <a:xfrm>
            <a:off x="2853572" y="3740434"/>
            <a:ext cx="234616" cy="228721"/>
            <a:chOff x="0" y="0"/>
            <a:chExt cx="252730" cy="246380"/>
          </a:xfrm>
        </p:grpSpPr>
        <p:sp>
          <p:nvSpPr>
            <p:cNvPr id="53" name="Freeform 53"/>
            <p:cNvSpPr/>
            <p:nvPr/>
          </p:nvSpPr>
          <p:spPr>
            <a:xfrm>
              <a:off x="50800" y="49530"/>
              <a:ext cx="149860" cy="153670"/>
            </a:xfrm>
            <a:custGeom>
              <a:avLst/>
              <a:gdLst/>
              <a:ahLst/>
              <a:cxnLst/>
              <a:rect l="l" t="t" r="r" b="b"/>
              <a:pathLst>
                <a:path w="149860" h="153670">
                  <a:moveTo>
                    <a:pt x="149860" y="53340"/>
                  </a:moveTo>
                  <a:cubicBezTo>
                    <a:pt x="146050" y="107950"/>
                    <a:pt x="127000" y="137160"/>
                    <a:pt x="107950" y="146050"/>
                  </a:cubicBezTo>
                  <a:cubicBezTo>
                    <a:pt x="88900" y="153670"/>
                    <a:pt x="53340" y="148590"/>
                    <a:pt x="36830" y="140970"/>
                  </a:cubicBezTo>
                  <a:cubicBezTo>
                    <a:pt x="25400" y="135890"/>
                    <a:pt x="17780" y="125730"/>
                    <a:pt x="11430" y="115570"/>
                  </a:cubicBezTo>
                  <a:cubicBezTo>
                    <a:pt x="5080" y="105410"/>
                    <a:pt x="0" y="93980"/>
                    <a:pt x="0" y="81280"/>
                  </a:cubicBezTo>
                  <a:cubicBezTo>
                    <a:pt x="1270" y="62230"/>
                    <a:pt x="16510" y="29210"/>
                    <a:pt x="29210" y="16510"/>
                  </a:cubicBezTo>
                  <a:cubicBezTo>
                    <a:pt x="39370" y="6350"/>
                    <a:pt x="49530" y="2540"/>
                    <a:pt x="62230" y="1270"/>
                  </a:cubicBezTo>
                  <a:cubicBezTo>
                    <a:pt x="81280" y="0"/>
                    <a:pt x="130810" y="22860"/>
                    <a:pt x="130810" y="22860"/>
                  </a:cubicBezTo>
                </a:path>
              </a:pathLst>
            </a:custGeom>
            <a:solidFill>
              <a:srgbClr val="FF7784"/>
            </a:solidFill>
            <a:ln cap="sq">
              <a:noFill/>
              <a:prstDash val="solid"/>
              <a:miter/>
            </a:ln>
          </p:spPr>
        </p:sp>
      </p:grpSp>
      <p:sp>
        <p:nvSpPr>
          <p:cNvPr id="54" name="TextBox 54"/>
          <p:cNvSpPr txBox="1"/>
          <p:nvPr/>
        </p:nvSpPr>
        <p:spPr>
          <a:xfrm>
            <a:off x="969170" y="3750431"/>
            <a:ext cx="1407055" cy="333425"/>
          </a:xfrm>
          <a:prstGeom prst="rect">
            <a:avLst/>
          </a:prstGeom>
        </p:spPr>
        <p:txBody>
          <a:bodyPr lIns="0" tIns="0" rIns="0" bIns="0" rtlCol="0" anchor="t">
            <a:spAutoFit/>
          </a:bodyPr>
          <a:lstStyle/>
          <a:p>
            <a:pPr algn="ctr">
              <a:lnSpc>
                <a:spcPts val="1306"/>
              </a:lnSpc>
            </a:pPr>
            <a:r>
              <a:rPr lang="en-US" sz="933" b="1" dirty="0">
                <a:solidFill>
                  <a:srgbClr val="121A5D"/>
                </a:solidFill>
                <a:latin typeface="Canva Sans Bold"/>
                <a:ea typeface="Canva Sans Bold"/>
                <a:cs typeface="Canva Sans Bold"/>
                <a:sym typeface="Canva Sans Bold"/>
              </a:rPr>
              <a:t>CLIENT ACTUEL : 84%</a:t>
            </a:r>
          </a:p>
          <a:p>
            <a:pPr algn="ctr">
              <a:lnSpc>
                <a:spcPts val="1306"/>
              </a:lnSpc>
            </a:pPr>
            <a:r>
              <a:rPr lang="en-US" sz="933" b="1" dirty="0">
                <a:solidFill>
                  <a:srgbClr val="121A5D"/>
                </a:solidFill>
                <a:latin typeface="Canva Sans Bold"/>
                <a:ea typeface="Canva Sans Bold"/>
                <a:cs typeface="Canva Sans Bold"/>
                <a:sym typeface="Canva Sans Bold"/>
              </a:rPr>
              <a:t>C</a:t>
            </a:r>
            <a:r>
              <a:rPr lang="en-US" sz="933" b="1" dirty="0" smtClean="0">
                <a:solidFill>
                  <a:srgbClr val="121A5D"/>
                </a:solidFill>
                <a:latin typeface="Canva Sans Bold"/>
                <a:ea typeface="Canva Sans Bold"/>
                <a:cs typeface="Canva Sans Bold"/>
                <a:sym typeface="Canva Sans Bold"/>
              </a:rPr>
              <a:t>LIENT </a:t>
            </a:r>
            <a:r>
              <a:rPr lang="en-US" sz="933" b="1" dirty="0">
                <a:solidFill>
                  <a:srgbClr val="121A5D"/>
                </a:solidFill>
                <a:latin typeface="Canva Sans Bold"/>
                <a:ea typeface="Canva Sans Bold"/>
                <a:cs typeface="Canva Sans Bold"/>
                <a:sym typeface="Canva Sans Bold"/>
              </a:rPr>
              <a:t>PERDU : 16%</a:t>
            </a:r>
          </a:p>
        </p:txBody>
      </p:sp>
      <p:grpSp>
        <p:nvGrpSpPr>
          <p:cNvPr id="55" name="Group 55"/>
          <p:cNvGrpSpPr/>
          <p:nvPr/>
        </p:nvGrpSpPr>
        <p:grpSpPr>
          <a:xfrm>
            <a:off x="4703362" y="3759944"/>
            <a:ext cx="208267" cy="223468"/>
            <a:chOff x="0" y="0"/>
            <a:chExt cx="252730" cy="271177"/>
          </a:xfrm>
        </p:grpSpPr>
        <p:sp>
          <p:nvSpPr>
            <p:cNvPr id="56" name="Freeform 56"/>
            <p:cNvSpPr/>
            <p:nvPr/>
          </p:nvSpPr>
          <p:spPr>
            <a:xfrm>
              <a:off x="49530" y="54515"/>
              <a:ext cx="149860" cy="170534"/>
            </a:xfrm>
            <a:custGeom>
              <a:avLst/>
              <a:gdLst/>
              <a:ahLst/>
              <a:cxnLst/>
              <a:rect l="l" t="t" r="r" b="b"/>
              <a:pathLst>
                <a:path w="149860" h="170534">
                  <a:moveTo>
                    <a:pt x="149860" y="58708"/>
                  </a:moveTo>
                  <a:cubicBezTo>
                    <a:pt x="147320" y="118815"/>
                    <a:pt x="128270" y="150965"/>
                    <a:pt x="109220" y="160749"/>
                  </a:cubicBezTo>
                  <a:cubicBezTo>
                    <a:pt x="90170" y="170534"/>
                    <a:pt x="54610" y="164943"/>
                    <a:pt x="38100" y="156556"/>
                  </a:cubicBezTo>
                  <a:cubicBezTo>
                    <a:pt x="25400" y="149567"/>
                    <a:pt x="17780" y="138384"/>
                    <a:pt x="12700" y="127202"/>
                  </a:cubicBezTo>
                  <a:cubicBezTo>
                    <a:pt x="6350" y="116019"/>
                    <a:pt x="0" y="103439"/>
                    <a:pt x="1270" y="89461"/>
                  </a:cubicBezTo>
                  <a:cubicBezTo>
                    <a:pt x="2540" y="68493"/>
                    <a:pt x="17780" y="32150"/>
                    <a:pt x="30480" y="18172"/>
                  </a:cubicBezTo>
                  <a:cubicBezTo>
                    <a:pt x="39370" y="8387"/>
                    <a:pt x="50800" y="2796"/>
                    <a:pt x="63500" y="1398"/>
                  </a:cubicBezTo>
                  <a:cubicBezTo>
                    <a:pt x="82550" y="0"/>
                    <a:pt x="130810" y="25161"/>
                    <a:pt x="130810" y="25161"/>
                  </a:cubicBezTo>
                </a:path>
              </a:pathLst>
            </a:custGeom>
            <a:solidFill>
              <a:srgbClr val="FFBB54"/>
            </a:solidFill>
            <a:ln cap="sq">
              <a:noFill/>
              <a:prstDash val="solid"/>
              <a:miter/>
            </a:ln>
          </p:spPr>
        </p:sp>
      </p:grpSp>
      <p:grpSp>
        <p:nvGrpSpPr>
          <p:cNvPr id="57" name="Group 57"/>
          <p:cNvGrpSpPr/>
          <p:nvPr/>
        </p:nvGrpSpPr>
        <p:grpSpPr>
          <a:xfrm>
            <a:off x="6641604" y="3978854"/>
            <a:ext cx="212860" cy="200802"/>
            <a:chOff x="0" y="0"/>
            <a:chExt cx="251460" cy="237215"/>
          </a:xfrm>
        </p:grpSpPr>
        <p:sp>
          <p:nvSpPr>
            <p:cNvPr id="58" name="Freeform 58"/>
            <p:cNvSpPr/>
            <p:nvPr/>
          </p:nvSpPr>
          <p:spPr>
            <a:xfrm>
              <a:off x="49530" y="47688"/>
              <a:ext cx="149860" cy="145508"/>
            </a:xfrm>
            <a:custGeom>
              <a:avLst/>
              <a:gdLst/>
              <a:ahLst/>
              <a:cxnLst/>
              <a:rect l="l" t="t" r="r" b="b"/>
              <a:pathLst>
                <a:path w="149860" h="145508">
                  <a:moveTo>
                    <a:pt x="149860" y="51356"/>
                  </a:moveTo>
                  <a:cubicBezTo>
                    <a:pt x="129540" y="129612"/>
                    <a:pt x="120650" y="136949"/>
                    <a:pt x="107950" y="140617"/>
                  </a:cubicBezTo>
                  <a:cubicBezTo>
                    <a:pt x="90170" y="145508"/>
                    <a:pt x="54610" y="144285"/>
                    <a:pt x="36830" y="136949"/>
                  </a:cubicBezTo>
                  <a:cubicBezTo>
                    <a:pt x="25400" y="130835"/>
                    <a:pt x="17780" y="121053"/>
                    <a:pt x="11430" y="111271"/>
                  </a:cubicBezTo>
                  <a:cubicBezTo>
                    <a:pt x="5080" y="101489"/>
                    <a:pt x="0" y="90484"/>
                    <a:pt x="1270" y="78256"/>
                  </a:cubicBezTo>
                  <a:cubicBezTo>
                    <a:pt x="1270" y="59915"/>
                    <a:pt x="16510" y="28123"/>
                    <a:pt x="29210" y="15896"/>
                  </a:cubicBezTo>
                  <a:cubicBezTo>
                    <a:pt x="39370" y="7336"/>
                    <a:pt x="49530" y="2445"/>
                    <a:pt x="63500" y="1222"/>
                  </a:cubicBezTo>
                  <a:cubicBezTo>
                    <a:pt x="81280" y="0"/>
                    <a:pt x="130810" y="22009"/>
                    <a:pt x="130810" y="22009"/>
                  </a:cubicBezTo>
                </a:path>
              </a:pathLst>
            </a:custGeom>
            <a:solidFill>
              <a:srgbClr val="50D0BC"/>
            </a:solidFill>
            <a:ln cap="sq">
              <a:noFill/>
              <a:prstDash val="solid"/>
              <a:miter/>
            </a:ln>
          </p:spPr>
        </p:sp>
      </p:grpSp>
      <p:grpSp>
        <p:nvGrpSpPr>
          <p:cNvPr id="59" name="Group 59"/>
          <p:cNvGrpSpPr/>
          <p:nvPr/>
        </p:nvGrpSpPr>
        <p:grpSpPr>
          <a:xfrm>
            <a:off x="851963" y="3906174"/>
            <a:ext cx="200695" cy="195653"/>
            <a:chOff x="0" y="0"/>
            <a:chExt cx="252730" cy="246380"/>
          </a:xfrm>
        </p:grpSpPr>
        <p:sp>
          <p:nvSpPr>
            <p:cNvPr id="60" name="Freeform 60"/>
            <p:cNvSpPr/>
            <p:nvPr/>
          </p:nvSpPr>
          <p:spPr>
            <a:xfrm>
              <a:off x="49530" y="49530"/>
              <a:ext cx="149860" cy="153670"/>
            </a:xfrm>
            <a:custGeom>
              <a:avLst/>
              <a:gdLst/>
              <a:ahLst/>
              <a:cxnLst/>
              <a:rect l="l" t="t" r="r" b="b"/>
              <a:pathLst>
                <a:path w="149860" h="153670">
                  <a:moveTo>
                    <a:pt x="149860" y="53340"/>
                  </a:moveTo>
                  <a:cubicBezTo>
                    <a:pt x="147320" y="107950"/>
                    <a:pt x="127000" y="137160"/>
                    <a:pt x="107950" y="146050"/>
                  </a:cubicBezTo>
                  <a:cubicBezTo>
                    <a:pt x="88900" y="153670"/>
                    <a:pt x="54610" y="148590"/>
                    <a:pt x="38100" y="140970"/>
                  </a:cubicBezTo>
                  <a:cubicBezTo>
                    <a:pt x="25400" y="135890"/>
                    <a:pt x="17780" y="125730"/>
                    <a:pt x="11430" y="115570"/>
                  </a:cubicBezTo>
                  <a:cubicBezTo>
                    <a:pt x="6350" y="105410"/>
                    <a:pt x="0" y="93980"/>
                    <a:pt x="1270" y="80010"/>
                  </a:cubicBezTo>
                  <a:cubicBezTo>
                    <a:pt x="2540" y="62230"/>
                    <a:pt x="17780" y="29210"/>
                    <a:pt x="30480" y="16510"/>
                  </a:cubicBezTo>
                  <a:cubicBezTo>
                    <a:pt x="39370" y="6350"/>
                    <a:pt x="50800" y="1270"/>
                    <a:pt x="63500" y="1270"/>
                  </a:cubicBezTo>
                  <a:cubicBezTo>
                    <a:pt x="82550" y="0"/>
                    <a:pt x="130810" y="21590"/>
                    <a:pt x="130810" y="21590"/>
                  </a:cubicBezTo>
                </a:path>
              </a:pathLst>
            </a:custGeom>
            <a:solidFill>
              <a:srgbClr val="FFFFFF"/>
            </a:solidFill>
            <a:ln cap="sq">
              <a:noFill/>
              <a:prstDash val="solid"/>
              <a:miter/>
            </a:ln>
          </p:spPr>
        </p:sp>
      </p:grpSp>
      <p:grpSp>
        <p:nvGrpSpPr>
          <p:cNvPr id="61" name="Group 61"/>
          <p:cNvGrpSpPr/>
          <p:nvPr/>
        </p:nvGrpSpPr>
        <p:grpSpPr>
          <a:xfrm>
            <a:off x="2912386" y="3903309"/>
            <a:ext cx="208280" cy="203047"/>
            <a:chOff x="0" y="0"/>
            <a:chExt cx="252730" cy="246380"/>
          </a:xfrm>
        </p:grpSpPr>
        <p:sp>
          <p:nvSpPr>
            <p:cNvPr id="62" name="Freeform 62"/>
            <p:cNvSpPr/>
            <p:nvPr/>
          </p:nvSpPr>
          <p:spPr>
            <a:xfrm>
              <a:off x="49530" y="49530"/>
              <a:ext cx="149860" cy="154940"/>
            </a:xfrm>
            <a:custGeom>
              <a:avLst/>
              <a:gdLst/>
              <a:ahLst/>
              <a:cxnLst/>
              <a:rect l="l" t="t" r="r" b="b"/>
              <a:pathLst>
                <a:path w="149860" h="154940">
                  <a:moveTo>
                    <a:pt x="149860" y="53340"/>
                  </a:moveTo>
                  <a:cubicBezTo>
                    <a:pt x="146050" y="107950"/>
                    <a:pt x="127000" y="137160"/>
                    <a:pt x="107950" y="146050"/>
                  </a:cubicBezTo>
                  <a:cubicBezTo>
                    <a:pt x="88900" y="154940"/>
                    <a:pt x="54610" y="149860"/>
                    <a:pt x="36830" y="142240"/>
                  </a:cubicBezTo>
                  <a:cubicBezTo>
                    <a:pt x="25400" y="135890"/>
                    <a:pt x="17780" y="125730"/>
                    <a:pt x="11430" y="115570"/>
                  </a:cubicBezTo>
                  <a:cubicBezTo>
                    <a:pt x="5080" y="105410"/>
                    <a:pt x="0" y="93980"/>
                    <a:pt x="1270" y="81280"/>
                  </a:cubicBezTo>
                  <a:cubicBezTo>
                    <a:pt x="1270" y="62230"/>
                    <a:pt x="16510" y="29210"/>
                    <a:pt x="29210" y="16510"/>
                  </a:cubicBezTo>
                  <a:cubicBezTo>
                    <a:pt x="39370" y="7620"/>
                    <a:pt x="49530" y="2540"/>
                    <a:pt x="63500" y="1270"/>
                  </a:cubicBezTo>
                  <a:cubicBezTo>
                    <a:pt x="81280" y="0"/>
                    <a:pt x="130810" y="22860"/>
                    <a:pt x="130810" y="22860"/>
                  </a:cubicBezTo>
                </a:path>
              </a:pathLst>
            </a:custGeom>
            <a:solidFill>
              <a:srgbClr val="FFFFFF"/>
            </a:solidFill>
            <a:ln cap="sq">
              <a:noFill/>
              <a:prstDash val="solid"/>
              <a:miter/>
            </a:ln>
          </p:spPr>
        </p:sp>
      </p:grpSp>
      <p:grpSp>
        <p:nvGrpSpPr>
          <p:cNvPr id="63" name="Group 63"/>
          <p:cNvGrpSpPr/>
          <p:nvPr/>
        </p:nvGrpSpPr>
        <p:grpSpPr>
          <a:xfrm>
            <a:off x="4774308" y="3988491"/>
            <a:ext cx="167723" cy="167723"/>
            <a:chOff x="0" y="0"/>
            <a:chExt cx="246380" cy="246380"/>
          </a:xfrm>
        </p:grpSpPr>
        <p:sp>
          <p:nvSpPr>
            <p:cNvPr id="64" name="Freeform 64"/>
            <p:cNvSpPr/>
            <p:nvPr/>
          </p:nvSpPr>
          <p:spPr>
            <a:xfrm>
              <a:off x="45720" y="49530"/>
              <a:ext cx="147320" cy="154940"/>
            </a:xfrm>
            <a:custGeom>
              <a:avLst/>
              <a:gdLst/>
              <a:ahLst/>
              <a:cxnLst/>
              <a:rect l="l" t="t" r="r" b="b"/>
              <a:pathLst>
                <a:path w="147320" h="154940">
                  <a:moveTo>
                    <a:pt x="147320" y="53340"/>
                  </a:moveTo>
                  <a:cubicBezTo>
                    <a:pt x="143510" y="107950"/>
                    <a:pt x="124460" y="137160"/>
                    <a:pt x="105410" y="146050"/>
                  </a:cubicBezTo>
                  <a:cubicBezTo>
                    <a:pt x="86360" y="154940"/>
                    <a:pt x="52070" y="149860"/>
                    <a:pt x="35560" y="142240"/>
                  </a:cubicBezTo>
                  <a:cubicBezTo>
                    <a:pt x="22860" y="135890"/>
                    <a:pt x="15240" y="128270"/>
                    <a:pt x="8890" y="115570"/>
                  </a:cubicBezTo>
                  <a:cubicBezTo>
                    <a:pt x="1270" y="99060"/>
                    <a:pt x="0" y="62230"/>
                    <a:pt x="5080" y="45720"/>
                  </a:cubicBezTo>
                  <a:cubicBezTo>
                    <a:pt x="8890" y="33020"/>
                    <a:pt x="17780" y="24130"/>
                    <a:pt x="27940" y="16510"/>
                  </a:cubicBezTo>
                  <a:cubicBezTo>
                    <a:pt x="36830" y="8890"/>
                    <a:pt x="48260" y="2540"/>
                    <a:pt x="60960" y="1270"/>
                  </a:cubicBezTo>
                  <a:cubicBezTo>
                    <a:pt x="78740" y="0"/>
                    <a:pt x="128270" y="22860"/>
                    <a:pt x="128270" y="22860"/>
                  </a:cubicBezTo>
                </a:path>
              </a:pathLst>
            </a:custGeom>
            <a:solidFill>
              <a:srgbClr val="FFFFFF"/>
            </a:solidFill>
            <a:ln cap="sq">
              <a:noFill/>
              <a:prstDash val="solid"/>
              <a:miter/>
            </a:ln>
          </p:spPr>
        </p:sp>
      </p:grpSp>
      <p:grpSp>
        <p:nvGrpSpPr>
          <p:cNvPr id="65" name="Group 65"/>
          <p:cNvGrpSpPr/>
          <p:nvPr/>
        </p:nvGrpSpPr>
        <p:grpSpPr>
          <a:xfrm>
            <a:off x="6656154" y="3814278"/>
            <a:ext cx="152258" cy="149182"/>
            <a:chOff x="0" y="0"/>
            <a:chExt cx="251460" cy="246380"/>
          </a:xfrm>
        </p:grpSpPr>
        <p:sp>
          <p:nvSpPr>
            <p:cNvPr id="66" name="Freeform 66"/>
            <p:cNvSpPr/>
            <p:nvPr/>
          </p:nvSpPr>
          <p:spPr>
            <a:xfrm>
              <a:off x="49530" y="49530"/>
              <a:ext cx="149860" cy="151130"/>
            </a:xfrm>
            <a:custGeom>
              <a:avLst/>
              <a:gdLst/>
              <a:ahLst/>
              <a:cxnLst/>
              <a:rect l="l" t="t" r="r" b="b"/>
              <a:pathLst>
                <a:path w="149860" h="151130">
                  <a:moveTo>
                    <a:pt x="149860" y="53340"/>
                  </a:moveTo>
                  <a:cubicBezTo>
                    <a:pt x="130810" y="134620"/>
                    <a:pt x="120650" y="142240"/>
                    <a:pt x="109220" y="146050"/>
                  </a:cubicBezTo>
                  <a:cubicBezTo>
                    <a:pt x="91440" y="151130"/>
                    <a:pt x="54610" y="149860"/>
                    <a:pt x="38100" y="142240"/>
                  </a:cubicBezTo>
                  <a:cubicBezTo>
                    <a:pt x="25400" y="135890"/>
                    <a:pt x="17780" y="125730"/>
                    <a:pt x="12700" y="115570"/>
                  </a:cubicBezTo>
                  <a:cubicBezTo>
                    <a:pt x="6350" y="105410"/>
                    <a:pt x="0" y="93980"/>
                    <a:pt x="1270" y="81280"/>
                  </a:cubicBezTo>
                  <a:cubicBezTo>
                    <a:pt x="2540" y="62230"/>
                    <a:pt x="17780" y="29210"/>
                    <a:pt x="30480" y="16510"/>
                  </a:cubicBezTo>
                  <a:cubicBezTo>
                    <a:pt x="39370" y="7620"/>
                    <a:pt x="50800" y="2540"/>
                    <a:pt x="63500" y="1270"/>
                  </a:cubicBezTo>
                  <a:cubicBezTo>
                    <a:pt x="82550" y="0"/>
                    <a:pt x="130810" y="22860"/>
                    <a:pt x="130810" y="22860"/>
                  </a:cubicBezTo>
                </a:path>
              </a:pathLst>
            </a:custGeom>
            <a:solidFill>
              <a:srgbClr val="FFFFFF"/>
            </a:solidFill>
            <a:ln cap="sq">
              <a:noFill/>
              <a:prstDash val="solid"/>
              <a:miter/>
            </a:ln>
          </p:spPr>
        </p:sp>
      </p:grpSp>
      <p:sp>
        <p:nvSpPr>
          <p:cNvPr id="2" name="Rectangle 1"/>
          <p:cNvSpPr/>
          <p:nvPr/>
        </p:nvSpPr>
        <p:spPr>
          <a:xfrm>
            <a:off x="1491009" y="416471"/>
            <a:ext cx="5808743" cy="677108"/>
          </a:xfrm>
          <a:prstGeom prst="rect">
            <a:avLst/>
          </a:prstGeom>
        </p:spPr>
        <p:txBody>
          <a:bodyPr wrap="square">
            <a:spAutoFit/>
          </a:bodyPr>
          <a:lstStyle/>
          <a:p>
            <a:r>
              <a:rPr lang="fr-FR" sz="2000" b="1" dirty="0">
                <a:solidFill>
                  <a:schemeClr val="dk2"/>
                </a:solidFill>
                <a:latin typeface="Maven Pro"/>
                <a:ea typeface="Maven Pro"/>
                <a:cs typeface="Maven Pro"/>
                <a:sym typeface="Maven Pro"/>
              </a:rPr>
              <a:t>Répartition des clients par type de </a:t>
            </a:r>
            <a:r>
              <a:rPr lang="fr-FR" sz="2000" b="1" dirty="0">
                <a:solidFill>
                  <a:schemeClr val="dk2"/>
                </a:solidFill>
                <a:latin typeface="Maven Pro"/>
                <a:ea typeface="Maven Pro"/>
                <a:cs typeface="Maven Pro"/>
                <a:sym typeface="Maven Pro"/>
              </a:rPr>
              <a:t>carte.</a:t>
            </a:r>
            <a:r>
              <a:rPr lang="fr-FR" sz="2000" b="1" dirty="0">
                <a:solidFill>
                  <a:schemeClr val="dk2"/>
                </a:solidFill>
                <a:latin typeface="Maven Pro"/>
                <a:ea typeface="Maven Pro"/>
                <a:cs typeface="Maven Pro"/>
                <a:sym typeface="Maven Pro"/>
              </a:rPr>
              <a:t/>
            </a:r>
            <a:br>
              <a:rPr lang="fr-FR" sz="2000" b="1" dirty="0">
                <a:solidFill>
                  <a:schemeClr val="dk2"/>
                </a:solidFill>
                <a:latin typeface="Maven Pro"/>
                <a:ea typeface="Maven Pro"/>
                <a:cs typeface="Maven Pro"/>
                <a:sym typeface="Maven Pro"/>
              </a:rPr>
            </a:br>
            <a:r>
              <a:rPr lang="fr-FR" sz="1800" dirty="0">
                <a:solidFill>
                  <a:schemeClr val="dk2"/>
                </a:solidFill>
                <a:latin typeface="Maven Pro"/>
                <a:ea typeface="Maven Pro"/>
                <a:cs typeface="Maven Pro"/>
                <a:sym typeface="Maven Pro"/>
              </a:rPr>
              <a:t>L’analyse des données – Profil client</a:t>
            </a:r>
          </a:p>
        </p:txBody>
      </p:sp>
    </p:spTree>
    <p:extLst>
      <p:ext uri="{BB962C8B-B14F-4D97-AF65-F5344CB8AC3E}">
        <p14:creationId xmlns:p14="http://schemas.microsoft.com/office/powerpoint/2010/main" val="2615926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 name="Espace réservé du texte 1"/>
          <p:cNvSpPr>
            <a:spLocks noGrp="1"/>
          </p:cNvSpPr>
          <p:nvPr>
            <p:ph type="body" idx="1"/>
          </p:nvPr>
        </p:nvSpPr>
        <p:spPr>
          <a:xfrm>
            <a:off x="1105174" y="3854953"/>
            <a:ext cx="7986199" cy="763096"/>
          </a:xfrm>
        </p:spPr>
        <p:txBody>
          <a:bodyPr>
            <a:noAutofit/>
          </a:bodyPr>
          <a:lstStyle/>
          <a:p>
            <a:r>
              <a:rPr lang="fr-FR" sz="1200" dirty="0"/>
              <a:t>Les clients actuels sont majoritairement émis de la tranche "Moins de 40K€</a:t>
            </a:r>
            <a:r>
              <a:rPr lang="fr-FR" sz="1200" dirty="0" smtClean="0"/>
              <a:t>", </a:t>
            </a:r>
            <a:r>
              <a:rPr lang="fr-FR" sz="1200" dirty="0"/>
              <a:t>tandis que les </a:t>
            </a:r>
            <a:r>
              <a:rPr lang="fr-FR" sz="1200" dirty="0" smtClean="0"/>
              <a:t>clients</a:t>
            </a:r>
          </a:p>
          <a:p>
            <a:r>
              <a:rPr lang="fr-FR" sz="1200" dirty="0"/>
              <a:t>P</a:t>
            </a:r>
            <a:r>
              <a:rPr lang="fr-FR" sz="1200" dirty="0" smtClean="0"/>
              <a:t>erdus </a:t>
            </a:r>
            <a:r>
              <a:rPr lang="fr-FR" sz="1200" dirty="0"/>
              <a:t>sont plus diversifiés, avec une proportion notable dans la tranche 40K€-60K€ </a:t>
            </a:r>
            <a:r>
              <a:rPr lang="fr-FR" sz="1200" dirty="0" smtClean="0"/>
              <a:t>. </a:t>
            </a:r>
            <a:r>
              <a:rPr lang="fr-FR" sz="1200" dirty="0" smtClean="0"/>
              <a:t>On pourra offrir</a:t>
            </a:r>
          </a:p>
          <a:p>
            <a:r>
              <a:rPr lang="fr-FR" sz="1200" dirty="0"/>
              <a:t>D</a:t>
            </a:r>
            <a:r>
              <a:rPr lang="fr-FR" sz="1200" dirty="0" smtClean="0"/>
              <a:t>es </a:t>
            </a:r>
            <a:r>
              <a:rPr lang="fr-FR" sz="1200" dirty="0"/>
              <a:t>solutions adaptées aux revenus modestes, comme des frais réduits, des options de crédit flexibles, et </a:t>
            </a:r>
            <a:r>
              <a:rPr lang="fr-FR" sz="1200" dirty="0" smtClean="0"/>
              <a:t>des</a:t>
            </a:r>
          </a:p>
          <a:p>
            <a:r>
              <a:rPr lang="fr-FR" sz="1200" dirty="0"/>
              <a:t>O</a:t>
            </a:r>
            <a:r>
              <a:rPr lang="fr-FR" sz="1200" dirty="0" smtClean="0"/>
              <a:t>utils </a:t>
            </a:r>
            <a:r>
              <a:rPr lang="fr-FR" sz="1200" dirty="0"/>
              <a:t>d'éducation financière pour renforcer leur engagement avec la banque.</a:t>
            </a:r>
          </a:p>
        </p:txBody>
      </p:sp>
      <p:sp>
        <p:nvSpPr>
          <p:cNvPr id="288" name="Google Shape;288;p3"/>
          <p:cNvSpPr txBox="1">
            <a:spLocks noGrp="1"/>
          </p:cNvSpPr>
          <p:nvPr>
            <p:ph type="title" idx="4294967295"/>
          </p:nvPr>
        </p:nvSpPr>
        <p:spPr>
          <a:xfrm>
            <a:off x="1476714" y="165124"/>
            <a:ext cx="5843588" cy="867688"/>
          </a:xfrm>
          <a:prstGeom prst="rect">
            <a:avLst/>
          </a:prstGeom>
          <a:noFill/>
          <a:ln>
            <a:noFill/>
          </a:ln>
        </p:spPr>
        <p:txBody>
          <a:bodyPr spcFirstLastPara="1" wrap="square" lIns="91425" tIns="91425" rIns="91425" bIns="91425" anchor="t" anchorCtr="0">
            <a:normAutofit fontScale="90000"/>
          </a:bodyPr>
          <a:lstStyle/>
          <a:p>
            <a:pPr lvl="0">
              <a:buSzPct val="111111"/>
            </a:pPr>
            <a:r>
              <a:rPr lang="fr-FR" sz="2200" dirty="0">
                <a:sym typeface="Arial"/>
              </a:rPr>
              <a:t>Répartition </a:t>
            </a:r>
            <a:r>
              <a:rPr lang="fr-FR" sz="2200" dirty="0">
                <a:sym typeface="Arial"/>
              </a:rPr>
              <a:t>par </a:t>
            </a:r>
            <a:r>
              <a:rPr lang="fr-FR" sz="2200" dirty="0">
                <a:sym typeface="Arial"/>
              </a:rPr>
              <a:t>Catégorie de </a:t>
            </a:r>
            <a:r>
              <a:rPr lang="fr-FR" sz="2200" dirty="0">
                <a:sym typeface="Arial"/>
              </a:rPr>
              <a:t>revenu.</a:t>
            </a:r>
            <a:r>
              <a:rPr lang="fr-FR" sz="2200" dirty="0">
                <a:sym typeface="Arial"/>
              </a:rPr>
              <a:t/>
            </a:r>
            <a:br>
              <a:rPr lang="fr-FR" sz="2200" dirty="0">
                <a:sym typeface="Arial"/>
              </a:rPr>
            </a:br>
            <a:r>
              <a:rPr lang="fr-FR" sz="2000" b="0" dirty="0" smtClean="0"/>
              <a:t>L’analyse des données – Profil client</a:t>
            </a:r>
            <a:r>
              <a:rPr lang="fr-FR" dirty="0"/>
              <a:t/>
            </a:r>
            <a:br>
              <a:rPr lang="fr-FR" dirty="0"/>
            </a:br>
            <a:endParaRPr b="0" dirty="0"/>
          </a:p>
        </p:txBody>
      </p:sp>
      <p:graphicFrame>
        <p:nvGraphicFramePr>
          <p:cNvPr id="5" name="Graphique 4"/>
          <p:cNvGraphicFramePr>
            <a:graphicFrameLocks/>
          </p:cNvGraphicFramePr>
          <p:nvPr>
            <p:extLst>
              <p:ext uri="{D42A27DB-BD31-4B8C-83A1-F6EECF244321}">
                <p14:modId xmlns:p14="http://schemas.microsoft.com/office/powerpoint/2010/main" val="884977901"/>
              </p:ext>
            </p:extLst>
          </p:nvPr>
        </p:nvGraphicFramePr>
        <p:xfrm>
          <a:off x="1236743" y="976484"/>
          <a:ext cx="6374486"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718496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 name="Espace réservé du texte 1"/>
          <p:cNvSpPr>
            <a:spLocks noGrp="1"/>
          </p:cNvSpPr>
          <p:nvPr>
            <p:ph type="body" idx="1"/>
          </p:nvPr>
        </p:nvSpPr>
        <p:spPr>
          <a:xfrm>
            <a:off x="1303800" y="4138975"/>
            <a:ext cx="7491544" cy="952720"/>
          </a:xfrm>
        </p:spPr>
        <p:txBody>
          <a:bodyPr>
            <a:noAutofit/>
          </a:bodyPr>
          <a:lstStyle/>
          <a:p>
            <a:r>
              <a:rPr lang="fr-FR" sz="1200" dirty="0">
                <a:solidFill>
                  <a:schemeClr val="bg2"/>
                </a:solidFill>
                <a:latin typeface="Nunito" panose="020B0604020202020204" charset="0"/>
              </a:rPr>
              <a:t>La majorité des clients actuels sont des célibataires ou des mariés, tandis </a:t>
            </a:r>
            <a:r>
              <a:rPr lang="fr-FR" sz="1200" dirty="0" smtClean="0">
                <a:solidFill>
                  <a:schemeClr val="bg2"/>
                </a:solidFill>
                <a:latin typeface="Nunito" panose="020B0604020202020204" charset="0"/>
              </a:rPr>
              <a:t>que les </a:t>
            </a:r>
            <a:r>
              <a:rPr lang="fr-FR" sz="1200" dirty="0">
                <a:solidFill>
                  <a:schemeClr val="bg2"/>
                </a:solidFill>
                <a:latin typeface="Nunito" panose="020B0604020202020204" charset="0"/>
              </a:rPr>
              <a:t>clients perdus </a:t>
            </a:r>
            <a:r>
              <a:rPr lang="fr-FR" sz="1200" dirty="0" smtClean="0">
                <a:solidFill>
                  <a:schemeClr val="bg2"/>
                </a:solidFill>
                <a:latin typeface="Nunito" panose="020B0604020202020204" charset="0"/>
              </a:rPr>
              <a:t>sont</a:t>
            </a:r>
          </a:p>
          <a:p>
            <a:r>
              <a:rPr lang="fr-FR" sz="1200" dirty="0">
                <a:solidFill>
                  <a:schemeClr val="bg2"/>
                </a:solidFill>
                <a:latin typeface="Nunito" panose="020B0604020202020204" charset="0"/>
              </a:rPr>
              <a:t>P</a:t>
            </a:r>
            <a:r>
              <a:rPr lang="fr-FR" sz="1200" dirty="0" smtClean="0">
                <a:solidFill>
                  <a:schemeClr val="bg2"/>
                </a:solidFill>
                <a:latin typeface="Nunito" panose="020B0604020202020204" charset="0"/>
              </a:rPr>
              <a:t>rincipalement </a:t>
            </a:r>
            <a:r>
              <a:rPr lang="fr-FR" sz="1200" dirty="0">
                <a:solidFill>
                  <a:schemeClr val="bg2"/>
                </a:solidFill>
                <a:latin typeface="Nunito" panose="020B0604020202020204" charset="0"/>
              </a:rPr>
              <a:t>des mariés. Adapter les offres </a:t>
            </a:r>
            <a:r>
              <a:rPr lang="fr-FR" sz="1200" dirty="0" smtClean="0">
                <a:solidFill>
                  <a:schemeClr val="bg2"/>
                </a:solidFill>
                <a:latin typeface="Nunito" panose="020B0604020202020204" charset="0"/>
              </a:rPr>
              <a:t>aux besoins </a:t>
            </a:r>
            <a:r>
              <a:rPr lang="fr-FR" sz="1200" dirty="0">
                <a:solidFill>
                  <a:schemeClr val="bg2"/>
                </a:solidFill>
                <a:latin typeface="Nunito" panose="020B0604020202020204" charset="0"/>
              </a:rPr>
              <a:t>de ces groupes en mettant l’accent sur </a:t>
            </a:r>
            <a:r>
              <a:rPr lang="fr-FR" sz="1200" dirty="0" smtClean="0">
                <a:solidFill>
                  <a:schemeClr val="bg2"/>
                </a:solidFill>
                <a:latin typeface="Nunito" panose="020B0604020202020204" charset="0"/>
              </a:rPr>
              <a:t>des</a:t>
            </a:r>
          </a:p>
          <a:p>
            <a:r>
              <a:rPr lang="fr-FR" sz="1200" dirty="0">
                <a:solidFill>
                  <a:schemeClr val="bg2"/>
                </a:solidFill>
                <a:latin typeface="Nunito" panose="020B0604020202020204" charset="0"/>
              </a:rPr>
              <a:t>P</a:t>
            </a:r>
            <a:r>
              <a:rPr lang="fr-FR" sz="1200" dirty="0" smtClean="0">
                <a:solidFill>
                  <a:schemeClr val="bg2"/>
                </a:solidFill>
                <a:latin typeface="Nunito" panose="020B0604020202020204" charset="0"/>
              </a:rPr>
              <a:t>roduits personnalisés , comme </a:t>
            </a:r>
            <a:r>
              <a:rPr lang="fr-FR" sz="1200" dirty="0">
                <a:solidFill>
                  <a:schemeClr val="bg2"/>
                </a:solidFill>
                <a:latin typeface="Nunito" panose="020B0604020202020204" charset="0"/>
              </a:rPr>
              <a:t>des solutions d'épargne et d'investissement adaptées aux </a:t>
            </a:r>
            <a:r>
              <a:rPr lang="fr-FR" sz="1200" dirty="0" smtClean="0">
                <a:solidFill>
                  <a:schemeClr val="bg2"/>
                </a:solidFill>
                <a:latin typeface="Nunito" panose="020B0604020202020204" charset="0"/>
              </a:rPr>
              <a:t>situations</a:t>
            </a:r>
          </a:p>
          <a:p>
            <a:r>
              <a:rPr lang="fr-FR" sz="1200" dirty="0">
                <a:solidFill>
                  <a:schemeClr val="bg2"/>
                </a:solidFill>
                <a:latin typeface="Nunito" panose="020B0604020202020204" charset="0"/>
              </a:rPr>
              <a:t>I</a:t>
            </a:r>
            <a:r>
              <a:rPr lang="fr-FR" sz="1200" dirty="0" smtClean="0">
                <a:solidFill>
                  <a:schemeClr val="bg2"/>
                </a:solidFill>
                <a:latin typeface="Nunito" panose="020B0604020202020204" charset="0"/>
              </a:rPr>
              <a:t>ndividuelles</a:t>
            </a:r>
            <a:r>
              <a:rPr lang="fr-FR" sz="1200" dirty="0">
                <a:solidFill>
                  <a:schemeClr val="bg2"/>
                </a:solidFill>
                <a:latin typeface="Nunito" panose="020B0604020202020204" charset="0"/>
              </a:rPr>
              <a:t>.</a:t>
            </a:r>
          </a:p>
        </p:txBody>
      </p:sp>
      <p:sp>
        <p:nvSpPr>
          <p:cNvPr id="299" name="Google Shape;299;p4"/>
          <p:cNvSpPr txBox="1">
            <a:spLocks noGrp="1"/>
          </p:cNvSpPr>
          <p:nvPr>
            <p:ph type="title" idx="4294967295"/>
          </p:nvPr>
        </p:nvSpPr>
        <p:spPr>
          <a:xfrm>
            <a:off x="1369584" y="92097"/>
            <a:ext cx="6269038" cy="1144645"/>
          </a:xfrm>
          <a:prstGeom prst="rect">
            <a:avLst/>
          </a:prstGeom>
          <a:noFill/>
          <a:ln>
            <a:noFill/>
          </a:ln>
        </p:spPr>
        <p:txBody>
          <a:bodyPr spcFirstLastPara="1" wrap="square" lIns="91425" tIns="91425" rIns="91425" bIns="91425" anchor="t" anchorCtr="0">
            <a:normAutofit/>
          </a:bodyPr>
          <a:lstStyle/>
          <a:p>
            <a:pPr lvl="0">
              <a:buClr>
                <a:srgbClr val="000000"/>
              </a:buClr>
              <a:buSzPct val="141414"/>
              <a:buFont typeface="Arial"/>
            </a:pPr>
            <a:r>
              <a:rPr lang="fr-FR" sz="2200" dirty="0"/>
              <a:t>Répartition </a:t>
            </a:r>
            <a:r>
              <a:rPr lang="fr-FR" sz="2200" dirty="0"/>
              <a:t>des clients par Statut </a:t>
            </a:r>
            <a:r>
              <a:rPr lang="fr-FR" sz="2200" dirty="0"/>
              <a:t>marital.</a:t>
            </a:r>
            <a:r>
              <a:rPr lang="fr-FR" b="0" dirty="0" smtClean="0"/>
              <a:t/>
            </a:r>
            <a:br>
              <a:rPr lang="fr-FR" b="0" dirty="0" smtClean="0"/>
            </a:br>
            <a:r>
              <a:rPr lang="fr-FR" sz="1800" b="0" dirty="0">
                <a:sym typeface="Arial"/>
              </a:rPr>
              <a:t>L’analyse </a:t>
            </a:r>
            <a:r>
              <a:rPr lang="fr-FR" sz="1800" b="0" dirty="0">
                <a:sym typeface="Arial"/>
              </a:rPr>
              <a:t>des données – Profil client</a:t>
            </a:r>
            <a:endParaRPr sz="1800" b="0" dirty="0">
              <a:sym typeface="Arial"/>
            </a:endParaRPr>
          </a:p>
        </p:txBody>
      </p:sp>
      <p:graphicFrame>
        <p:nvGraphicFramePr>
          <p:cNvPr id="4" name="Graphique 3"/>
          <p:cNvGraphicFramePr>
            <a:graphicFrameLocks/>
          </p:cNvGraphicFramePr>
          <p:nvPr>
            <p:extLst>
              <p:ext uri="{D42A27DB-BD31-4B8C-83A1-F6EECF244321}">
                <p14:modId xmlns:p14="http://schemas.microsoft.com/office/powerpoint/2010/main" val="1181686122"/>
              </p:ext>
            </p:extLst>
          </p:nvPr>
        </p:nvGraphicFramePr>
        <p:xfrm>
          <a:off x="890098" y="1395775"/>
          <a:ext cx="6682740" cy="27432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 name="Espace réservé du texte 1"/>
          <p:cNvSpPr>
            <a:spLocks noGrp="1"/>
          </p:cNvSpPr>
          <p:nvPr>
            <p:ph type="body" idx="1"/>
          </p:nvPr>
        </p:nvSpPr>
        <p:spPr>
          <a:xfrm>
            <a:off x="980185" y="3960208"/>
            <a:ext cx="7966464" cy="986762"/>
          </a:xfrm>
        </p:spPr>
        <p:txBody>
          <a:bodyPr>
            <a:noAutofit/>
          </a:bodyPr>
          <a:lstStyle/>
          <a:p>
            <a:r>
              <a:rPr lang="fr-FR" sz="1200" dirty="0"/>
              <a:t>Les clients actuels ont un montant moyen de crédit renouvelé presque deux fois supérieur </a:t>
            </a:r>
            <a:r>
              <a:rPr lang="fr-FR" sz="1200" dirty="0" smtClean="0"/>
              <a:t>à celui </a:t>
            </a:r>
            <a:r>
              <a:rPr lang="fr-FR" sz="1200" dirty="0"/>
              <a:t>des </a:t>
            </a:r>
            <a:r>
              <a:rPr lang="fr-FR" sz="1200" dirty="0" smtClean="0"/>
              <a:t>clients</a:t>
            </a:r>
          </a:p>
          <a:p>
            <a:r>
              <a:rPr lang="fr-FR" sz="1200" dirty="0"/>
              <a:t>P</a:t>
            </a:r>
            <a:r>
              <a:rPr lang="fr-FR" sz="1200" dirty="0" smtClean="0"/>
              <a:t>erdus</a:t>
            </a:r>
            <a:r>
              <a:rPr lang="fr-FR" sz="1200" dirty="0"/>
              <a:t>, indiquant une plus grande interaction financière avec l'entreprise</a:t>
            </a:r>
            <a:r>
              <a:rPr lang="fr-FR" sz="1200" dirty="0" smtClean="0"/>
              <a:t>. Pour passer à l’action la banque doit </a:t>
            </a:r>
            <a:endParaRPr lang="fr-FR" sz="1200" dirty="0"/>
          </a:p>
          <a:p>
            <a:r>
              <a:rPr lang="fr-FR" sz="1200" dirty="0" smtClean="0"/>
              <a:t>Proposer </a:t>
            </a:r>
            <a:r>
              <a:rPr lang="fr-FR" sz="1200" dirty="0"/>
              <a:t>des solutions pour augmenter l'utilisation du crédit renouvelé, comme des incitations </a:t>
            </a:r>
            <a:r>
              <a:rPr lang="fr-FR" sz="1200" dirty="0" smtClean="0"/>
              <a:t>financières</a:t>
            </a:r>
          </a:p>
          <a:p>
            <a:r>
              <a:rPr lang="fr-FR" sz="1200" dirty="0" smtClean="0"/>
              <a:t>(réductions </a:t>
            </a:r>
            <a:r>
              <a:rPr lang="fr-FR" sz="1200" dirty="0"/>
              <a:t>ou bonus pour une utilisation fréquente</a:t>
            </a:r>
            <a:r>
              <a:rPr lang="fr-FR" sz="1200" dirty="0" smtClean="0"/>
              <a:t>).</a:t>
            </a:r>
            <a:endParaRPr lang="fr-FR" sz="1200" dirty="0"/>
          </a:p>
        </p:txBody>
      </p:sp>
      <p:sp>
        <p:nvSpPr>
          <p:cNvPr id="299" name="Google Shape;299;p4"/>
          <p:cNvSpPr txBox="1">
            <a:spLocks noGrp="1"/>
          </p:cNvSpPr>
          <p:nvPr>
            <p:ph type="title" idx="4294967295"/>
          </p:nvPr>
        </p:nvSpPr>
        <p:spPr>
          <a:xfrm>
            <a:off x="1270368" y="85520"/>
            <a:ext cx="6269038" cy="99783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41414"/>
              <a:buNone/>
            </a:pPr>
            <a:r>
              <a:rPr lang="fr-FR" sz="2400" dirty="0"/>
              <a:t>M</a:t>
            </a:r>
            <a:r>
              <a:rPr lang="fr-FR" sz="2400" dirty="0"/>
              <a:t>o</a:t>
            </a:r>
            <a:r>
              <a:rPr lang="fr-FR" sz="2400" dirty="0"/>
              <a:t>yenne de montant Crédit </a:t>
            </a:r>
            <a:r>
              <a:rPr lang="fr-FR" sz="2400" dirty="0"/>
              <a:t>renouvelé .</a:t>
            </a:r>
            <a:r>
              <a:rPr lang="fr-FR" dirty="0"/>
              <a:t/>
            </a:r>
            <a:br>
              <a:rPr lang="fr-FR" dirty="0"/>
            </a:br>
            <a:r>
              <a:rPr lang="fr-FR" sz="2000" b="0" dirty="0"/>
              <a:t>L’analyse des données – </a:t>
            </a:r>
            <a:r>
              <a:rPr lang="fr-FR" sz="2000" b="0" dirty="0" smtClean="0"/>
              <a:t>habitudes </a:t>
            </a:r>
            <a:r>
              <a:rPr lang="fr-FR" sz="2000" b="0" dirty="0"/>
              <a:t>d’utilisation</a:t>
            </a:r>
            <a:r>
              <a:rPr lang="fr-FR" dirty="0"/>
              <a:t/>
            </a:r>
            <a:br>
              <a:rPr lang="fr-FR" dirty="0"/>
            </a:br>
            <a:endParaRPr b="0" dirty="0"/>
          </a:p>
        </p:txBody>
      </p:sp>
      <p:graphicFrame>
        <p:nvGraphicFramePr>
          <p:cNvPr id="6" name="Graphique 5"/>
          <p:cNvGraphicFramePr>
            <a:graphicFrameLocks/>
          </p:cNvGraphicFramePr>
          <p:nvPr>
            <p:extLst>
              <p:ext uri="{D42A27DB-BD31-4B8C-83A1-F6EECF244321}">
                <p14:modId xmlns:p14="http://schemas.microsoft.com/office/powerpoint/2010/main" val="1840024950"/>
              </p:ext>
            </p:extLst>
          </p:nvPr>
        </p:nvGraphicFramePr>
        <p:xfrm>
          <a:off x="1319856" y="661851"/>
          <a:ext cx="6012180" cy="313389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001234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1138066" y="4138974"/>
            <a:ext cx="7854630" cy="683005"/>
          </a:xfrm>
        </p:spPr>
        <p:txBody>
          <a:bodyPr>
            <a:noAutofit/>
          </a:bodyPr>
          <a:lstStyle/>
          <a:p>
            <a:r>
              <a:rPr lang="fr-FR" sz="1200" dirty="0">
                <a:solidFill>
                  <a:schemeClr val="bg2"/>
                </a:solidFill>
                <a:latin typeface="Nunito" panose="020B0604020202020204" charset="0"/>
              </a:rPr>
              <a:t>Les clients actuels réalisent en moyenne plus de transactions (</a:t>
            </a:r>
            <a:r>
              <a:rPr lang="fr-FR" sz="1200" dirty="0" smtClean="0">
                <a:solidFill>
                  <a:schemeClr val="bg2"/>
                </a:solidFill>
                <a:latin typeface="Nunito" panose="020B0604020202020204" charset="0"/>
              </a:rPr>
              <a:t>69) </a:t>
            </a:r>
            <a:r>
              <a:rPr lang="fr-FR" sz="1200" dirty="0">
                <a:solidFill>
                  <a:schemeClr val="bg2"/>
                </a:solidFill>
                <a:latin typeface="Nunito" panose="020B0604020202020204" charset="0"/>
              </a:rPr>
              <a:t>que les clients perdus (</a:t>
            </a:r>
            <a:r>
              <a:rPr lang="fr-FR" sz="1200" dirty="0" smtClean="0">
                <a:solidFill>
                  <a:schemeClr val="bg2"/>
                </a:solidFill>
                <a:latin typeface="Nunito" panose="020B0604020202020204" charset="0"/>
              </a:rPr>
              <a:t>45), </a:t>
            </a:r>
            <a:r>
              <a:rPr lang="fr-FR" sz="1200" dirty="0">
                <a:solidFill>
                  <a:schemeClr val="bg2"/>
                </a:solidFill>
                <a:latin typeface="Nunito" panose="020B0604020202020204" charset="0"/>
              </a:rPr>
              <a:t>ce </a:t>
            </a:r>
            <a:r>
              <a:rPr lang="fr-FR" sz="1200" dirty="0" smtClean="0">
                <a:solidFill>
                  <a:schemeClr val="bg2"/>
                </a:solidFill>
                <a:latin typeface="Nunito" panose="020B0604020202020204" charset="0"/>
              </a:rPr>
              <a:t>qui</a:t>
            </a:r>
          </a:p>
          <a:p>
            <a:r>
              <a:rPr lang="fr-FR" sz="1200" dirty="0">
                <a:solidFill>
                  <a:schemeClr val="bg2"/>
                </a:solidFill>
                <a:latin typeface="Nunito" panose="020B0604020202020204" charset="0"/>
              </a:rPr>
              <a:t>R</a:t>
            </a:r>
            <a:r>
              <a:rPr lang="fr-FR" sz="1200" dirty="0" smtClean="0">
                <a:solidFill>
                  <a:schemeClr val="bg2"/>
                </a:solidFill>
                <a:latin typeface="Nunito" panose="020B0604020202020204" charset="0"/>
              </a:rPr>
              <a:t>eflète </a:t>
            </a:r>
            <a:r>
              <a:rPr lang="fr-FR" sz="1200" dirty="0">
                <a:solidFill>
                  <a:schemeClr val="bg2"/>
                </a:solidFill>
                <a:latin typeface="Nunito" panose="020B0604020202020204" charset="0"/>
              </a:rPr>
              <a:t>une plus grande activité et engagement. Pour y remédier, il est nécessaire de dynamiser leur </a:t>
            </a:r>
            <a:r>
              <a:rPr lang="fr-FR" sz="1200" dirty="0" smtClean="0">
                <a:solidFill>
                  <a:schemeClr val="bg2"/>
                </a:solidFill>
                <a:latin typeface="Nunito" panose="020B0604020202020204" charset="0"/>
              </a:rPr>
              <a:t>usage</a:t>
            </a:r>
          </a:p>
          <a:p>
            <a:r>
              <a:rPr lang="fr-FR" sz="1200" dirty="0">
                <a:solidFill>
                  <a:schemeClr val="bg2"/>
                </a:solidFill>
                <a:latin typeface="Nunito" panose="020B0604020202020204" charset="0"/>
              </a:rPr>
              <a:t>D</a:t>
            </a:r>
            <a:r>
              <a:rPr lang="fr-FR" sz="1200" dirty="0" smtClean="0">
                <a:solidFill>
                  <a:schemeClr val="bg2"/>
                </a:solidFill>
                <a:latin typeface="Nunito" panose="020B0604020202020204" charset="0"/>
              </a:rPr>
              <a:t>es </a:t>
            </a:r>
            <a:r>
              <a:rPr lang="fr-FR" sz="1200" dirty="0">
                <a:solidFill>
                  <a:schemeClr val="bg2"/>
                </a:solidFill>
                <a:latin typeface="Nunito" panose="020B0604020202020204" charset="0"/>
              </a:rPr>
              <a:t>produits bancaires à travers des offres incitatives ou des programmes de récompenses attractifs</a:t>
            </a:r>
            <a:r>
              <a:rPr lang="fr-FR" sz="1200" dirty="0"/>
              <a:t>.</a:t>
            </a:r>
          </a:p>
        </p:txBody>
      </p:sp>
      <p:sp>
        <p:nvSpPr>
          <p:cNvPr id="2" name="Titre 1"/>
          <p:cNvSpPr>
            <a:spLocks noGrp="1"/>
          </p:cNvSpPr>
          <p:nvPr>
            <p:ph type="title" idx="4294967295"/>
          </p:nvPr>
        </p:nvSpPr>
        <p:spPr>
          <a:xfrm>
            <a:off x="1554794" y="144577"/>
            <a:ext cx="5689040" cy="1000125"/>
          </a:xfrm>
        </p:spPr>
        <p:txBody>
          <a:bodyPr>
            <a:normAutofit/>
          </a:bodyPr>
          <a:lstStyle/>
          <a:p>
            <a:pPr>
              <a:defRPr sz="1800" b="1" i="0" u="none" strike="noStrike" kern="1200" baseline="0">
                <a:solidFill>
                  <a:srgbClr val="C0791B">
                    <a:lumMod val="75000"/>
                    <a:lumOff val="25000"/>
                  </a:srgbClr>
                </a:solidFill>
                <a:latin typeface="+mn-lt"/>
                <a:ea typeface="+mn-ea"/>
                <a:cs typeface="+mn-cs"/>
              </a:defRPr>
            </a:pPr>
            <a:r>
              <a:rPr lang="en-US" sz="2200" dirty="0">
                <a:solidFill>
                  <a:schemeClr val="bg2"/>
                </a:solidFill>
              </a:rPr>
              <a:t>Nombre de transactions .</a:t>
            </a:r>
            <a:r>
              <a:rPr lang="en-US" kern="1200" dirty="0" smtClean="0">
                <a:solidFill>
                  <a:schemeClr val="bg2"/>
                </a:solidFill>
              </a:rPr>
              <a:t/>
            </a:r>
            <a:br>
              <a:rPr lang="en-US" kern="1200" dirty="0" smtClean="0">
                <a:solidFill>
                  <a:schemeClr val="bg2"/>
                </a:solidFill>
              </a:rPr>
            </a:br>
            <a:r>
              <a:rPr lang="fr-FR" b="0" kern="1200" dirty="0">
                <a:solidFill>
                  <a:schemeClr val="bg2"/>
                </a:solidFill>
              </a:rPr>
              <a:t>L’analyse des données – habitudes d’utilisation</a:t>
            </a:r>
            <a:endParaRPr lang="en-US" b="0" kern="1200" dirty="0">
              <a:solidFill>
                <a:schemeClr val="bg2"/>
              </a:solidFill>
            </a:endParaRPr>
          </a:p>
        </p:txBody>
      </p:sp>
      <p:graphicFrame>
        <p:nvGraphicFramePr>
          <p:cNvPr id="5" name="Graphique 4"/>
          <p:cNvGraphicFramePr>
            <a:graphicFrameLocks/>
          </p:cNvGraphicFramePr>
          <p:nvPr>
            <p:extLst>
              <p:ext uri="{D42A27DB-BD31-4B8C-83A1-F6EECF244321}">
                <p14:modId xmlns:p14="http://schemas.microsoft.com/office/powerpoint/2010/main" val="2300255151"/>
              </p:ext>
            </p:extLst>
          </p:nvPr>
        </p:nvGraphicFramePr>
        <p:xfrm>
          <a:off x="1647892" y="969905"/>
          <a:ext cx="5713355"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698748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1164380" y="4138974"/>
            <a:ext cx="7828316" cy="656691"/>
          </a:xfrm>
        </p:spPr>
        <p:txBody>
          <a:bodyPr>
            <a:noAutofit/>
          </a:bodyPr>
          <a:lstStyle/>
          <a:p>
            <a:r>
              <a:rPr lang="fr-FR" sz="1200" dirty="0" smtClean="0">
                <a:solidFill>
                  <a:schemeClr val="bg2"/>
                </a:solidFill>
                <a:latin typeface="Nunito" panose="020B0604020202020204" charset="0"/>
              </a:rPr>
              <a:t>Une </a:t>
            </a:r>
            <a:r>
              <a:rPr lang="fr-FR" sz="1200" dirty="0">
                <a:solidFill>
                  <a:schemeClr val="bg2"/>
                </a:solidFill>
                <a:latin typeface="Nunito" panose="020B0604020202020204" charset="0"/>
              </a:rPr>
              <a:t>faible utilisation de la carte, avec seulement 1636 utilisations en moyenne pour les </a:t>
            </a:r>
            <a:r>
              <a:rPr lang="fr-FR" sz="1200" dirty="0" smtClean="0">
                <a:solidFill>
                  <a:schemeClr val="bg2"/>
                </a:solidFill>
                <a:latin typeface="Nunito" panose="020B0604020202020204" charset="0"/>
              </a:rPr>
              <a:t>clients</a:t>
            </a:r>
          </a:p>
          <a:p>
            <a:r>
              <a:rPr lang="fr-FR" sz="1200" dirty="0">
                <a:solidFill>
                  <a:schemeClr val="bg2"/>
                </a:solidFill>
                <a:latin typeface="Nunito" panose="020B0604020202020204" charset="0"/>
              </a:rPr>
              <a:t>P</a:t>
            </a:r>
            <a:r>
              <a:rPr lang="fr-FR" sz="1200" dirty="0" smtClean="0">
                <a:solidFill>
                  <a:schemeClr val="bg2"/>
                </a:solidFill>
                <a:latin typeface="Nunito" panose="020B0604020202020204" charset="0"/>
              </a:rPr>
              <a:t>erdus </a:t>
            </a:r>
            <a:r>
              <a:rPr lang="fr-FR" sz="1200" dirty="0">
                <a:solidFill>
                  <a:schemeClr val="bg2"/>
                </a:solidFill>
                <a:latin typeface="Nunito" panose="020B0604020202020204" charset="0"/>
              </a:rPr>
              <a:t>contre </a:t>
            </a:r>
            <a:r>
              <a:rPr lang="fr-FR" sz="1200" dirty="0" smtClean="0">
                <a:solidFill>
                  <a:schemeClr val="bg2"/>
                </a:solidFill>
                <a:latin typeface="Nunito" panose="020B0604020202020204" charset="0"/>
              </a:rPr>
              <a:t>8491 pour </a:t>
            </a:r>
            <a:r>
              <a:rPr lang="fr-FR" sz="1200" dirty="0">
                <a:solidFill>
                  <a:schemeClr val="bg2"/>
                </a:solidFill>
                <a:latin typeface="Nunito" panose="020B0604020202020204" charset="0"/>
              </a:rPr>
              <a:t>les clients actuels, semble être un facteur clé associé au désengagement </a:t>
            </a:r>
            <a:r>
              <a:rPr lang="fr-FR" sz="1200" dirty="0" smtClean="0">
                <a:solidFill>
                  <a:schemeClr val="bg2"/>
                </a:solidFill>
                <a:latin typeface="Nunito" panose="020B0604020202020204" charset="0"/>
              </a:rPr>
              <a:t>avec</a:t>
            </a:r>
          </a:p>
          <a:p>
            <a:r>
              <a:rPr lang="fr-FR" sz="1200" dirty="0">
                <a:solidFill>
                  <a:schemeClr val="bg2"/>
                </a:solidFill>
                <a:latin typeface="Nunito" panose="020B0604020202020204" charset="0"/>
              </a:rPr>
              <a:t>L</a:t>
            </a:r>
            <a:r>
              <a:rPr lang="fr-FR" sz="1200" dirty="0" smtClean="0">
                <a:solidFill>
                  <a:schemeClr val="bg2"/>
                </a:solidFill>
                <a:latin typeface="Nunito" panose="020B0604020202020204" charset="0"/>
              </a:rPr>
              <a:t>a </a:t>
            </a:r>
            <a:r>
              <a:rPr lang="fr-FR" sz="1200" dirty="0">
                <a:solidFill>
                  <a:schemeClr val="bg2"/>
                </a:solidFill>
                <a:latin typeface="Nunito" panose="020B0604020202020204" charset="0"/>
              </a:rPr>
              <a:t>perte de clients. On </a:t>
            </a:r>
            <a:r>
              <a:rPr lang="fr-FR" sz="1200" dirty="0" smtClean="0">
                <a:solidFill>
                  <a:schemeClr val="bg2"/>
                </a:solidFill>
                <a:latin typeface="Nunito" panose="020B0604020202020204" charset="0"/>
              </a:rPr>
              <a:t>doit encourager </a:t>
            </a:r>
            <a:r>
              <a:rPr lang="fr-FR" sz="1200" dirty="0">
                <a:solidFill>
                  <a:schemeClr val="bg2"/>
                </a:solidFill>
                <a:latin typeface="Nunito" panose="020B0604020202020204" charset="0"/>
              </a:rPr>
              <a:t>une utilisation accrue via des programmes de fidélité, </a:t>
            </a:r>
            <a:r>
              <a:rPr lang="fr-FR" sz="1200" dirty="0" smtClean="0">
                <a:solidFill>
                  <a:schemeClr val="bg2"/>
                </a:solidFill>
                <a:latin typeface="Nunito" panose="020B0604020202020204" charset="0"/>
              </a:rPr>
              <a:t>des</a:t>
            </a:r>
          </a:p>
          <a:p>
            <a:r>
              <a:rPr lang="fr-FR" sz="1200" dirty="0">
                <a:solidFill>
                  <a:schemeClr val="bg2"/>
                </a:solidFill>
                <a:latin typeface="Nunito" panose="020B0604020202020204" charset="0"/>
              </a:rPr>
              <a:t>O</a:t>
            </a:r>
            <a:r>
              <a:rPr lang="fr-FR" sz="1200" dirty="0" smtClean="0">
                <a:solidFill>
                  <a:schemeClr val="bg2"/>
                </a:solidFill>
                <a:latin typeface="Nunito" panose="020B0604020202020204" charset="0"/>
              </a:rPr>
              <a:t>ffres </a:t>
            </a:r>
            <a:r>
              <a:rPr lang="fr-FR" sz="1200" dirty="0">
                <a:solidFill>
                  <a:schemeClr val="bg2"/>
                </a:solidFill>
                <a:latin typeface="Nunito" panose="020B0604020202020204" charset="0"/>
              </a:rPr>
              <a:t>promotionnelles, ou des </a:t>
            </a:r>
            <a:r>
              <a:rPr lang="fr-FR" sz="1200" dirty="0" smtClean="0">
                <a:solidFill>
                  <a:schemeClr val="bg2"/>
                </a:solidFill>
                <a:latin typeface="Nunito" panose="020B0604020202020204" charset="0"/>
              </a:rPr>
              <a:t>récompenses pour </a:t>
            </a:r>
            <a:r>
              <a:rPr lang="fr-FR" sz="1200" dirty="0">
                <a:solidFill>
                  <a:schemeClr val="bg2"/>
                </a:solidFill>
                <a:latin typeface="Nunito" panose="020B0604020202020204" charset="0"/>
              </a:rPr>
              <a:t>un usage fréquent.</a:t>
            </a:r>
          </a:p>
        </p:txBody>
      </p:sp>
      <p:sp>
        <p:nvSpPr>
          <p:cNvPr id="2" name="Titre 1"/>
          <p:cNvSpPr>
            <a:spLocks noGrp="1"/>
          </p:cNvSpPr>
          <p:nvPr>
            <p:ph type="title" idx="4294967295"/>
          </p:nvPr>
        </p:nvSpPr>
        <p:spPr>
          <a:xfrm>
            <a:off x="1214363" y="355086"/>
            <a:ext cx="7031037" cy="1000125"/>
          </a:xfrm>
        </p:spPr>
        <p:txBody>
          <a:bodyPr>
            <a:normAutofit/>
          </a:bodyPr>
          <a:lstStyle/>
          <a:p>
            <a:r>
              <a:rPr lang="fr-FR" sz="2400" dirty="0"/>
              <a:t>Nombre d’utilisation moyenne de la </a:t>
            </a:r>
            <a:r>
              <a:rPr lang="fr-FR" sz="2400" dirty="0"/>
              <a:t>carte.</a:t>
            </a:r>
            <a:r>
              <a:rPr lang="fr-FR" i="1" dirty="0"/>
              <a:t/>
            </a:r>
            <a:br>
              <a:rPr lang="fr-FR" i="1" dirty="0"/>
            </a:br>
            <a:r>
              <a:rPr lang="fr-FR" sz="2000" b="0" kern="1200" dirty="0">
                <a:solidFill>
                  <a:schemeClr val="bg2"/>
                </a:solidFill>
                <a:latin typeface="+mn-lt"/>
                <a:ea typeface="+mn-ea"/>
                <a:cs typeface="+mn-cs"/>
              </a:rPr>
              <a:t>L’analyse des données – </a:t>
            </a:r>
            <a:r>
              <a:rPr lang="fr-FR" sz="2000" b="0" kern="1200" dirty="0">
                <a:solidFill>
                  <a:schemeClr val="bg2"/>
                </a:solidFill>
                <a:latin typeface="+mn-lt"/>
                <a:ea typeface="+mn-ea"/>
                <a:cs typeface="+mn-cs"/>
              </a:rPr>
              <a:t>habitudes </a:t>
            </a:r>
            <a:r>
              <a:rPr lang="fr-FR" sz="2000" b="0" kern="1200" dirty="0">
                <a:solidFill>
                  <a:schemeClr val="bg2"/>
                </a:solidFill>
                <a:latin typeface="+mn-lt"/>
                <a:ea typeface="+mn-ea"/>
                <a:cs typeface="+mn-cs"/>
              </a:rPr>
              <a:t>d’utilisation</a:t>
            </a:r>
          </a:p>
        </p:txBody>
      </p:sp>
      <p:graphicFrame>
        <p:nvGraphicFramePr>
          <p:cNvPr id="6" name="Graphique 5"/>
          <p:cNvGraphicFramePr>
            <a:graphicFrameLocks/>
          </p:cNvGraphicFramePr>
          <p:nvPr>
            <p:extLst>
              <p:ext uri="{D42A27DB-BD31-4B8C-83A1-F6EECF244321}">
                <p14:modId xmlns:p14="http://schemas.microsoft.com/office/powerpoint/2010/main" val="202783374"/>
              </p:ext>
            </p:extLst>
          </p:nvPr>
        </p:nvGraphicFramePr>
        <p:xfrm>
          <a:off x="2207059" y="123680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898524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idx="4294967295"/>
          </p:nvPr>
        </p:nvSpPr>
        <p:spPr>
          <a:xfrm>
            <a:off x="1224876" y="256908"/>
            <a:ext cx="7031037" cy="1000125"/>
          </a:xfrm>
        </p:spPr>
        <p:txBody>
          <a:bodyPr>
            <a:normAutofit/>
          </a:bodyPr>
          <a:lstStyle/>
          <a:p>
            <a:r>
              <a:rPr lang="fr-FR" sz="2400" dirty="0"/>
              <a:t>Nombre d’Interactions </a:t>
            </a:r>
            <a:r>
              <a:rPr lang="fr-FR" sz="2400" dirty="0"/>
              <a:t>avec la </a:t>
            </a:r>
            <a:r>
              <a:rPr lang="fr-FR" sz="2400" dirty="0"/>
              <a:t>banque.</a:t>
            </a:r>
            <a:r>
              <a:rPr lang="fr-FR" i="1" dirty="0"/>
              <a:t/>
            </a:r>
            <a:br>
              <a:rPr lang="fr-FR" i="1" dirty="0"/>
            </a:br>
            <a:r>
              <a:rPr lang="fr-FR" sz="2200" b="0" kern="1200" dirty="0">
                <a:solidFill>
                  <a:schemeClr val="bg2"/>
                </a:solidFill>
                <a:latin typeface="+mn-lt"/>
                <a:ea typeface="+mn-ea"/>
                <a:cs typeface="+mn-cs"/>
              </a:rPr>
              <a:t>L’analyse des données – </a:t>
            </a:r>
            <a:r>
              <a:rPr lang="fr-FR" sz="2200" b="0" kern="1200" dirty="0">
                <a:solidFill>
                  <a:schemeClr val="bg2"/>
                </a:solidFill>
                <a:latin typeface="+mn-lt"/>
                <a:ea typeface="+mn-ea"/>
                <a:cs typeface="+mn-cs"/>
              </a:rPr>
              <a:t>habitudes </a:t>
            </a:r>
            <a:r>
              <a:rPr lang="fr-FR" sz="2200" b="0" kern="1200" dirty="0">
                <a:solidFill>
                  <a:schemeClr val="bg2"/>
                </a:solidFill>
                <a:latin typeface="+mn-lt"/>
                <a:ea typeface="+mn-ea"/>
                <a:cs typeface="+mn-cs"/>
              </a:rPr>
              <a:t>d’utilisation</a:t>
            </a:r>
          </a:p>
        </p:txBody>
      </p:sp>
      <p:graphicFrame>
        <p:nvGraphicFramePr>
          <p:cNvPr id="4" name="Graphique 3"/>
          <p:cNvGraphicFramePr>
            <a:graphicFrameLocks/>
          </p:cNvGraphicFramePr>
          <p:nvPr>
            <p:extLst>
              <p:ext uri="{D42A27DB-BD31-4B8C-83A1-F6EECF244321}">
                <p14:modId xmlns:p14="http://schemas.microsoft.com/office/powerpoint/2010/main" val="244698419"/>
              </p:ext>
            </p:extLst>
          </p:nvPr>
        </p:nvGraphicFramePr>
        <p:xfrm>
          <a:off x="1619564" y="1160679"/>
          <a:ext cx="5475259"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1"/>
          <p:cNvSpPr>
            <a:spLocks noGrp="1" noChangeArrowheads="1"/>
          </p:cNvSpPr>
          <p:nvPr>
            <p:ph type="body" idx="1"/>
          </p:nvPr>
        </p:nvSpPr>
        <p:spPr bwMode="auto">
          <a:xfrm>
            <a:off x="1224876" y="3944878"/>
            <a:ext cx="678797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pPr>
            <a:r>
              <a:rPr kumimoji="0" lang="fr-FR" altLang="fr-FR" sz="1200" b="0" i="0" u="none" strike="noStrike" cap="none" normalizeH="0" baseline="0" dirty="0" smtClean="0">
                <a:ln>
                  <a:noFill/>
                </a:ln>
                <a:solidFill>
                  <a:schemeClr val="bg2"/>
                </a:solidFill>
                <a:effectLst/>
                <a:latin typeface="Nunito" panose="020B0604020202020204" charset="0"/>
              </a:rPr>
              <a:t>Les clients perdus ont un nombre moyen d’interactions plus élevé (</a:t>
            </a:r>
            <a:r>
              <a:rPr kumimoji="0" lang="fr-FR" altLang="fr-FR" sz="1200" b="0" i="0" u="none" strike="noStrike" cap="none" normalizeH="0" baseline="0" dirty="0" smtClean="0">
                <a:ln>
                  <a:noFill/>
                </a:ln>
                <a:solidFill>
                  <a:schemeClr val="bg2"/>
                </a:solidFill>
                <a:effectLst/>
                <a:latin typeface="Nunito" panose="020B0604020202020204" charset="0"/>
              </a:rPr>
              <a:t>3)</a:t>
            </a:r>
            <a:r>
              <a:rPr kumimoji="0" lang="fr-FR" altLang="fr-FR" sz="1200" b="0" i="0" u="none" strike="noStrike" cap="none" normalizeH="0" dirty="0" smtClean="0">
                <a:ln>
                  <a:noFill/>
                </a:ln>
                <a:solidFill>
                  <a:schemeClr val="bg2"/>
                </a:solidFill>
                <a:effectLst/>
                <a:latin typeface="Nunito" panose="020B0604020202020204" charset="0"/>
              </a:rPr>
              <a:t> </a:t>
            </a:r>
            <a:r>
              <a:rPr kumimoji="0" lang="fr-FR" altLang="fr-FR" sz="1200" b="0" i="0" u="none" strike="noStrike" cap="none" normalizeH="0" dirty="0" smtClean="0">
                <a:ln>
                  <a:noFill/>
                </a:ln>
                <a:solidFill>
                  <a:schemeClr val="bg2"/>
                </a:solidFill>
                <a:effectLst/>
                <a:latin typeface="Nunito" panose="020B0604020202020204" charset="0"/>
              </a:rPr>
              <a:t>que les clients actuels </a:t>
            </a:r>
            <a:r>
              <a:rPr lang="fr-FR" altLang="fr-FR" sz="1200" dirty="0" smtClean="0">
                <a:solidFill>
                  <a:schemeClr val="bg2"/>
                </a:solidFill>
                <a:latin typeface="Nunito" panose="020B0604020202020204" charset="0"/>
              </a:rPr>
              <a:t>(</a:t>
            </a:r>
            <a:r>
              <a:rPr lang="fr-FR" altLang="fr-FR" sz="1200" dirty="0" smtClean="0">
                <a:solidFill>
                  <a:schemeClr val="bg2"/>
                </a:solidFill>
                <a:latin typeface="Nunito" panose="020B0604020202020204" charset="0"/>
              </a:rPr>
              <a:t>2)</a:t>
            </a:r>
            <a:r>
              <a:rPr kumimoji="0" lang="fr-FR" altLang="fr-FR" sz="1200" b="0" i="0" u="none" strike="noStrike" cap="none" normalizeH="0" dirty="0" smtClean="0">
                <a:ln>
                  <a:noFill/>
                </a:ln>
                <a:solidFill>
                  <a:schemeClr val="bg2"/>
                </a:solidFill>
                <a:effectLst/>
                <a:latin typeface="Nunito" panose="020B0604020202020204" charset="0"/>
              </a:rPr>
              <a:t> </a:t>
            </a:r>
            <a:r>
              <a:rPr lang="fr-FR" altLang="fr-FR" sz="1200" dirty="0">
                <a:solidFill>
                  <a:schemeClr val="bg2"/>
                </a:solidFill>
                <a:latin typeface="Nunito" panose="020B0604020202020204" charset="0"/>
              </a:rPr>
              <a:t>C</a:t>
            </a:r>
            <a:r>
              <a:rPr kumimoji="0" lang="fr-FR" altLang="fr-FR" sz="1200" b="0" i="0" u="none" strike="noStrike" cap="none" normalizeH="0" baseline="0" dirty="0" smtClean="0">
                <a:ln>
                  <a:noFill/>
                </a:ln>
                <a:solidFill>
                  <a:schemeClr val="bg2"/>
                </a:solidFill>
                <a:effectLst/>
                <a:latin typeface="Nunito" panose="020B0604020202020204" charset="0"/>
              </a:rPr>
              <a:t>e </a:t>
            </a:r>
            <a:r>
              <a:rPr kumimoji="0" lang="fr-FR" altLang="fr-FR" sz="1200" b="0" i="0" u="none" strike="noStrike" cap="none" normalizeH="0" baseline="0" dirty="0" smtClean="0">
                <a:ln>
                  <a:noFill/>
                </a:ln>
                <a:solidFill>
                  <a:schemeClr val="bg2"/>
                </a:solidFill>
                <a:effectLst/>
                <a:latin typeface="Nunito" panose="020B0604020202020204" charset="0"/>
              </a:rPr>
              <a:t>qui signifie que des besoins non satisfaits</a:t>
            </a:r>
            <a:r>
              <a:rPr kumimoji="0" lang="fr-FR" altLang="fr-FR" sz="1200" b="0" i="0" u="none" strike="noStrike" cap="none" normalizeH="0" dirty="0" smtClean="0">
                <a:ln>
                  <a:noFill/>
                </a:ln>
                <a:solidFill>
                  <a:schemeClr val="bg2"/>
                </a:solidFill>
                <a:effectLst/>
                <a:latin typeface="Nunito" panose="020B0604020202020204" charset="0"/>
              </a:rPr>
              <a:t> </a:t>
            </a:r>
            <a:r>
              <a:rPr kumimoji="0" lang="fr-FR" altLang="fr-FR" sz="1200" b="0" i="0" u="none" strike="noStrike" cap="none" normalizeH="0" baseline="0" dirty="0" smtClean="0">
                <a:ln>
                  <a:noFill/>
                </a:ln>
                <a:solidFill>
                  <a:schemeClr val="bg2"/>
                </a:solidFill>
                <a:effectLst/>
                <a:latin typeface="Nunito" panose="020B0604020202020204" charset="0"/>
              </a:rPr>
              <a:t>ayant conduit à leur </a:t>
            </a:r>
            <a:r>
              <a:rPr lang="fr-FR" altLang="fr-FR" sz="1200" dirty="0">
                <a:solidFill>
                  <a:schemeClr val="bg2"/>
                </a:solidFill>
                <a:latin typeface="Nunito" panose="020B0604020202020204" charset="0"/>
              </a:rPr>
              <a:t>départ,</a:t>
            </a:r>
            <a:r>
              <a:rPr lang="fr-FR" sz="1200" dirty="0">
                <a:solidFill>
                  <a:schemeClr val="bg2"/>
                </a:solidFill>
                <a:latin typeface="Nunito" panose="020B0604020202020204" charset="0"/>
              </a:rPr>
              <a:t> Les clients ayant </a:t>
            </a:r>
            <a:r>
              <a:rPr lang="fr-FR" sz="1200" dirty="0" smtClean="0">
                <a:solidFill>
                  <a:schemeClr val="bg2"/>
                </a:solidFill>
                <a:latin typeface="Nunito" panose="020B0604020202020204" charset="0"/>
              </a:rPr>
              <a:t>Plus </a:t>
            </a:r>
            <a:r>
              <a:rPr lang="fr-FR" sz="1200" dirty="0">
                <a:solidFill>
                  <a:schemeClr val="bg2"/>
                </a:solidFill>
                <a:latin typeface="Nunito" panose="020B0604020202020204" charset="0"/>
              </a:rPr>
              <a:t>D</a:t>
            </a:r>
            <a:r>
              <a:rPr lang="fr-FR" sz="1200" dirty="0" smtClean="0">
                <a:solidFill>
                  <a:schemeClr val="bg2"/>
                </a:solidFill>
                <a:latin typeface="Nunito" panose="020B0604020202020204" charset="0"/>
              </a:rPr>
              <a:t>’interactions </a:t>
            </a:r>
            <a:r>
              <a:rPr lang="fr-FR" sz="1200" dirty="0">
                <a:solidFill>
                  <a:schemeClr val="bg2"/>
                </a:solidFill>
                <a:latin typeface="Nunito" panose="020B0604020202020204" charset="0"/>
              </a:rPr>
              <a:t>avec la banque et étant néanmoins perdus traduisent potentiellement des </a:t>
            </a:r>
            <a:r>
              <a:rPr lang="fr-FR" sz="1200" dirty="0">
                <a:solidFill>
                  <a:schemeClr val="bg2"/>
                </a:solidFill>
                <a:latin typeface="Nunito" panose="020B0604020202020204" charset="0"/>
              </a:rPr>
              <a:t>I</a:t>
            </a:r>
            <a:r>
              <a:rPr lang="fr-FR" sz="1200" dirty="0" smtClean="0">
                <a:solidFill>
                  <a:schemeClr val="bg2"/>
                </a:solidFill>
                <a:latin typeface="Nunito" panose="020B0604020202020204" charset="0"/>
              </a:rPr>
              <a:t>nsatisfactions </a:t>
            </a:r>
            <a:r>
              <a:rPr lang="fr-FR" sz="1200" dirty="0">
                <a:solidFill>
                  <a:schemeClr val="bg2"/>
                </a:solidFill>
                <a:latin typeface="Nunito" panose="020B0604020202020204" charset="0"/>
              </a:rPr>
              <a:t>non </a:t>
            </a:r>
            <a:r>
              <a:rPr lang="fr-FR" sz="1200" dirty="0" smtClean="0">
                <a:solidFill>
                  <a:schemeClr val="bg2"/>
                </a:solidFill>
                <a:latin typeface="Nunito" panose="020B0604020202020204" charset="0"/>
              </a:rPr>
              <a:t>résolues.</a:t>
            </a:r>
            <a:endParaRPr lang="fr-FR" altLang="fr-FR" sz="1200" dirty="0">
              <a:solidFill>
                <a:schemeClr val="bg2"/>
              </a:solidFill>
              <a:latin typeface="Nunito" panose="020B0604020202020204" charset="0"/>
            </a:endParaRPr>
          </a:p>
        </p:txBody>
      </p:sp>
    </p:spTree>
    <p:extLst>
      <p:ext uri="{BB962C8B-B14F-4D97-AF65-F5344CB8AC3E}">
        <p14:creationId xmlns:p14="http://schemas.microsoft.com/office/powerpoint/2010/main" val="7725906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981039" y="1157582"/>
            <a:ext cx="7749375" cy="3832017"/>
          </a:xfrm>
        </p:spPr>
        <p:txBody>
          <a:bodyPr>
            <a:normAutofit fontScale="90000"/>
          </a:bodyPr>
          <a:lstStyle/>
          <a:p>
            <a:r>
              <a:rPr lang="fr-FR" sz="2000" u="sng" dirty="0"/>
              <a:t>Profil des clients à risque :</a:t>
            </a:r>
            <a:r>
              <a:rPr lang="fr-FR" sz="1100" b="0" dirty="0"/>
              <a:t/>
            </a:r>
            <a:br>
              <a:rPr lang="fr-FR" sz="1100" b="0" dirty="0"/>
            </a:br>
            <a:r>
              <a:rPr lang="fr-FR" sz="1100" b="0" dirty="0"/>
              <a:t/>
            </a:r>
            <a:br>
              <a:rPr lang="fr-FR" sz="1100" b="0" dirty="0"/>
            </a:br>
            <a:r>
              <a:rPr lang="fr-FR" sz="1400" dirty="0">
                <a:latin typeface="Nunito"/>
                <a:ea typeface="Nunito"/>
                <a:cs typeface="Nunito"/>
              </a:rPr>
              <a:t>1</a:t>
            </a:r>
            <a:r>
              <a:rPr lang="fr-FR" sz="1400" dirty="0">
                <a:latin typeface="Nunito"/>
                <a:ea typeface="Nunito"/>
                <a:cs typeface="Nunito"/>
                <a:sym typeface="Nunito"/>
              </a:rPr>
              <a:t>. Type de </a:t>
            </a:r>
            <a:r>
              <a:rPr lang="fr-FR" sz="1400" dirty="0" smtClean="0">
                <a:latin typeface="Nunito"/>
                <a:ea typeface="Nunito"/>
                <a:cs typeface="Nunito"/>
                <a:sym typeface="Nunito"/>
              </a:rPr>
              <a:t>carte : </a:t>
            </a:r>
            <a:r>
              <a:rPr lang="fr-FR" sz="1400" dirty="0">
                <a:latin typeface="Nunito"/>
                <a:ea typeface="Nunito"/>
                <a:cs typeface="Nunito"/>
              </a:rPr>
              <a:t/>
            </a:r>
            <a:br>
              <a:rPr lang="fr-FR" sz="1400" dirty="0">
                <a:latin typeface="Nunito"/>
                <a:ea typeface="Nunito"/>
                <a:cs typeface="Nunito"/>
              </a:rPr>
            </a:br>
            <a:r>
              <a:rPr lang="fr-FR" sz="1300" b="0" dirty="0">
                <a:solidFill>
                  <a:schemeClr val="bg2"/>
                </a:solidFill>
                <a:latin typeface="Nunito" panose="020B0604020202020204" charset="0"/>
                <a:ea typeface="Nunito"/>
                <a:cs typeface="Nunito"/>
                <a:sym typeface="Nunito"/>
              </a:rPr>
              <a:t>- Les clients possédant une carte *Platinum* sont la </a:t>
            </a:r>
            <a:r>
              <a:rPr lang="fr-FR" sz="1300" b="0" dirty="0" smtClean="0">
                <a:solidFill>
                  <a:schemeClr val="bg2"/>
                </a:solidFill>
                <a:latin typeface="Nunito" panose="020B0604020202020204" charset="0"/>
                <a:ea typeface="Nunito"/>
                <a:cs typeface="Nunito"/>
                <a:sym typeface="Nunito"/>
              </a:rPr>
              <a:t>majorité parmi </a:t>
            </a:r>
            <a:r>
              <a:rPr lang="fr-FR" sz="1300" b="0" dirty="0">
                <a:solidFill>
                  <a:schemeClr val="bg2"/>
                </a:solidFill>
                <a:latin typeface="Nunito" panose="020B0604020202020204" charset="0"/>
                <a:ea typeface="Nunito"/>
                <a:cs typeface="Nunito"/>
                <a:sym typeface="Nunito"/>
              </a:rPr>
              <a:t>les clients perdus (70 %). </a:t>
            </a:r>
            <a:br>
              <a:rPr lang="fr-FR" sz="1300" b="0" dirty="0">
                <a:solidFill>
                  <a:schemeClr val="bg2"/>
                </a:solidFill>
                <a:latin typeface="Nunito" panose="020B0604020202020204" charset="0"/>
                <a:ea typeface="Nunito"/>
                <a:cs typeface="Nunito"/>
                <a:sym typeface="Nunito"/>
              </a:rPr>
            </a:br>
            <a:r>
              <a:rPr lang="fr-FR" sz="1100" b="0" dirty="0"/>
              <a:t/>
            </a:r>
            <a:br>
              <a:rPr lang="fr-FR" sz="1100" b="0" dirty="0"/>
            </a:br>
            <a:r>
              <a:rPr lang="fr-FR" sz="1400" dirty="0">
                <a:latin typeface="Nunito"/>
                <a:ea typeface="Nunito"/>
                <a:cs typeface="Nunito"/>
              </a:rPr>
              <a:t>2. Crédit renouvelé : </a:t>
            </a:r>
            <a:r>
              <a:rPr lang="fr-FR" sz="1100" b="0" dirty="0"/>
              <a:t/>
            </a:r>
            <a:br>
              <a:rPr lang="fr-FR" sz="1100" b="0" dirty="0"/>
            </a:br>
            <a:r>
              <a:rPr lang="fr-FR" sz="1300" b="0" dirty="0">
                <a:solidFill>
                  <a:schemeClr val="bg2"/>
                </a:solidFill>
                <a:latin typeface="Nunito" panose="020B0604020202020204" charset="0"/>
                <a:ea typeface="Nunito"/>
                <a:cs typeface="Nunito"/>
              </a:rPr>
              <a:t>- Montant moyen du crédit renouvelé *inférieur à 678,65 €* (moyenne des partants), indiquant une faible </a:t>
            </a:r>
            <a:r>
              <a:rPr lang="fr-FR" sz="1300" b="0" dirty="0" smtClean="0">
                <a:solidFill>
                  <a:schemeClr val="bg2"/>
                </a:solidFill>
                <a:latin typeface="Nunito" panose="020B0604020202020204" charset="0"/>
                <a:ea typeface="Nunito"/>
                <a:cs typeface="Nunito"/>
              </a:rPr>
              <a:t>Utilisation  </a:t>
            </a:r>
            <a:r>
              <a:rPr lang="fr-FR" sz="1300" b="0" dirty="0">
                <a:solidFill>
                  <a:schemeClr val="bg2"/>
                </a:solidFill>
                <a:latin typeface="Nunito" panose="020B0604020202020204" charset="0"/>
                <a:ea typeface="Nunito"/>
                <a:cs typeface="Nunito"/>
              </a:rPr>
              <a:t>des produits financiers.</a:t>
            </a:r>
            <a:br>
              <a:rPr lang="fr-FR" sz="1300" b="0" dirty="0">
                <a:solidFill>
                  <a:schemeClr val="bg2"/>
                </a:solidFill>
                <a:latin typeface="Nunito" panose="020B0604020202020204" charset="0"/>
                <a:ea typeface="Nunito"/>
                <a:cs typeface="Nunito"/>
              </a:rPr>
            </a:br>
            <a:r>
              <a:rPr lang="fr-FR" sz="1100" b="0" dirty="0"/>
              <a:t/>
            </a:r>
            <a:br>
              <a:rPr lang="fr-FR" sz="1100" b="0" dirty="0"/>
            </a:br>
            <a:r>
              <a:rPr lang="fr-FR" sz="1400" dirty="0">
                <a:latin typeface="Nunito"/>
                <a:ea typeface="Nunito"/>
                <a:cs typeface="Nunito"/>
              </a:rPr>
              <a:t>3. Utilisation des </a:t>
            </a:r>
            <a:r>
              <a:rPr lang="fr-FR" sz="1400" dirty="0" smtClean="0">
                <a:latin typeface="Nunito"/>
                <a:ea typeface="Nunito"/>
                <a:cs typeface="Nunito"/>
              </a:rPr>
              <a:t>cartes :</a:t>
            </a:r>
            <a:r>
              <a:rPr lang="fr-FR" sz="1100" b="0" dirty="0"/>
              <a:t/>
            </a:r>
            <a:br>
              <a:rPr lang="fr-FR" sz="1100" b="0" dirty="0"/>
            </a:br>
            <a:r>
              <a:rPr lang="fr-FR" sz="1300" b="0" dirty="0">
                <a:solidFill>
                  <a:schemeClr val="bg2"/>
                </a:solidFill>
                <a:latin typeface="Nunito" panose="020B0604020202020204" charset="0"/>
                <a:ea typeface="Nunito"/>
                <a:cs typeface="Nunito"/>
              </a:rPr>
              <a:t>- Une utilisation inférieure à 1636 utilisations (moyenne des partants), indique un manque d'intérêt</a:t>
            </a:r>
            <a:r>
              <a:rPr lang="fr-FR" sz="1300" b="0" dirty="0" smtClean="0">
                <a:solidFill>
                  <a:schemeClr val="bg2"/>
                </a:solidFill>
                <a:latin typeface="Nunito" panose="020B0604020202020204" charset="0"/>
                <a:ea typeface="Nunito"/>
                <a:cs typeface="Nunito"/>
              </a:rPr>
              <a:t> pour </a:t>
            </a:r>
            <a:r>
              <a:rPr lang="fr-FR" sz="1300" b="0" dirty="0">
                <a:solidFill>
                  <a:schemeClr val="bg2"/>
                </a:solidFill>
                <a:latin typeface="Nunito" panose="020B0604020202020204" charset="0"/>
                <a:ea typeface="Nunito"/>
                <a:cs typeface="Nunito"/>
              </a:rPr>
              <a:t>les </a:t>
            </a:r>
            <a:r>
              <a:rPr lang="fr-FR" sz="1300" b="0" dirty="0" smtClean="0">
                <a:solidFill>
                  <a:schemeClr val="bg2"/>
                </a:solidFill>
                <a:latin typeface="Nunito" panose="020B0604020202020204" charset="0"/>
                <a:ea typeface="Nunito"/>
                <a:cs typeface="Nunito"/>
              </a:rPr>
              <a:t>Services</a:t>
            </a:r>
            <a:r>
              <a:rPr lang="fr-FR" sz="1300" b="0" dirty="0" smtClean="0">
                <a:solidFill>
                  <a:schemeClr val="bg2"/>
                </a:solidFill>
                <a:latin typeface="Nunito" panose="020B0604020202020204" charset="0"/>
                <a:ea typeface="Nunito"/>
                <a:cs typeface="Nunito"/>
              </a:rPr>
              <a:t>.</a:t>
            </a:r>
            <a:br>
              <a:rPr lang="fr-FR" sz="1300" b="0" dirty="0" smtClean="0">
                <a:solidFill>
                  <a:schemeClr val="bg2"/>
                </a:solidFill>
                <a:latin typeface="Nunito" panose="020B0604020202020204" charset="0"/>
                <a:ea typeface="Nunito"/>
                <a:cs typeface="Nunito"/>
              </a:rPr>
            </a:br>
            <a:r>
              <a:rPr lang="fr-FR" sz="1100" b="0" dirty="0"/>
              <a:t/>
            </a:r>
            <a:br>
              <a:rPr lang="fr-FR" sz="1100" b="0" dirty="0"/>
            </a:br>
            <a:r>
              <a:rPr lang="fr-FR" sz="1400" dirty="0">
                <a:latin typeface="Nunito"/>
                <a:ea typeface="Nunito"/>
                <a:cs typeface="Nunito"/>
              </a:rPr>
              <a:t>4. </a:t>
            </a:r>
            <a:r>
              <a:rPr lang="fr-FR" sz="1400" dirty="0" smtClean="0">
                <a:latin typeface="Nunito"/>
                <a:ea typeface="Nunito"/>
                <a:cs typeface="Nunito"/>
              </a:rPr>
              <a:t>Revenus : </a:t>
            </a:r>
            <a:r>
              <a:rPr lang="fr-FR" sz="1100" b="0" dirty="0"/>
              <a:t/>
            </a:r>
            <a:br>
              <a:rPr lang="fr-FR" sz="1100" b="0" dirty="0"/>
            </a:br>
            <a:r>
              <a:rPr lang="fr-FR" sz="1300" b="0" dirty="0">
                <a:solidFill>
                  <a:schemeClr val="bg2"/>
                </a:solidFill>
                <a:latin typeface="Nunito" panose="020B0604020202020204" charset="0"/>
                <a:ea typeface="Nunito"/>
                <a:cs typeface="Nunito"/>
              </a:rPr>
              <a:t>- </a:t>
            </a:r>
            <a:r>
              <a:rPr lang="fr-FR" sz="1300" b="0" dirty="0" smtClean="0">
                <a:solidFill>
                  <a:schemeClr val="bg2"/>
                </a:solidFill>
                <a:latin typeface="Nunito" panose="020B0604020202020204" charset="0"/>
                <a:ea typeface="Nunito"/>
                <a:cs typeface="Nunito"/>
              </a:rPr>
              <a:t>La </a:t>
            </a:r>
            <a:r>
              <a:rPr lang="fr-FR" sz="1300" b="0" dirty="0">
                <a:solidFill>
                  <a:schemeClr val="bg2"/>
                </a:solidFill>
                <a:latin typeface="Nunito" panose="020B0604020202020204" charset="0"/>
                <a:ea typeface="Nunito"/>
                <a:cs typeface="Nunito"/>
              </a:rPr>
              <a:t>plupart des clients perdus se </a:t>
            </a:r>
            <a:r>
              <a:rPr lang="fr-FR" sz="1400" b="0" dirty="0"/>
              <a:t>répartissent</a:t>
            </a:r>
            <a:r>
              <a:rPr lang="fr-FR" sz="1300" b="0" dirty="0" smtClean="0">
                <a:solidFill>
                  <a:schemeClr val="bg2"/>
                </a:solidFill>
                <a:latin typeface="Nunito" panose="020B0604020202020204" charset="0"/>
                <a:ea typeface="Nunito"/>
                <a:cs typeface="Nunito"/>
              </a:rPr>
              <a:t> </a:t>
            </a:r>
            <a:r>
              <a:rPr lang="fr-FR" sz="1300" b="0" dirty="0">
                <a:solidFill>
                  <a:schemeClr val="bg2"/>
                </a:solidFill>
                <a:latin typeface="Nunito" panose="020B0604020202020204" charset="0"/>
                <a:ea typeface="Nunito"/>
                <a:cs typeface="Nunito"/>
              </a:rPr>
              <a:t>entre les tranches *€40K-€60K*(442 clients) et *€60K-€80K* (367 clients). </a:t>
            </a:r>
            <a:r>
              <a:rPr lang="fr-FR" sz="1100" b="0" dirty="0"/>
              <a:t/>
            </a:r>
            <a:br>
              <a:rPr lang="fr-FR" sz="1100" b="0" dirty="0"/>
            </a:br>
            <a:r>
              <a:rPr lang="fr-FR" sz="1100" b="0" dirty="0"/>
              <a:t/>
            </a:r>
            <a:br>
              <a:rPr lang="fr-FR" sz="1100" b="0" dirty="0"/>
            </a:br>
            <a:r>
              <a:rPr lang="fr-FR" sz="1400" dirty="0">
                <a:latin typeface="Nunito"/>
                <a:ea typeface="Nunito"/>
                <a:cs typeface="Nunito"/>
              </a:rPr>
              <a:t>5. Statut marital :</a:t>
            </a:r>
            <a:r>
              <a:rPr lang="fr-FR" sz="1100" b="0" dirty="0"/>
              <a:t/>
            </a:r>
            <a:br>
              <a:rPr lang="fr-FR" sz="1100" b="0" dirty="0"/>
            </a:br>
            <a:r>
              <a:rPr lang="fr-FR" sz="1300" b="0" dirty="0">
                <a:solidFill>
                  <a:schemeClr val="bg2"/>
                </a:solidFill>
                <a:latin typeface="Nunito" panose="020B0604020202020204" charset="0"/>
                <a:ea typeface="Nunito"/>
                <a:cs typeface="Nunito"/>
              </a:rPr>
              <a:t>- Les *mariés</a:t>
            </a:r>
            <a:r>
              <a:rPr lang="fr-FR" sz="1300" b="0" dirty="0" smtClean="0">
                <a:solidFill>
                  <a:schemeClr val="bg2"/>
                </a:solidFill>
                <a:latin typeface="Nunito" panose="020B0604020202020204" charset="0"/>
                <a:ea typeface="Nunito"/>
                <a:cs typeface="Nunito"/>
              </a:rPr>
              <a:t>* représentent </a:t>
            </a:r>
            <a:r>
              <a:rPr lang="fr-FR" sz="1300" b="0" dirty="0">
                <a:solidFill>
                  <a:schemeClr val="bg2"/>
                </a:solidFill>
                <a:latin typeface="Nunito" panose="020B0604020202020204" charset="0"/>
                <a:ea typeface="Nunito"/>
                <a:cs typeface="Nunito"/>
              </a:rPr>
              <a:t>la majorité des clients perdus (57 %, soit 937 clients), ce qu’on peut </a:t>
            </a:r>
            <a:r>
              <a:rPr lang="fr-FR" sz="1300" b="0" dirty="0" smtClean="0">
                <a:solidFill>
                  <a:schemeClr val="bg2"/>
                </a:solidFill>
                <a:latin typeface="Nunito" panose="020B0604020202020204" charset="0"/>
                <a:ea typeface="Nunito"/>
                <a:cs typeface="Nunito"/>
              </a:rPr>
              <a:t>remarquer, </a:t>
            </a:r>
            <a:r>
              <a:rPr lang="fr-FR" sz="1300" b="0" dirty="0" smtClean="0">
                <a:solidFill>
                  <a:schemeClr val="bg2"/>
                </a:solidFill>
                <a:latin typeface="Nunito" panose="020B0604020202020204" charset="0"/>
                <a:ea typeface="Nunito"/>
                <a:cs typeface="Nunito"/>
              </a:rPr>
              <a:t>C’est </a:t>
            </a:r>
            <a:r>
              <a:rPr lang="fr-FR" sz="1300" b="0" dirty="0" smtClean="0">
                <a:solidFill>
                  <a:schemeClr val="bg2"/>
                </a:solidFill>
                <a:latin typeface="Nunito" panose="020B0604020202020204" charset="0"/>
                <a:ea typeface="Nunito"/>
                <a:cs typeface="Nunito"/>
              </a:rPr>
              <a:t>que </a:t>
            </a:r>
            <a:r>
              <a:rPr lang="fr-FR" sz="1300" b="0" dirty="0">
                <a:solidFill>
                  <a:schemeClr val="bg2"/>
                </a:solidFill>
                <a:latin typeface="Nunito" panose="020B0604020202020204" charset="0"/>
                <a:ea typeface="Nunito"/>
                <a:cs typeface="Nunito"/>
              </a:rPr>
              <a:t>ce groupe </a:t>
            </a:r>
            <a:r>
              <a:rPr lang="fr-FR" sz="1300" b="0" dirty="0" smtClean="0">
                <a:solidFill>
                  <a:schemeClr val="bg2"/>
                </a:solidFill>
                <a:latin typeface="Nunito" panose="020B0604020202020204" charset="0"/>
                <a:ea typeface="Nunito"/>
                <a:cs typeface="Nunito"/>
              </a:rPr>
              <a:t>n’a pas </a:t>
            </a:r>
            <a:r>
              <a:rPr lang="fr-FR" sz="1300" b="0" dirty="0">
                <a:solidFill>
                  <a:schemeClr val="bg2"/>
                </a:solidFill>
                <a:latin typeface="Nunito" panose="020B0604020202020204" charset="0"/>
                <a:ea typeface="Nunito"/>
                <a:cs typeface="Nunito"/>
              </a:rPr>
              <a:t>pu avoir des facteurs ou des services </a:t>
            </a:r>
            <a:r>
              <a:rPr lang="fr-FR" sz="1300" b="0" dirty="0" smtClean="0">
                <a:solidFill>
                  <a:schemeClr val="bg2"/>
                </a:solidFill>
                <a:latin typeface="Nunito" panose="020B0604020202020204" charset="0"/>
                <a:ea typeface="Nunito"/>
                <a:cs typeface="Nunito"/>
              </a:rPr>
              <a:t>attendus convenables , ce </a:t>
            </a:r>
            <a:r>
              <a:rPr lang="fr-FR" sz="1300" b="0" dirty="0">
                <a:solidFill>
                  <a:schemeClr val="bg2"/>
                </a:solidFill>
                <a:latin typeface="Nunito" panose="020B0604020202020204" charset="0"/>
                <a:ea typeface="Nunito"/>
                <a:cs typeface="Nunito"/>
              </a:rPr>
              <a:t>qui a </a:t>
            </a:r>
            <a:r>
              <a:rPr lang="fr-FR" sz="1300" b="0" dirty="0" smtClean="0">
                <a:solidFill>
                  <a:schemeClr val="bg2"/>
                </a:solidFill>
                <a:latin typeface="Nunito" panose="020B0604020202020204" charset="0"/>
                <a:ea typeface="Nunito"/>
                <a:cs typeface="Nunito"/>
              </a:rPr>
              <a:t>causé </a:t>
            </a:r>
            <a:r>
              <a:rPr lang="fr-FR" sz="1300" b="0" dirty="0">
                <a:solidFill>
                  <a:schemeClr val="bg2"/>
                </a:solidFill>
                <a:latin typeface="Nunito" panose="020B0604020202020204" charset="0"/>
                <a:ea typeface="Nunito"/>
                <a:cs typeface="Nunito"/>
              </a:rPr>
              <a:t>leurs </a:t>
            </a:r>
            <a:r>
              <a:rPr lang="fr-FR" sz="1300" b="0" dirty="0">
                <a:solidFill>
                  <a:schemeClr val="bg2"/>
                </a:solidFill>
                <a:latin typeface="Nunito" panose="020B0604020202020204" charset="0"/>
                <a:ea typeface="Nunito"/>
                <a:cs typeface="Nunito"/>
              </a:rPr>
              <a:t>P</a:t>
            </a:r>
            <a:r>
              <a:rPr lang="fr-FR" sz="1300" b="0" dirty="0" smtClean="0">
                <a:solidFill>
                  <a:schemeClr val="bg2"/>
                </a:solidFill>
                <a:latin typeface="Nunito" panose="020B0604020202020204" charset="0"/>
                <a:ea typeface="Nunito"/>
                <a:cs typeface="Nunito"/>
              </a:rPr>
              <a:t>ertes </a:t>
            </a:r>
            <a:r>
              <a:rPr lang="fr-FR" sz="1300" b="0" dirty="0" smtClean="0">
                <a:solidFill>
                  <a:schemeClr val="bg2"/>
                </a:solidFill>
                <a:latin typeface="Nunito" panose="020B0604020202020204" charset="0"/>
                <a:ea typeface="Nunito"/>
                <a:cs typeface="Nunito"/>
              </a:rPr>
              <a:t>.</a:t>
            </a:r>
            <a:endParaRPr lang="fr-FR" sz="1300" b="0" dirty="0">
              <a:solidFill>
                <a:schemeClr val="bg2"/>
              </a:solidFill>
              <a:latin typeface="Nunito" panose="020B0604020202020204" charset="0"/>
              <a:ea typeface="Nunito"/>
              <a:cs typeface="Nunito"/>
            </a:endParaRPr>
          </a:p>
        </p:txBody>
      </p:sp>
      <p:sp>
        <p:nvSpPr>
          <p:cNvPr id="2" name="Espace réservé du texte 1"/>
          <p:cNvSpPr>
            <a:spLocks noGrp="1"/>
          </p:cNvSpPr>
          <p:nvPr>
            <p:ph type="body" idx="1"/>
          </p:nvPr>
        </p:nvSpPr>
        <p:spPr>
          <a:xfrm>
            <a:off x="1335419" y="178268"/>
            <a:ext cx="6335016" cy="1091367"/>
          </a:xfrm>
        </p:spPr>
        <p:txBody>
          <a:bodyPr>
            <a:normAutofit/>
          </a:bodyPr>
          <a:lstStyle/>
          <a:p>
            <a:pPr marL="146050" indent="0">
              <a:buNone/>
            </a:pPr>
            <a:r>
              <a:rPr lang="fr-FR" sz="2200" b="1" dirty="0">
                <a:latin typeface="Maven Pro"/>
                <a:ea typeface="Maven Pro"/>
                <a:cs typeface="Maven Pro"/>
                <a:sym typeface="Maven Pro"/>
              </a:rPr>
              <a:t>Calcul des clients à </a:t>
            </a:r>
            <a:r>
              <a:rPr lang="fr-FR" sz="2200" b="1" dirty="0">
                <a:latin typeface="Maven Pro"/>
                <a:ea typeface="Maven Pro"/>
                <a:cs typeface="Maven Pro"/>
                <a:sym typeface="Maven Pro"/>
              </a:rPr>
              <a:t>risques </a:t>
            </a:r>
          </a:p>
          <a:p>
            <a:pPr marL="146050" indent="0">
              <a:buNone/>
            </a:pPr>
            <a:r>
              <a:rPr lang="fr-FR" sz="2200" kern="1200" dirty="0">
                <a:solidFill>
                  <a:schemeClr val="bg2"/>
                </a:solidFill>
                <a:latin typeface="+mn-lt"/>
                <a:ea typeface="+mn-ea"/>
                <a:cs typeface="+mn-cs"/>
                <a:sym typeface="Maven Pro"/>
              </a:rPr>
              <a:t>L’analyse des données</a:t>
            </a:r>
          </a:p>
        </p:txBody>
      </p:sp>
    </p:spTree>
    <p:extLst>
      <p:ext uri="{BB962C8B-B14F-4D97-AF65-F5344CB8AC3E}">
        <p14:creationId xmlns:p14="http://schemas.microsoft.com/office/powerpoint/2010/main" val="39299762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65612" y="21600"/>
            <a:ext cx="5239187" cy="964800"/>
          </a:xfrm>
        </p:spPr>
        <p:txBody>
          <a:bodyPr>
            <a:normAutofit fontScale="90000"/>
          </a:bodyPr>
          <a:lstStyle/>
          <a:p>
            <a:pPr marL="146050" indent="0"/>
            <a:r>
              <a:rPr lang="fr-FR" sz="2400" dirty="0"/>
              <a:t>Calc</a:t>
            </a:r>
            <a:r>
              <a:rPr lang="fr-FR" sz="2400" dirty="0">
                <a:sym typeface="Nunito"/>
              </a:rPr>
              <a:t>ul des clients à risques </a:t>
            </a:r>
            <a:r>
              <a:rPr lang="fr-FR" dirty="0">
                <a:latin typeface="Maven Pro" panose="020B0604020202020204" charset="0"/>
              </a:rPr>
              <a:t/>
            </a:r>
            <a:br>
              <a:rPr lang="fr-FR" dirty="0">
                <a:latin typeface="Maven Pro" panose="020B0604020202020204" charset="0"/>
              </a:rPr>
            </a:br>
            <a:r>
              <a:rPr lang="fr-FR" sz="2400" b="0" kern="1200" dirty="0">
                <a:solidFill>
                  <a:schemeClr val="bg2"/>
                </a:solidFill>
                <a:latin typeface="+mn-lt"/>
                <a:ea typeface="+mn-ea"/>
                <a:cs typeface="+mn-cs"/>
                <a:sym typeface="Nunito"/>
              </a:rPr>
              <a:t>L’analyse des données</a:t>
            </a:r>
            <a:r>
              <a:rPr lang="fr-FR" dirty="0"/>
              <a:t/>
            </a:r>
            <a:br>
              <a:rPr lang="fr-FR" dirty="0"/>
            </a:br>
            <a:endParaRPr lang="fr-FR" dirty="0"/>
          </a:p>
        </p:txBody>
      </p:sp>
      <p:sp>
        <p:nvSpPr>
          <p:cNvPr id="6" name="Rectangle 1"/>
          <p:cNvSpPr>
            <a:spLocks noGrp="1" noChangeArrowheads="1"/>
          </p:cNvSpPr>
          <p:nvPr>
            <p:ph type="body" idx="1"/>
          </p:nvPr>
        </p:nvSpPr>
        <p:spPr bwMode="auto">
          <a:xfrm>
            <a:off x="424139" y="4035504"/>
            <a:ext cx="860466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None/>
            </a:pPr>
            <a:r>
              <a:rPr lang="fr-FR" altLang="fr-FR" sz="1200" dirty="0">
                <a:solidFill>
                  <a:schemeClr val="bg2"/>
                </a:solidFill>
                <a:latin typeface="Nunito" panose="020B0604020202020204" charset="0"/>
              </a:rPr>
              <a:t>Les clients à revenu inférieur à 40K€, notamment les mariés (1 365 clients), et ceux des tranches intermédiaires (40K€-80K€), particulièrement les mariés et célibataires, représentent les segments les plus à risque en raison de leur forte </a:t>
            </a:r>
            <a:r>
              <a:rPr lang="fr-FR" altLang="fr-FR" sz="1200" dirty="0" smtClean="0">
                <a:solidFill>
                  <a:schemeClr val="bg2"/>
                </a:solidFill>
                <a:latin typeface="Nunito" panose="020B0604020202020204" charset="0"/>
              </a:rPr>
              <a:t>Représentation </a:t>
            </a:r>
            <a:r>
              <a:rPr lang="fr-FR" altLang="fr-FR" sz="1200" dirty="0">
                <a:solidFill>
                  <a:schemeClr val="bg2"/>
                </a:solidFill>
                <a:latin typeface="Nunito" panose="020B0604020202020204" charset="0"/>
              </a:rPr>
              <a:t>et de leur besoin potentiel d'offres adaptées</a:t>
            </a:r>
            <a:r>
              <a:rPr lang="fr-FR" altLang="fr-FR" sz="1200" dirty="0" smtClean="0">
                <a:solidFill>
                  <a:schemeClr val="bg2"/>
                </a:solidFill>
                <a:latin typeface="Nunito" panose="020B0604020202020204" charset="0"/>
              </a:rPr>
              <a:t>. </a:t>
            </a:r>
            <a:endParaRPr lang="fr-FR" altLang="fr-FR" sz="1200" dirty="0">
              <a:solidFill>
                <a:schemeClr val="bg2"/>
              </a:solidFill>
              <a:latin typeface="Nunito" panose="020B0604020202020204" charset="0"/>
            </a:endParaRPr>
          </a:p>
        </p:txBody>
      </p:sp>
      <p:graphicFrame>
        <p:nvGraphicFramePr>
          <p:cNvPr id="7" name="Graphique 6"/>
          <p:cNvGraphicFramePr>
            <a:graphicFrameLocks/>
          </p:cNvGraphicFramePr>
          <p:nvPr>
            <p:extLst>
              <p:ext uri="{D42A27DB-BD31-4B8C-83A1-F6EECF244321}">
                <p14:modId xmlns:p14="http://schemas.microsoft.com/office/powerpoint/2010/main" val="3884566276"/>
              </p:ext>
            </p:extLst>
          </p:nvPr>
        </p:nvGraphicFramePr>
        <p:xfrm>
          <a:off x="963902" y="986400"/>
          <a:ext cx="7989324"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82269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62965" y="346648"/>
            <a:ext cx="5239187" cy="964800"/>
          </a:xfrm>
        </p:spPr>
        <p:txBody>
          <a:bodyPr>
            <a:normAutofit fontScale="90000"/>
          </a:bodyPr>
          <a:lstStyle/>
          <a:p>
            <a:pPr marL="146050" indent="0"/>
            <a:r>
              <a:rPr lang="fr-FR" sz="2400" dirty="0"/>
              <a:t>Calcul des clients à risques </a:t>
            </a:r>
            <a:r>
              <a:rPr lang="fr-FR" dirty="0">
                <a:latin typeface="Maven Pro" panose="020B0604020202020204" charset="0"/>
              </a:rPr>
              <a:t/>
            </a:r>
            <a:br>
              <a:rPr lang="fr-FR" dirty="0">
                <a:latin typeface="Maven Pro" panose="020B0604020202020204" charset="0"/>
              </a:rPr>
            </a:br>
            <a:r>
              <a:rPr lang="fr-FR" sz="2400" b="0" kern="1200" dirty="0">
                <a:solidFill>
                  <a:schemeClr val="bg2"/>
                </a:solidFill>
                <a:latin typeface="+mn-lt"/>
                <a:ea typeface="+mn-ea"/>
                <a:cs typeface="+mn-cs"/>
                <a:sym typeface="Nunito"/>
              </a:rPr>
              <a:t>L’analyse des données</a:t>
            </a:r>
            <a:r>
              <a:rPr lang="fr-FR" dirty="0"/>
              <a:t/>
            </a:r>
            <a:br>
              <a:rPr lang="fr-FR" dirty="0"/>
            </a:br>
            <a:endParaRPr lang="fr-FR" dirty="0"/>
          </a:p>
        </p:txBody>
      </p:sp>
      <p:sp>
        <p:nvSpPr>
          <p:cNvPr id="6" name="Rectangle 1"/>
          <p:cNvSpPr>
            <a:spLocks noGrp="1" noChangeArrowheads="1"/>
          </p:cNvSpPr>
          <p:nvPr>
            <p:ph type="body" idx="1"/>
          </p:nvPr>
        </p:nvSpPr>
        <p:spPr bwMode="auto">
          <a:xfrm>
            <a:off x="424139" y="4035504"/>
            <a:ext cx="860466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None/>
            </a:pPr>
            <a:r>
              <a:rPr lang="fr-FR" sz="1200" dirty="0" smtClean="0"/>
              <a:t>Les </a:t>
            </a:r>
            <a:r>
              <a:rPr lang="fr-FR" sz="1200" b="1" dirty="0" smtClean="0"/>
              <a:t>clients à risque</a:t>
            </a:r>
            <a:r>
              <a:rPr lang="fr-FR" sz="1200" dirty="0" smtClean="0"/>
              <a:t> sont principalement ceux utilisant la carte Blue avec des revenus faibles ou moyens. Une attention Particulière doit être portée sur les attentes non satisfaites des détenteurs de cartes Gold et Platinum, qui pourraient Représenter des pertes importantes malgré leur faible proportion .</a:t>
            </a:r>
            <a:endParaRPr lang="fr-FR" altLang="fr-FR" sz="1200" dirty="0">
              <a:solidFill>
                <a:schemeClr val="bg2"/>
              </a:solidFill>
              <a:latin typeface="Nunito" panose="020B0604020202020204" charset="0"/>
            </a:endParaRPr>
          </a:p>
        </p:txBody>
      </p:sp>
      <p:graphicFrame>
        <p:nvGraphicFramePr>
          <p:cNvPr id="5" name="Graphique 4"/>
          <p:cNvGraphicFramePr>
            <a:graphicFrameLocks/>
          </p:cNvGraphicFramePr>
          <p:nvPr>
            <p:extLst>
              <p:ext uri="{D42A27DB-BD31-4B8C-83A1-F6EECF244321}">
                <p14:modId xmlns:p14="http://schemas.microsoft.com/office/powerpoint/2010/main" val="1575555114"/>
              </p:ext>
            </p:extLst>
          </p:nvPr>
        </p:nvGraphicFramePr>
        <p:xfrm>
          <a:off x="1263056" y="1311448"/>
          <a:ext cx="6446849" cy="260928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95396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09741" y="361751"/>
            <a:ext cx="6458732" cy="1078922"/>
          </a:xfrm>
        </p:spPr>
        <p:txBody>
          <a:bodyPr>
            <a:normAutofit fontScale="90000"/>
          </a:bodyPr>
          <a:lstStyle/>
          <a:p>
            <a:r>
              <a:rPr lang="fr-FR" sz="2400" dirty="0">
                <a:sym typeface="Nunito"/>
              </a:rPr>
              <a:t>Raisons pour lesquelles ces clients sont à </a:t>
            </a:r>
            <a:r>
              <a:rPr lang="fr-FR" sz="2400" dirty="0" smtClean="0">
                <a:sym typeface="Nunito"/>
              </a:rPr>
              <a:t>   risque </a:t>
            </a:r>
            <a:r>
              <a:rPr lang="fr-FR" sz="2400" dirty="0">
                <a:sym typeface="Nunito"/>
              </a:rPr>
              <a:t>:</a:t>
            </a:r>
            <a:r>
              <a:rPr lang="fr-FR" sz="2400" dirty="0" smtClean="0">
                <a:latin typeface="Maven Pro" panose="020B0604020202020204" charset="0"/>
                <a:ea typeface="Nunito"/>
                <a:cs typeface="Nunito"/>
                <a:sym typeface="Nunito"/>
              </a:rPr>
              <a:t/>
            </a:r>
            <a:br>
              <a:rPr lang="fr-FR" sz="2400" dirty="0" smtClean="0">
                <a:latin typeface="Maven Pro" panose="020B0604020202020204" charset="0"/>
                <a:ea typeface="Nunito"/>
                <a:cs typeface="Nunito"/>
                <a:sym typeface="Nunito"/>
              </a:rPr>
            </a:br>
            <a:r>
              <a:rPr lang="fr-FR" sz="2400" b="0" kern="1200" dirty="0">
                <a:solidFill>
                  <a:schemeClr val="bg2"/>
                </a:solidFill>
                <a:latin typeface="+mn-lt"/>
                <a:ea typeface="+mn-ea"/>
                <a:cs typeface="+mn-cs"/>
                <a:sym typeface="Nunito"/>
              </a:rPr>
              <a:t>L’analyse des données</a:t>
            </a:r>
            <a:r>
              <a:rPr lang="fr-FR" sz="2400" dirty="0"/>
              <a:t/>
            </a:r>
            <a:br>
              <a:rPr lang="fr-FR" sz="2400" dirty="0"/>
            </a:br>
            <a:endParaRPr lang="fr-FR" sz="2400" dirty="0">
              <a:latin typeface="Maven Pro" panose="020B0604020202020204" charset="0"/>
              <a:ea typeface="Nunito"/>
              <a:cs typeface="Nunito"/>
              <a:sym typeface="Nunito"/>
            </a:endParaRPr>
          </a:p>
        </p:txBody>
      </p:sp>
      <p:sp>
        <p:nvSpPr>
          <p:cNvPr id="3" name="Espace réservé du texte 2"/>
          <p:cNvSpPr>
            <a:spLocks noGrp="1"/>
          </p:cNvSpPr>
          <p:nvPr>
            <p:ph type="body" idx="1"/>
          </p:nvPr>
        </p:nvSpPr>
        <p:spPr>
          <a:xfrm>
            <a:off x="197353" y="1572242"/>
            <a:ext cx="8683509" cy="2959233"/>
          </a:xfrm>
        </p:spPr>
        <p:txBody>
          <a:bodyPr>
            <a:normAutofit/>
          </a:bodyPr>
          <a:lstStyle/>
          <a:p>
            <a:r>
              <a:rPr lang="fr-FR" b="1" dirty="0" smtClean="0"/>
              <a:t>Type </a:t>
            </a:r>
            <a:r>
              <a:rPr lang="fr-FR" b="1" dirty="0"/>
              <a:t>de carte :</a:t>
            </a:r>
            <a:endParaRPr lang="fr-FR" dirty="0"/>
          </a:p>
          <a:p>
            <a:pPr lvl="1"/>
            <a:r>
              <a:rPr lang="fr-FR" dirty="0"/>
              <a:t>Les clients Platinum, bien qu'ils devraient être des utilisateurs premium, semblent moins engagés et exploiter moins les </a:t>
            </a:r>
            <a:r>
              <a:rPr lang="fr-FR" dirty="0" smtClean="0"/>
              <a:t>Services</a:t>
            </a:r>
            <a:r>
              <a:rPr lang="fr-FR" dirty="0"/>
              <a:t>, ce qui peut indiquer une inadéquation entre leurs attentes et les avantages offerts.</a:t>
            </a:r>
          </a:p>
          <a:p>
            <a:r>
              <a:rPr lang="fr-FR" b="1" dirty="0"/>
              <a:t>Faible crédit signalé :</a:t>
            </a:r>
            <a:endParaRPr lang="fr-FR" dirty="0"/>
          </a:p>
          <a:p>
            <a:pPr lvl="1"/>
            <a:r>
              <a:rPr lang="fr-FR" dirty="0"/>
              <a:t>Un faible montant de crédit renouvelé peut traduire un manque de confiance ou un désintérêt pour les produits financiers </a:t>
            </a:r>
            <a:r>
              <a:rPr lang="fr-FR" dirty="0" smtClean="0"/>
              <a:t>De </a:t>
            </a:r>
            <a:r>
              <a:rPr lang="fr-FR" dirty="0"/>
              <a:t>la banque.</a:t>
            </a:r>
          </a:p>
          <a:p>
            <a:r>
              <a:rPr lang="fr-FR" b="1" dirty="0"/>
              <a:t>Utilisation limitée des cartes :</a:t>
            </a:r>
            <a:endParaRPr lang="fr-FR" dirty="0"/>
          </a:p>
          <a:p>
            <a:pPr lvl="1"/>
            <a:r>
              <a:rPr lang="fr-FR" dirty="0"/>
              <a:t>Une utilisation réduite des cartes peut refléter un manque de satisfaction ou d'incitation à utiliser les services bancaires.</a:t>
            </a:r>
          </a:p>
          <a:p>
            <a:r>
              <a:rPr lang="fr-FR" b="1" dirty="0"/>
              <a:t>Segments de revenus moyens :</a:t>
            </a:r>
            <a:endParaRPr lang="fr-FR" dirty="0"/>
          </a:p>
          <a:p>
            <a:pPr lvl="1"/>
            <a:r>
              <a:rPr lang="fr-FR" dirty="0"/>
              <a:t>Les revenus intermédiaires sont souvent associés à une gestion financière prudente. L'absence d'offres adaptées (comme </a:t>
            </a:r>
            <a:r>
              <a:rPr lang="fr-FR" dirty="0" smtClean="0"/>
              <a:t>Des </a:t>
            </a:r>
            <a:r>
              <a:rPr lang="fr-FR" dirty="0"/>
              <a:t>plans d'épargne ou des réductions) pourrait les pousser à chercher de meilleures alternatives ailleurs.</a:t>
            </a:r>
          </a:p>
          <a:p>
            <a:r>
              <a:rPr lang="fr-FR" b="1" dirty="0"/>
              <a:t>Clients mariés :</a:t>
            </a:r>
            <a:endParaRPr lang="fr-FR" dirty="0"/>
          </a:p>
          <a:p>
            <a:pPr lvl="1"/>
            <a:r>
              <a:rPr lang="fr-FR" dirty="0"/>
              <a:t>Les besoins financiers des familles (prêts, épargne, services personnalisés) pourraient ne pas être suffisamment précis.</a:t>
            </a:r>
          </a:p>
          <a:p>
            <a:endParaRPr lang="fr-FR" dirty="0"/>
          </a:p>
        </p:txBody>
      </p:sp>
    </p:spTree>
    <p:extLst>
      <p:ext uri="{BB962C8B-B14F-4D97-AF65-F5344CB8AC3E}">
        <p14:creationId xmlns:p14="http://schemas.microsoft.com/office/powerpoint/2010/main" val="2976647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49762" y="347817"/>
            <a:ext cx="5356800" cy="711825"/>
          </a:xfrm>
        </p:spPr>
        <p:txBody>
          <a:bodyPr>
            <a:normAutofit/>
          </a:bodyPr>
          <a:lstStyle/>
          <a:p>
            <a:pPr algn="ctr"/>
            <a:r>
              <a:rPr lang="fr-FR" sz="2000" dirty="0" smtClean="0"/>
              <a:t>Bilan et </a:t>
            </a:r>
            <a:r>
              <a:rPr lang="fr-FR" sz="2000" dirty="0"/>
              <a:t>recommandations</a:t>
            </a:r>
          </a:p>
        </p:txBody>
      </p:sp>
      <p:sp>
        <p:nvSpPr>
          <p:cNvPr id="3" name="Espace réservé du texte 2"/>
          <p:cNvSpPr>
            <a:spLocks noGrp="1"/>
          </p:cNvSpPr>
          <p:nvPr>
            <p:ph type="body" idx="1"/>
          </p:nvPr>
        </p:nvSpPr>
        <p:spPr>
          <a:xfrm>
            <a:off x="165600" y="1236874"/>
            <a:ext cx="8539200" cy="3839125"/>
          </a:xfrm>
        </p:spPr>
        <p:txBody>
          <a:bodyPr>
            <a:normAutofit fontScale="40000" lnSpcReduction="20000"/>
          </a:bodyPr>
          <a:lstStyle/>
          <a:p>
            <a:pPr marL="146050" indent="0">
              <a:buNone/>
            </a:pPr>
            <a:r>
              <a:rPr lang="fr-FR" sz="2800" b="1" u="sng" dirty="0" smtClean="0">
                <a:solidFill>
                  <a:schemeClr val="bg2"/>
                </a:solidFill>
              </a:rPr>
              <a:t>BILAN:</a:t>
            </a:r>
          </a:p>
          <a:p>
            <a:endParaRPr lang="fr-FR" sz="2600" b="1" dirty="0">
              <a:solidFill>
                <a:schemeClr val="bg2"/>
              </a:solidFill>
            </a:endParaRPr>
          </a:p>
          <a:p>
            <a:r>
              <a:rPr lang="fr-FR" sz="2600" b="1" dirty="0" smtClean="0">
                <a:solidFill>
                  <a:schemeClr val="bg2"/>
                </a:solidFill>
              </a:rPr>
              <a:t>Segmentation </a:t>
            </a:r>
            <a:r>
              <a:rPr lang="fr-FR" sz="2600" b="1" dirty="0">
                <a:solidFill>
                  <a:schemeClr val="bg2"/>
                </a:solidFill>
              </a:rPr>
              <a:t>des clients : </a:t>
            </a:r>
            <a:endParaRPr lang="fr-FR" sz="2600" b="1" dirty="0" smtClean="0">
              <a:solidFill>
                <a:schemeClr val="bg2"/>
              </a:solidFill>
            </a:endParaRPr>
          </a:p>
          <a:p>
            <a:pPr marL="146050" indent="0">
              <a:buNone/>
            </a:pPr>
            <a:endParaRPr lang="fr-FR" sz="1400" dirty="0" smtClean="0">
              <a:solidFill>
                <a:schemeClr val="bg2"/>
              </a:solidFill>
            </a:endParaRPr>
          </a:p>
          <a:p>
            <a:pPr marL="146050" indent="0">
              <a:buNone/>
            </a:pPr>
            <a:r>
              <a:rPr lang="fr-FR" sz="2300" dirty="0">
                <a:solidFill>
                  <a:schemeClr val="bg2"/>
                </a:solidFill>
              </a:rPr>
              <a:t>F</a:t>
            </a:r>
            <a:r>
              <a:rPr lang="fr-FR" sz="2300" dirty="0" smtClean="0">
                <a:solidFill>
                  <a:schemeClr val="bg2"/>
                </a:solidFill>
              </a:rPr>
              <a:t>aible </a:t>
            </a:r>
            <a:r>
              <a:rPr lang="fr-FR" sz="2300" dirty="0">
                <a:solidFill>
                  <a:schemeClr val="bg2"/>
                </a:solidFill>
              </a:rPr>
              <a:t>utilisation des cartes, crédits renouvelés en dessous de la moyenne, et revenus intermédiaires (entre 40K et 80K). Les clients mariés , les titulaires de </a:t>
            </a:r>
            <a:r>
              <a:rPr lang="fr-FR" sz="2300" dirty="0">
                <a:solidFill>
                  <a:schemeClr val="bg2"/>
                </a:solidFill>
              </a:rPr>
              <a:t>C</a:t>
            </a:r>
            <a:r>
              <a:rPr lang="fr-FR" sz="2300" dirty="0" smtClean="0">
                <a:solidFill>
                  <a:schemeClr val="bg2"/>
                </a:solidFill>
              </a:rPr>
              <a:t>artes </a:t>
            </a:r>
            <a:r>
              <a:rPr lang="fr-FR" sz="2300" dirty="0">
                <a:solidFill>
                  <a:schemeClr val="bg2"/>
                </a:solidFill>
              </a:rPr>
              <a:t>Platinum montrent le manque d'engagement</a:t>
            </a:r>
            <a:r>
              <a:rPr lang="fr-FR" sz="1400" dirty="0" smtClean="0">
                <a:solidFill>
                  <a:schemeClr val="bg2"/>
                </a:solidFill>
              </a:rPr>
              <a:t>.</a:t>
            </a:r>
          </a:p>
          <a:p>
            <a:pPr lvl="0"/>
            <a:endParaRPr lang="fr-FR" sz="1600" b="1" dirty="0" smtClean="0">
              <a:solidFill>
                <a:schemeClr val="bg2"/>
              </a:solidFill>
            </a:endParaRPr>
          </a:p>
          <a:p>
            <a:pPr lvl="0"/>
            <a:r>
              <a:rPr lang="fr-FR" sz="2600" b="1" dirty="0" smtClean="0">
                <a:solidFill>
                  <a:schemeClr val="bg2"/>
                </a:solidFill>
              </a:rPr>
              <a:t>Facteurs </a:t>
            </a:r>
            <a:r>
              <a:rPr lang="fr-FR" sz="2600" b="1" dirty="0">
                <a:solidFill>
                  <a:schemeClr val="bg2"/>
                </a:solidFill>
              </a:rPr>
              <a:t>de risque identifiés :</a:t>
            </a:r>
          </a:p>
          <a:p>
            <a:pPr marL="146050" lvl="0" indent="0">
              <a:buNone/>
            </a:pPr>
            <a:endParaRPr lang="fr-FR" sz="1400" dirty="0" smtClean="0">
              <a:solidFill>
                <a:schemeClr val="bg2"/>
              </a:solidFill>
            </a:endParaRPr>
          </a:p>
          <a:p>
            <a:pPr marL="146050" lvl="0" indent="0">
              <a:buNone/>
            </a:pPr>
            <a:r>
              <a:rPr lang="fr-FR" sz="2300" dirty="0" smtClean="0"/>
              <a:t>-Les </a:t>
            </a:r>
            <a:r>
              <a:rPr lang="fr-FR" sz="2300" dirty="0"/>
              <a:t>clients avec une faible utilisation des cartes ou des montants de crédits renouvelés bas sont plus susceptibles de quitter la banque.</a:t>
            </a:r>
          </a:p>
          <a:p>
            <a:pPr marL="146050" lvl="0" indent="0">
              <a:buNone/>
            </a:pPr>
            <a:r>
              <a:rPr lang="fr-FR" sz="2300" dirty="0" smtClean="0"/>
              <a:t>-Le </a:t>
            </a:r>
            <a:r>
              <a:rPr lang="fr-FR" sz="2300" dirty="0"/>
              <a:t>manque d'offres personnalisées et l'absence d'incitations adaptées à ces segments contribuent à l'inefficacité des services actuels.</a:t>
            </a:r>
          </a:p>
          <a:p>
            <a:pPr marL="146050" lvl="0" indent="0">
              <a:buNone/>
            </a:pPr>
            <a:r>
              <a:rPr lang="fr-FR" sz="2300" dirty="0" smtClean="0"/>
              <a:t>-Une </a:t>
            </a:r>
            <a:r>
              <a:rPr lang="fr-FR" sz="2300" dirty="0"/>
              <a:t>communication insuffisante et un suivi limité des clients à risque semblent également être des éléments clés dans la perte de clientèle</a:t>
            </a:r>
            <a:r>
              <a:rPr lang="fr-FR" sz="2300" dirty="0" smtClean="0">
                <a:solidFill>
                  <a:schemeClr val="bg2"/>
                </a:solidFill>
              </a:rPr>
              <a:t>.</a:t>
            </a:r>
          </a:p>
          <a:p>
            <a:endParaRPr lang="fr-FR" sz="2300" b="1" dirty="0" smtClean="0">
              <a:solidFill>
                <a:schemeClr val="bg2"/>
              </a:solidFill>
            </a:endParaRPr>
          </a:p>
          <a:p>
            <a:r>
              <a:rPr lang="fr-FR" sz="2600" b="1" dirty="0" smtClean="0">
                <a:solidFill>
                  <a:schemeClr val="bg2"/>
                </a:solidFill>
              </a:rPr>
              <a:t>Impact </a:t>
            </a:r>
            <a:r>
              <a:rPr lang="fr-FR" sz="2600" b="1" dirty="0">
                <a:solidFill>
                  <a:schemeClr val="bg2"/>
                </a:solidFill>
              </a:rPr>
              <a:t>sur la fidélité </a:t>
            </a:r>
            <a:r>
              <a:rPr lang="fr-FR" sz="2600" b="1" dirty="0" smtClean="0">
                <a:solidFill>
                  <a:schemeClr val="bg2"/>
                </a:solidFill>
              </a:rPr>
              <a:t>:</a:t>
            </a:r>
          </a:p>
          <a:p>
            <a:pPr marL="146050" indent="0">
              <a:buNone/>
            </a:pPr>
            <a:endParaRPr lang="fr-FR" sz="1400" dirty="0" smtClean="0">
              <a:solidFill>
                <a:schemeClr val="bg2"/>
              </a:solidFill>
            </a:endParaRPr>
          </a:p>
          <a:p>
            <a:pPr marL="146050" indent="0">
              <a:buNone/>
            </a:pPr>
            <a:r>
              <a:rPr lang="fr-FR" sz="2300" dirty="0"/>
              <a:t>Les clients ayant des attentes non satisfaites en matière de services financiers sont d’avantage risqués à partir vers des concurrents qui répondent mieux à leurs </a:t>
            </a:r>
            <a:r>
              <a:rPr lang="fr-FR" sz="2300" dirty="0" smtClean="0"/>
              <a:t>Besoins </a:t>
            </a:r>
            <a:r>
              <a:rPr lang="fr-FR" sz="2300" dirty="0"/>
              <a:t>spécifiques.</a:t>
            </a:r>
          </a:p>
          <a:p>
            <a:pPr marL="146050" indent="0">
              <a:buNone/>
            </a:pPr>
            <a:endParaRPr lang="fr-FR" sz="1800" dirty="0" smtClean="0">
              <a:solidFill>
                <a:schemeClr val="bg2"/>
              </a:solidFill>
            </a:endParaRPr>
          </a:p>
          <a:p>
            <a:pPr marL="146050" indent="0">
              <a:buNone/>
            </a:pPr>
            <a:r>
              <a:rPr lang="fr-FR" sz="2800" b="1" u="sng" dirty="0" smtClean="0"/>
              <a:t>Recommandations:</a:t>
            </a:r>
          </a:p>
          <a:p>
            <a:pPr marL="146050" indent="0">
              <a:buNone/>
            </a:pPr>
            <a:endParaRPr lang="fr-FR" sz="1800" dirty="0" smtClean="0"/>
          </a:p>
          <a:p>
            <a:pPr marL="146050" indent="0">
              <a:buNone/>
            </a:pPr>
            <a:r>
              <a:rPr lang="fr-FR" sz="2300" dirty="0" smtClean="0"/>
              <a:t>-Renforcer </a:t>
            </a:r>
            <a:r>
              <a:rPr lang="fr-FR" sz="2300" dirty="0"/>
              <a:t>l'engagement des clients à faible utilisation </a:t>
            </a:r>
            <a:r>
              <a:rPr lang="fr-FR" sz="2300" dirty="0" smtClean="0"/>
              <a:t>: Programmes </a:t>
            </a:r>
            <a:r>
              <a:rPr lang="fr-FR" sz="2300" dirty="0"/>
              <a:t>de fidélité personnalisés </a:t>
            </a:r>
            <a:r>
              <a:rPr lang="fr-FR" sz="2300" dirty="0" smtClean="0"/>
              <a:t>.</a:t>
            </a:r>
          </a:p>
          <a:p>
            <a:pPr marL="146050" indent="0">
              <a:buNone/>
            </a:pPr>
            <a:r>
              <a:rPr lang="fr-FR" sz="2300" dirty="0" smtClean="0"/>
              <a:t>-Adapter </a:t>
            </a:r>
            <a:r>
              <a:rPr lang="fr-FR" sz="2300" dirty="0"/>
              <a:t>les produits financiers aux besoins des clients : Revoir les montants de crédit </a:t>
            </a:r>
            <a:r>
              <a:rPr lang="fr-FR" sz="2300" dirty="0" smtClean="0"/>
              <a:t>renouvelé. </a:t>
            </a:r>
          </a:p>
          <a:p>
            <a:pPr marL="146050" indent="0">
              <a:buNone/>
            </a:pPr>
            <a:r>
              <a:rPr lang="fr-FR" sz="2300" dirty="0" smtClean="0"/>
              <a:t>-Mieux </a:t>
            </a:r>
            <a:r>
              <a:rPr lang="fr-FR" sz="2300" dirty="0"/>
              <a:t>comprendre les attentes des segments spécifiques </a:t>
            </a:r>
            <a:r>
              <a:rPr lang="fr-FR" sz="2300" dirty="0" smtClean="0"/>
              <a:t>: Cibler </a:t>
            </a:r>
            <a:r>
              <a:rPr lang="fr-FR" sz="2300" dirty="0"/>
              <a:t>les clients mariés et les segments à </a:t>
            </a:r>
            <a:r>
              <a:rPr lang="fr-FR" sz="2300" dirty="0" smtClean="0"/>
              <a:t>revenu moyen </a:t>
            </a:r>
            <a:r>
              <a:rPr lang="fr-FR" sz="2300" dirty="0" smtClean="0"/>
              <a:t>40K-80K.</a:t>
            </a:r>
          </a:p>
          <a:p>
            <a:pPr marL="146050" indent="0">
              <a:buNone/>
            </a:pPr>
            <a:r>
              <a:rPr lang="fr-FR" sz="2300" dirty="0" smtClean="0"/>
              <a:t>-Améliorer </a:t>
            </a:r>
            <a:r>
              <a:rPr lang="fr-FR" sz="2300" dirty="0"/>
              <a:t>la personnalisation des services  </a:t>
            </a:r>
            <a:r>
              <a:rPr lang="fr-FR" sz="2300" dirty="0" smtClean="0"/>
              <a:t>: Suivi </a:t>
            </a:r>
            <a:r>
              <a:rPr lang="fr-FR" sz="2300" dirty="0"/>
              <a:t>proactif des clients à risque </a:t>
            </a:r>
            <a:r>
              <a:rPr lang="fr-FR" sz="2300" dirty="0" smtClean="0"/>
              <a:t>.</a:t>
            </a:r>
            <a:endParaRPr lang="fr-FR" sz="2300" dirty="0"/>
          </a:p>
          <a:p>
            <a:pPr marL="146050" indent="0">
              <a:buNone/>
            </a:pPr>
            <a:r>
              <a:rPr lang="fr-FR" sz="2300" dirty="0" smtClean="0"/>
              <a:t>-Créer </a:t>
            </a:r>
            <a:r>
              <a:rPr lang="fr-FR" sz="2300" dirty="0"/>
              <a:t>une expérience client améliorée : Développer une approche plus personnalisée et proactive </a:t>
            </a:r>
            <a:r>
              <a:rPr lang="fr-FR" sz="2300" dirty="0" smtClean="0"/>
              <a:t>.</a:t>
            </a:r>
            <a:endParaRPr lang="fr-FR" sz="2300" dirty="0"/>
          </a:p>
          <a:p>
            <a:pPr marL="146050" indent="0">
              <a:buNone/>
            </a:pPr>
            <a:endParaRPr lang="fr-FR" sz="2300" dirty="0"/>
          </a:p>
          <a:p>
            <a:pPr marL="146050" indent="0">
              <a:buNone/>
            </a:pPr>
            <a:endParaRPr lang="fr-FR" sz="2300" dirty="0"/>
          </a:p>
          <a:p>
            <a:pPr marL="146050" indent="0">
              <a:buNone/>
            </a:pPr>
            <a:endParaRPr lang="fr-FR" sz="2300" dirty="0"/>
          </a:p>
          <a:p>
            <a:pPr marL="146050" indent="0">
              <a:buNone/>
            </a:pPr>
            <a:endParaRPr lang="fr-FR" sz="1800" b="1" u="sng" dirty="0">
              <a:solidFill>
                <a:schemeClr val="bg2"/>
              </a:solidFill>
            </a:endParaRPr>
          </a:p>
          <a:p>
            <a:pPr lvl="0"/>
            <a:endParaRPr lang="fr-FR" sz="1400" dirty="0">
              <a:solidFill>
                <a:schemeClr val="bg2"/>
              </a:solidFill>
            </a:endParaRPr>
          </a:p>
          <a:p>
            <a:pPr lvl="0"/>
            <a:endParaRPr lang="fr-FR" sz="1400" dirty="0">
              <a:solidFill>
                <a:schemeClr val="bg2"/>
              </a:solidFill>
            </a:endParaRPr>
          </a:p>
        </p:txBody>
      </p:sp>
    </p:spTree>
    <p:extLst>
      <p:ext uri="{BB962C8B-B14F-4D97-AF65-F5344CB8AC3E}">
        <p14:creationId xmlns:p14="http://schemas.microsoft.com/office/powerpoint/2010/main" val="3926590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22"/>
        <p:cNvGrpSpPr/>
        <p:nvPr/>
      </p:nvGrpSpPr>
      <p:grpSpPr>
        <a:xfrm>
          <a:off x="0" y="0"/>
          <a:ext cx="0" cy="0"/>
          <a:chOff x="0" y="0"/>
          <a:chExt cx="0" cy="0"/>
        </a:xfrm>
      </p:grpSpPr>
      <p:sp>
        <p:nvSpPr>
          <p:cNvPr id="323" name="Google Shape;323;p7"/>
          <p:cNvSpPr txBox="1"/>
          <p:nvPr/>
        </p:nvSpPr>
        <p:spPr>
          <a:xfrm>
            <a:off x="778800" y="1925025"/>
            <a:ext cx="56925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0" i="0" u="none" strike="noStrike" cap="none" dirty="0">
                <a:solidFill>
                  <a:schemeClr val="lt1"/>
                </a:solidFill>
                <a:latin typeface="Titillium Web"/>
                <a:ea typeface="Titillium Web"/>
                <a:cs typeface="Titillium Web"/>
                <a:sym typeface="Titillium Web"/>
              </a:rPr>
              <a:t>Conclusion</a:t>
            </a:r>
            <a:endParaRPr sz="2000" b="0" i="0" u="none" strike="noStrike" cap="none" dirty="0">
              <a:solidFill>
                <a:schemeClr val="lt1"/>
              </a:solidFill>
              <a:latin typeface="Titillium Web"/>
              <a:ea typeface="Titillium Web"/>
              <a:cs typeface="Titillium Web"/>
              <a:sym typeface="Titillium Web"/>
            </a:endParaRPr>
          </a:p>
        </p:txBody>
      </p:sp>
      <p:sp>
        <p:nvSpPr>
          <p:cNvPr id="324" name="Google Shape;324;p7"/>
          <p:cNvSpPr txBox="1"/>
          <p:nvPr/>
        </p:nvSpPr>
        <p:spPr>
          <a:xfrm>
            <a:off x="930100" y="2723025"/>
            <a:ext cx="6443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Nunito"/>
              <a:ea typeface="Nunito"/>
              <a:cs typeface="Nunito"/>
              <a:sym typeface="Nunito"/>
            </a:endParaRPr>
          </a:p>
        </p:txBody>
      </p:sp>
      <p:sp>
        <p:nvSpPr>
          <p:cNvPr id="4" name="Rectangle 3"/>
          <p:cNvSpPr>
            <a:spLocks noChangeArrowheads="1"/>
          </p:cNvSpPr>
          <p:nvPr/>
        </p:nvSpPr>
        <p:spPr bwMode="auto">
          <a:xfrm>
            <a:off x="493868" y="2417467"/>
            <a:ext cx="8243146"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0" i="0" u="none" strike="noStrike" cap="none" normalizeH="0" baseline="0" dirty="0" smtClean="0">
                <a:ln>
                  <a:noFill/>
                </a:ln>
                <a:solidFill>
                  <a:schemeClr val="bg1"/>
                </a:solidFill>
                <a:effectLst/>
                <a:latin typeface="Arial" panose="020B0604020202020204" pitchFamily="34" charset="0"/>
              </a:rPr>
              <a:t>En conclusion, les clients à risque identifiés sont principalement des détenteurs de cartes Platinum, </a:t>
            </a:r>
            <a:r>
              <a:rPr kumimoji="0" lang="fr-FR" altLang="fr-FR" b="0" i="0" u="none" strike="noStrike" cap="none" normalizeH="0" baseline="0" dirty="0" smtClean="0">
                <a:ln>
                  <a:noFill/>
                </a:ln>
                <a:solidFill>
                  <a:schemeClr val="bg1"/>
                </a:solidFill>
                <a:effectLst/>
                <a:latin typeface="Arial" panose="020B0604020202020204" pitchFamily="34" charset="0"/>
              </a:rPr>
              <a:t>Avec </a:t>
            </a:r>
            <a:r>
              <a:rPr kumimoji="0" lang="fr-FR" altLang="fr-FR" b="0" i="0" u="none" strike="noStrike" cap="none" normalizeH="0" baseline="0" dirty="0" smtClean="0">
                <a:ln>
                  <a:noFill/>
                </a:ln>
                <a:solidFill>
                  <a:schemeClr val="bg1"/>
                </a:solidFill>
                <a:effectLst/>
                <a:latin typeface="Arial" panose="020B0604020202020204" pitchFamily="34" charset="0"/>
              </a:rPr>
              <a:t>un crédit renouvelé et une utilisation des cartes en dessous de la moyenne des partants, souvent </a:t>
            </a:r>
            <a:r>
              <a:rPr kumimoji="0" lang="fr-FR" altLang="fr-FR" b="0" i="0" u="none" strike="noStrike" cap="none" normalizeH="0" baseline="0" dirty="0" smtClean="0">
                <a:ln>
                  <a:noFill/>
                </a:ln>
                <a:solidFill>
                  <a:schemeClr val="bg1"/>
                </a:solidFill>
                <a:effectLst/>
                <a:latin typeface="Arial" panose="020B0604020202020204" pitchFamily="34" charset="0"/>
              </a:rPr>
              <a:t>Issus </a:t>
            </a:r>
            <a:r>
              <a:rPr kumimoji="0" lang="fr-FR" altLang="fr-FR" b="0" i="0" u="none" strike="noStrike" cap="none" normalizeH="0" baseline="0" dirty="0" smtClean="0">
                <a:ln>
                  <a:noFill/>
                </a:ln>
                <a:solidFill>
                  <a:schemeClr val="bg1"/>
                </a:solidFill>
                <a:effectLst/>
                <a:latin typeface="Arial" panose="020B0604020202020204" pitchFamily="34" charset="0"/>
              </a:rPr>
              <a:t>de tranches de revenus moyens (40K€-80K€) et en majorité</a:t>
            </a:r>
            <a:r>
              <a:rPr kumimoji="0" lang="fr-FR" altLang="fr-FR" b="0" i="0" u="none" strike="noStrike" cap="none" normalizeH="0" dirty="0" smtClean="0">
                <a:ln>
                  <a:noFill/>
                </a:ln>
                <a:solidFill>
                  <a:schemeClr val="bg1"/>
                </a:solidFill>
                <a:effectLst/>
                <a:latin typeface="Arial" panose="020B0604020202020204" pitchFamily="34" charset="0"/>
              </a:rPr>
              <a:t> </a:t>
            </a:r>
            <a:r>
              <a:rPr kumimoji="0" lang="fr-FR" altLang="fr-FR" b="0" i="0" u="none" strike="noStrike" cap="none" normalizeH="0" baseline="0" dirty="0" smtClean="0">
                <a:ln>
                  <a:noFill/>
                </a:ln>
                <a:solidFill>
                  <a:schemeClr val="bg1"/>
                </a:solidFill>
                <a:effectLst/>
                <a:latin typeface="Arial" panose="020B0604020202020204" pitchFamily="34" charset="0"/>
              </a:rPr>
              <a:t>mariés. </a:t>
            </a:r>
            <a:r>
              <a:rPr kumimoji="0" lang="fr-FR" altLang="fr-FR" b="0" i="0" u="none" strike="noStrike" cap="none" normalizeH="0" baseline="0" dirty="0" smtClean="0">
                <a:ln>
                  <a:noFill/>
                </a:ln>
                <a:solidFill>
                  <a:schemeClr val="bg1"/>
                </a:solidFill>
                <a:effectLst/>
                <a:latin typeface="Arial" panose="020B0604020202020204" pitchFamily="34" charset="0"/>
              </a:rPr>
              <a:t>leur </a:t>
            </a:r>
            <a:r>
              <a:rPr kumimoji="0" lang="fr-FR" altLang="fr-FR" b="0" i="0" u="none" strike="noStrike" cap="none" normalizeH="0" baseline="0" dirty="0" smtClean="0">
                <a:ln>
                  <a:noFill/>
                </a:ln>
                <a:solidFill>
                  <a:schemeClr val="bg1"/>
                </a:solidFill>
                <a:effectLst/>
                <a:latin typeface="Arial" panose="020B0604020202020204" pitchFamily="34" charset="0"/>
              </a:rPr>
              <a:t>faible engagement </a:t>
            </a:r>
            <a:r>
              <a:rPr kumimoji="0" lang="fr-FR" altLang="fr-FR" b="0" i="0" u="none" strike="noStrike" cap="none" normalizeH="0" baseline="0" dirty="0" smtClean="0">
                <a:ln>
                  <a:noFill/>
                </a:ln>
                <a:solidFill>
                  <a:schemeClr val="bg1"/>
                </a:solidFill>
                <a:effectLst/>
                <a:latin typeface="Arial" panose="020B0604020202020204" pitchFamily="34" charset="0"/>
              </a:rPr>
              <a:t>Reflète </a:t>
            </a:r>
            <a:r>
              <a:rPr kumimoji="0" lang="fr-FR" altLang="fr-FR" b="0" i="0" u="none" strike="noStrike" cap="none" normalizeH="0" baseline="0" dirty="0" smtClean="0">
                <a:ln>
                  <a:noFill/>
                </a:ln>
                <a:solidFill>
                  <a:schemeClr val="bg1"/>
                </a:solidFill>
                <a:effectLst/>
                <a:latin typeface="Arial" panose="020B0604020202020204" pitchFamily="34" charset="0"/>
              </a:rPr>
              <a:t>des besoins spécifiques non satisfaits, tels que des offres adaptées, des avantages plus </a:t>
            </a:r>
            <a:r>
              <a:rPr kumimoji="0" lang="fr-FR" altLang="fr-FR" b="0" i="0" u="none" strike="noStrike" cap="none" normalizeH="0" baseline="0" dirty="0" smtClean="0">
                <a:ln>
                  <a:noFill/>
                </a:ln>
                <a:solidFill>
                  <a:schemeClr val="bg1"/>
                </a:solidFill>
                <a:effectLst/>
                <a:latin typeface="Arial" panose="020B0604020202020204" pitchFamily="34" charset="0"/>
              </a:rPr>
              <a:t>Ciblés</a:t>
            </a:r>
            <a:r>
              <a:rPr kumimoji="0" lang="fr-FR" altLang="fr-FR" b="0" i="0" u="none" strike="noStrike" cap="none" normalizeH="0" baseline="0" dirty="0" smtClean="0">
                <a:ln>
                  <a:noFill/>
                </a:ln>
                <a:solidFill>
                  <a:schemeClr val="bg1"/>
                </a:solidFill>
                <a:effectLst/>
                <a:latin typeface="Arial" panose="020B0604020202020204" pitchFamily="34" charset="0"/>
              </a:rPr>
              <a:t>, ou des produits financiers alignés sur leurs attentes. </a:t>
            </a:r>
            <a:r>
              <a:rPr kumimoji="0" lang="fr-FR" altLang="fr-FR" b="0" i="0" u="none" strike="noStrike" cap="none" normalizeH="0" baseline="0" dirty="0" smtClean="0">
                <a:ln>
                  <a:noFill/>
                </a:ln>
                <a:solidFill>
                  <a:schemeClr val="bg1"/>
                </a:solidFill>
                <a:effectLst/>
                <a:latin typeface="Arial" panose="020B0604020202020204" pitchFamily="34" charset="0"/>
              </a:rPr>
              <a:t>la </a:t>
            </a:r>
            <a:r>
              <a:rPr kumimoji="0" lang="fr-FR" altLang="fr-FR" b="0" i="0" u="none" strike="noStrike" cap="none" normalizeH="0" baseline="0" dirty="0" smtClean="0">
                <a:ln>
                  <a:noFill/>
                </a:ln>
                <a:solidFill>
                  <a:schemeClr val="bg1"/>
                </a:solidFill>
                <a:effectLst/>
                <a:latin typeface="Arial" panose="020B0604020202020204" pitchFamily="34" charset="0"/>
              </a:rPr>
              <a:t>banque doit prioriser la </a:t>
            </a:r>
            <a:r>
              <a:rPr kumimoji="0" lang="fr-FR" altLang="fr-FR" b="0" i="0" u="none" strike="noStrike" cap="none" normalizeH="0" baseline="0" dirty="0" smtClean="0">
                <a:ln>
                  <a:noFill/>
                </a:ln>
                <a:solidFill>
                  <a:schemeClr val="bg1"/>
                </a:solidFill>
                <a:effectLst/>
                <a:latin typeface="Arial" panose="020B0604020202020204" pitchFamily="34" charset="0"/>
              </a:rPr>
              <a:t>Personnalisation </a:t>
            </a:r>
            <a:r>
              <a:rPr kumimoji="0" lang="fr-FR" altLang="fr-FR" b="0" i="0" u="none" strike="noStrike" cap="none" normalizeH="0" baseline="0" dirty="0" smtClean="0">
                <a:ln>
                  <a:noFill/>
                </a:ln>
                <a:solidFill>
                  <a:schemeClr val="bg1"/>
                </a:solidFill>
                <a:effectLst/>
                <a:latin typeface="Arial" panose="020B0604020202020204" pitchFamily="34" charset="0"/>
              </a:rPr>
              <a:t>des services, renforcer les incitations à l'utilisation des cartes, et proposer des </a:t>
            </a:r>
            <a:r>
              <a:rPr kumimoji="0" lang="fr-FR" altLang="fr-FR" b="0" i="0" u="none" strike="noStrike" cap="none" normalizeH="0" baseline="0" dirty="0" smtClean="0">
                <a:ln>
                  <a:noFill/>
                </a:ln>
                <a:solidFill>
                  <a:schemeClr val="bg1"/>
                </a:solidFill>
                <a:effectLst/>
                <a:latin typeface="Arial" panose="020B0604020202020204" pitchFamily="34" charset="0"/>
              </a:rPr>
              <a:t>Solutions </a:t>
            </a:r>
            <a:r>
              <a:rPr kumimoji="0" lang="fr-FR" altLang="fr-FR" b="0" i="0" u="none" strike="noStrike" cap="none" normalizeH="0" baseline="0" dirty="0" smtClean="0">
                <a:ln>
                  <a:noFill/>
                </a:ln>
                <a:solidFill>
                  <a:schemeClr val="bg1"/>
                </a:solidFill>
                <a:effectLst/>
                <a:latin typeface="Arial" panose="020B0604020202020204" pitchFamily="34" charset="0"/>
              </a:rPr>
              <a:t>financières attrayantes pour fidéliser ces segments stratégiques.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4184</TotalTime>
  <Words>1226</Words>
  <Application>Microsoft Office PowerPoint</Application>
  <PresentationFormat>Affichage à l'écran (16:9)</PresentationFormat>
  <Paragraphs>119</Paragraphs>
  <Slides>15</Slides>
  <Notes>6</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15</vt:i4>
      </vt:variant>
    </vt:vector>
  </HeadingPairs>
  <TitlesOfParts>
    <vt:vector size="22" baseType="lpstr">
      <vt:lpstr>Maven Pro</vt:lpstr>
      <vt:lpstr>Canva Sans Bold</vt:lpstr>
      <vt:lpstr>Canva Sans</vt:lpstr>
      <vt:lpstr>Titillium Web</vt:lpstr>
      <vt:lpstr>Nunito</vt:lpstr>
      <vt:lpstr>Arial</vt:lpstr>
      <vt:lpstr>Momentum</vt:lpstr>
      <vt:lpstr>Présentation PowerPoint</vt:lpstr>
      <vt:lpstr>Notre compréhension de vos enjeux.</vt:lpstr>
      <vt:lpstr>Présentation PowerPoint</vt:lpstr>
      <vt:lpstr>Répartition par Catégorie de revenu. L’analyse des données – Profil client </vt:lpstr>
      <vt:lpstr>Répartition des clients par Statut marital. L’analyse des données – Profil client</vt:lpstr>
      <vt:lpstr>Moyenne de montant Crédit renouvelé . L’analyse des données – habitudes d’utilisation </vt:lpstr>
      <vt:lpstr>Nombre de transactions . L’analyse des données – habitudes d’utilisation</vt:lpstr>
      <vt:lpstr>Nombre d’utilisation moyenne de la carte. L’analyse des données – habitudes d’utilisation</vt:lpstr>
      <vt:lpstr>Nombre d’Interactions avec la banque. L’analyse des données – habitudes d’utilisation</vt:lpstr>
      <vt:lpstr>Profil des clients à risque :  1. Type de carte :  - Les clients possédant une carte *Platinum* sont la majorité parmi les clients perdus (70 %).   2. Crédit renouvelé :  - Montant moyen du crédit renouvelé *inférieur à 678,65 €* (moyenne des partants), indiquant une faible Utilisation  des produits financiers.  3. Utilisation des cartes : - Une utilisation inférieure à 1636 utilisations (moyenne des partants), indique un manque d'intérêt pour les Services.  4. Revenus :  - La plupart des clients perdus se répartissent entre les tranches *€40K-€60K*(442 clients) et *€60K-€80K* (367 clients).   5. Statut marital : - Les *mariés* représentent la majorité des clients perdus (57 %, soit 937 clients), ce qu’on peut remarquer, C’est que ce groupe n’a pas pu avoir des facteurs ou des services attendus convenables , ce qui a causé leurs Pertes .</vt:lpstr>
      <vt:lpstr>Calcul des clients à risques  L’analyse des données </vt:lpstr>
      <vt:lpstr>Calcul des clients à risques  L’analyse des données </vt:lpstr>
      <vt:lpstr>Raisons pour lesquelles ces clients sont à    risque : L’analyse des données </vt:lpstr>
      <vt:lpstr>Bilan et recommandations</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JeYjEy</dc:creator>
  <cp:lastModifiedBy>labhih safae</cp:lastModifiedBy>
  <cp:revision>156</cp:revision>
  <dcterms:modified xsi:type="dcterms:W3CDTF">2024-12-16T20:37:36Z</dcterms:modified>
</cp:coreProperties>
</file>